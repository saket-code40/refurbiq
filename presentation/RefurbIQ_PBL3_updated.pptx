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4"/>
  </p:notesMasterIdLst>
  <p:sldIdLst>
    <p:sldId id="789" r:id="rId2"/>
    <p:sldId id="594" r:id="rId3"/>
    <p:sldId id="790" r:id="rId11"/>
    <p:sldId id="791" r:id="rId12"/>
    <p:sldId id="792" r:id="rId13"/>
    <p:sldId id="793" r:id="rId14"/>
    <p:sldId id="794" r:id="rId15"/>
    <p:sldId id="795" r:id="rId16"/>
    <p:sldId id="796" r:id="rId17"/>
    <p:sldId id="797" r:id="rId18"/>
    <p:sldId id="805" r:id="rId26"/>
    <p:sldId id="798" r:id="rId19"/>
    <p:sldId id="799" r:id="rId20"/>
    <p:sldId id="800" r:id="rId21"/>
    <p:sldId id="806" r:id="rId27"/>
    <p:sldId id="801" r:id="rId22"/>
    <p:sldId id="802" r:id="rId23"/>
    <p:sldId id="807" r:id="rId28"/>
    <p:sldId id="808" r:id="rId29"/>
    <p:sldId id="803" r:id="rId24"/>
    <p:sldId id="80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9A5BC-7406-4402-B495-A579668D0A41}" v="7" dt="2026-10-01T04:54:25.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4434" autoAdjust="0"/>
  </p:normalViewPr>
  <p:slideViewPr>
    <p:cSldViewPr>
      <p:cViewPr varScale="1">
        <p:scale>
          <a:sx n="59" d="100"/>
          <a:sy n="59" d="100"/>
        </p:scale>
        <p:origin x="1312" y="52"/>
      </p:cViewPr>
      <p:guideLst>
        <p:guide orient="horz" pos="2160"/>
        <p:guide pos="2880"/>
      </p:guideLst>
    </p:cSldViewPr>
  </p:slideViewPr>
  <p:outlineViewPr>
    <p:cViewPr>
      <p:scale>
        <a:sx n="33" d="100"/>
        <a:sy n="33" d="100"/>
      </p:scale>
      <p:origin x="0" y="12446"/>
    </p:cViewPr>
  </p:outlineViewPr>
  <p:notesTextViewPr>
    <p:cViewPr>
      <p:scale>
        <a:sx n="100" d="100"/>
        <a:sy n="100" d="100"/>
      </p:scale>
      <p:origin x="0" y="0"/>
    </p:cViewPr>
  </p:notesTextViewPr>
  <p:sorterViewPr>
    <p:cViewPr>
      <p:scale>
        <a:sx n="66" d="100"/>
        <a:sy n="66" d="100"/>
      </p:scale>
      <p:origin x="0" y="-3174"/>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6/11/relationships/changesInfo" Target="changesInfos/changesInfo1.xml"/><Relationship Id="rId10" Type="http://schemas.microsoft.com/office/2015/10/relationships/revisionInfo" Target="revisionInfo.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11.xml"/><Relationship Id="rId27" Type="http://schemas.openxmlformats.org/officeDocument/2006/relationships/slide" Target="slides/slide15.xml"/><Relationship Id="rId28" Type="http://schemas.openxmlformats.org/officeDocument/2006/relationships/slide" Target="slides/slide18.xml"/><Relationship Id="rId29"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bhishek Dwivedi [MU - Jaipur]" userId="e7733448-a158-4400-89e7-5aafb1667f2c" providerId="ADAL" clId="{9FF6F9B3-D40E-4C77-8D2A-FCA1BFB96762}"/>
    <pc:docChg chg="custSel modSld">
      <pc:chgData name="Dr. Abhishek Dwivedi [MU - Jaipur]" userId="e7733448-a158-4400-89e7-5aafb1667f2c" providerId="ADAL" clId="{9FF6F9B3-D40E-4C77-8D2A-FCA1BFB96762}" dt="2026-10-01T04:54:43.214" v="43" actId="20577"/>
      <pc:docMkLst>
        <pc:docMk/>
      </pc:docMkLst>
      <pc:sldChg chg="modSp mod">
        <pc:chgData name="Dr. Abhishek Dwivedi [MU - Jaipur]" userId="e7733448-a158-4400-89e7-5aafb1667f2c" providerId="ADAL" clId="{9FF6F9B3-D40E-4C77-8D2A-FCA1BFB96762}" dt="2026-10-01T04:54:28.847" v="39" actId="20577"/>
        <pc:sldMkLst>
          <pc:docMk/>
          <pc:sldMk cId="0" sldId="594"/>
        </pc:sldMkLst>
        <pc:graphicFrameChg chg="mod modGraphic">
          <ac:chgData name="Dr. Abhishek Dwivedi [MU - Jaipur]" userId="e7733448-a158-4400-89e7-5aafb1667f2c" providerId="ADAL" clId="{9FF6F9B3-D40E-4C77-8D2A-FCA1BFB96762}" dt="2026-10-01T04:54:28.847" v="39" actId="20577"/>
          <ac:graphicFrameMkLst>
            <pc:docMk/>
            <pc:sldMk cId="0" sldId="594"/>
            <ac:graphicFrameMk id="4194306" creationId="{00000000-0000-0000-0000-000000000000}"/>
          </ac:graphicFrameMkLst>
        </pc:graphicFrameChg>
      </pc:sldChg>
      <pc:sldChg chg="modSp mod">
        <pc:chgData name="Dr. Abhishek Dwivedi [MU - Jaipur]" userId="e7733448-a158-4400-89e7-5aafb1667f2c" providerId="ADAL" clId="{9FF6F9B3-D40E-4C77-8D2A-FCA1BFB96762}" dt="2026-10-01T04:54:43.214" v="43" actId="20577"/>
        <pc:sldMkLst>
          <pc:docMk/>
          <pc:sldMk cId="4053264149" sldId="789"/>
        </pc:sldMkLst>
        <pc:spChg chg="mod">
          <ac:chgData name="Dr. Abhishek Dwivedi [MU - Jaipur]" userId="e7733448-a158-4400-89e7-5aafb1667f2c" providerId="ADAL" clId="{9FF6F9B3-D40E-4C77-8D2A-FCA1BFB96762}" dt="2026-10-01T04:54:43.214" v="43" actId="20577"/>
          <ac:spMkLst>
            <pc:docMk/>
            <pc:sldMk cId="4053264149" sldId="789"/>
            <ac:spMk id="2052"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F3864"/>
                </a:solidFill>
                <a:latin typeface="Times New Roman"/>
              </a:rPr>
              <a:t>Reviews per platform</a:t>
            </a:r>
          </a:p>
        </c:rich>
      </c:tx>
      <c:layout/>
      <c:overlay val="0"/>
    </c:title>
    <c:autoTitleDeleted val="0"/>
    <c:plotArea>
      <c:barChart>
        <c:barDir val="col"/>
        <c:grouping val="clustered"/>
        <c:ser>
          <c:idx val="0"/>
          <c:order val="0"/>
          <c:tx>
            <c:strRef>
              <c:f>Sheet1!$B$1</c:f>
              <c:strCache>
                <c:ptCount val="1"/>
                <c:pt idx="0">
                  <c:v>Reviews</c:v>
                </c:pt>
              </c:strCache>
            </c:strRef>
          </c:tx>
          <c:dPt>
            <c:idx val="0"/>
            <c:spPr>
              <a:solidFill>
                <a:srgbClr val="1F6F78"/>
              </a:solidFill>
            </c:spPr>
          </c:dPt>
          <c:dPt>
            <c:idx val="1"/>
            <c:spPr>
              <a:solidFill>
                <a:srgbClr val="B03A5B"/>
              </a:solidFill>
            </c:spPr>
          </c:dPt>
          <c:cat>
            <c:strRef>
              <c:f>Sheet1!$A$2:$A$6</c:f>
              <c:strCache>
                <c:ptCount val="5"/>
                <c:pt idx="0">
                  <c:v>Cashify</c:v>
                </c:pt>
                <c:pt idx="1">
                  <c:v>Amazon Renewed</c:v>
                </c:pt>
                <c:pt idx="2">
                  <c:v>Flipkart Ref.</c:v>
                </c:pt>
                <c:pt idx="3">
                  <c:v>OLX</c:v>
                </c:pt>
                <c:pt idx="4">
                  <c:v>Budli</c:v>
                </c:pt>
              </c:strCache>
            </c:strRef>
          </c:cat>
          <c:val>
            <c:numRef>
              <c:f>Sheet1!$B$2:$B$6</c:f>
              <c:numCache>
                <c:formatCode>General</c:formatCode>
                <c:ptCount val="5"/>
                <c:pt idx="0">
                  <c:v>492</c:v>
                </c:pt>
                <c:pt idx="1">
                  <c:v>485</c:v>
                </c:pt>
                <c:pt idx="2">
                  <c:v>379</c:v>
                </c:pt>
                <c:pt idx="3">
                  <c:v>361</c:v>
                </c:pt>
                <c:pt idx="4">
                  <c:v>283</c:v>
                </c:pt>
              </c:numCache>
            </c:numRef>
          </c:val>
        </c:ser>
        <c:dLbls>
          <c:txPr>
            <a:bodyPr/>
            <a:lstStyle/>
            <a:p>
              <a:pPr>
                <a:defRPr sz="1400" b="1">
                  <a:solidFill>
                    <a:srgbClr val="26323F"/>
                  </a:solidFill>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rot="0" vert="horz"/>
          <a:lstStyle/>
          <a:p>
            <a:pPr>
              <a:defRPr sz="1100">
                <a:solidFill>
                  <a:srgbClr val="26323F"/>
                </a:solidFill>
                <a:latin typeface="Times New Roman"/>
              </a:defRPr>
            </a:pPr>
          </a:p>
        </c:txPr>
        <c:crossAx val="-2113994440"/>
        <c:crosses val="autoZero"/>
        <c:auto val="1"/>
        <c:lblAlgn val="ctr"/>
        <c:lblOffset val="100"/>
        <c:noMultiLvlLbl val="0"/>
      </c:catAx>
      <c:valAx>
        <c:axId val="-2113994440"/>
        <c:scaling>
          <c:max val="600.0"/>
          <c:min val="0.0"/>
        </c:scaling>
        <c:delete val="0"/>
        <c:axPos val="l"/>
        <c:majorGridlines>
          <c:spPr>
            <a:ln>
              <a:solidFill>
                <a:srgbClr val="DDE6EC"/>
              </a:solidFill>
            </a:ln>
          </c:spPr>
        </c:majorGridlines>
        <c:majorTickMark val="out"/>
        <c:minorTickMark val="none"/>
        <c:tickLblPos val="nextTo"/>
        <c:spPr>
          <a:ln>
            <a:noFill/>
          </a:ln>
        </c:spPr>
        <c:txPr>
          <a:bodyPr/>
          <a:lstStyle/>
          <a:p>
            <a:pPr>
              <a:defRPr sz="1200">
                <a:solidFill>
                  <a:srgbClr val="556575"/>
                </a:solidFill>
                <a:latin typeface="Times New Roman"/>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F3864"/>
                </a:solidFill>
                <a:latin typeface="Times New Roman"/>
              </a:rPr>
              <a:t>Accuracy (%)</a:t>
            </a:r>
          </a:p>
        </c:rich>
      </c:tx>
      <c:layout/>
      <c:overlay val="0"/>
    </c:title>
    <c:autoTitleDeleted val="0"/>
    <c:plotArea>
      <c:barChart>
        <c:barDir val="col"/>
        <c:grouping val="clustered"/>
        <c:ser>
          <c:idx val="0"/>
          <c:order val="0"/>
          <c:tx>
            <c:strRef>
              <c:f>Sheet1!$B$1</c:f>
              <c:strCache>
                <c:ptCount val="1"/>
                <c:pt idx="0">
                  <c:v>Accuracy (%)</c:v>
                </c:pt>
              </c:strCache>
            </c:strRef>
          </c:tx>
          <c:dPt>
            <c:idx val="0"/>
            <c:spPr>
              <a:solidFill>
                <a:srgbClr val="1F3864"/>
              </a:solidFill>
            </c:spPr>
          </c:dPt>
          <c:dPt>
            <c:idx val="1"/>
            <c:spPr>
              <a:solidFill>
                <a:srgbClr val="1F6F78"/>
              </a:solidFill>
            </c:spPr>
          </c:dPt>
          <c:dPt>
            <c:idx val="2"/>
            <c:spPr>
              <a:solidFill>
                <a:srgbClr val="8FAEC2"/>
              </a:solidFill>
            </c:spPr>
          </c:dPt>
          <c:cat>
            <c:strRef>
              <c:f>Sheet1!$A$2:$A$5</c:f>
              <c:strCache>
                <c:ptCount val="4"/>
                <c:pt idx="0">
                  <c:v>Log. Reg.</c:v>
                </c:pt>
                <c:pt idx="1">
                  <c:v>Random Forest</c:v>
                </c:pt>
                <c:pt idx="2">
                  <c:v>XGBoost</c:v>
                </c:pt>
                <c:pt idx="3">
                  <c:v>BERT (DistilBERT)</c:v>
                </c:pt>
              </c:strCache>
            </c:strRef>
          </c:cat>
          <c:val>
            <c:numRef>
              <c:f>Sheet1!$B$2:$B$5</c:f>
              <c:numCache>
                <c:formatCode>General</c:formatCode>
                <c:ptCount val="4"/>
                <c:pt idx="0">
                  <c:v>90.69</c:v>
                </c:pt>
                <c:pt idx="1">
                  <c:v>87.15</c:v>
                </c:pt>
                <c:pt idx="2">
                  <c:v>86.96</c:v>
                </c:pt>
                <c:pt idx="3">
                  <c:v>89.57</c:v>
                </c:pt>
              </c:numCache>
            </c:numRef>
          </c:val>
        </c:ser>
        <c:dLbls>
          <c:numFmt formatCode="0&quot;%&quot;" sourceLinked="0"/>
          <c:txPr>
            <a:bodyPr/>
            <a:lstStyle/>
            <a:p>
              <a:pPr>
                <a:defRPr sz="1400" b="1">
                  <a:solidFill>
                    <a:srgbClr val="26323F"/>
                  </a:solidFill>
                  <a:latin typeface="Times New Roman"/>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300">
                <a:solidFill>
                  <a:srgbClr val="26323F"/>
                </a:solidFill>
                <a:latin typeface="Times New Roman"/>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DDE6EC"/>
              </a:solidFill>
            </a:ln>
          </c:spPr>
        </c:majorGridlines>
        <c:majorTickMark val="out"/>
        <c:minorTickMark val="none"/>
        <c:tickLblPos val="nextTo"/>
        <c:spPr>
          <a:ln>
            <a:noFill/>
          </a:ln>
        </c:spPr>
        <c:txPr>
          <a:bodyPr/>
          <a:lstStyle/>
          <a:p>
            <a:pPr>
              <a:defRPr sz="1200">
                <a:solidFill>
                  <a:srgbClr val="556575"/>
                </a:solidFill>
                <a:latin typeface="Times New Roman"/>
              </a:defRPr>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BB441F-7C4E-40F5-B8EE-5C01A112D92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E4CF741-851B-4535-944A-184BDC2D473A}">
      <dgm:prSet custT="1"/>
      <dgm:spPr>
        <a:noFill/>
      </dgm:spPr>
      <dgm:t>
        <a:bodyPr/>
        <a:lstStyle/>
        <a:p>
          <a:pPr algn="ctr" rtl="0"/>
          <a:r>
            <a:rPr lang="en-US" sz="2800" b="1" baseline="0" dirty="0">
              <a:solidFill>
                <a:schemeClr val="tx1"/>
              </a:solidFill>
              <a:latin typeface="Bookman Old Style" pitchFamily="18" charset="0"/>
            </a:rPr>
            <a:t>Outline</a:t>
          </a:r>
          <a:endParaRPr lang="en-IN" sz="2800" b="1" baseline="0" dirty="0">
            <a:solidFill>
              <a:schemeClr val="tx1"/>
            </a:solidFill>
            <a:latin typeface="Bookman Old Style" pitchFamily="18" charset="0"/>
          </a:endParaRPr>
        </a:p>
      </dgm:t>
    </dgm:pt>
    <dgm:pt modelId="{F73C2E28-79D1-48D5-BE7F-81A0047FDCF4}" type="sibTrans" cxnId="{A82AA898-152E-464A-9E10-89148995BE5A}">
      <dgm:prSet/>
      <dgm:spPr/>
      <dgm:t>
        <a:bodyPr/>
        <a:lstStyle/>
        <a:p>
          <a:endParaRPr lang="en-IN"/>
        </a:p>
      </dgm:t>
    </dgm:pt>
    <dgm:pt modelId="{D9200DE3-2FEB-427E-A51D-FC1D1E071A96}" type="parTrans" cxnId="{A82AA898-152E-464A-9E10-89148995BE5A}">
      <dgm:prSet/>
      <dgm:spPr/>
      <dgm:t>
        <a:bodyPr/>
        <a:lstStyle/>
        <a:p>
          <a:endParaRPr lang="en-IN"/>
        </a:p>
      </dgm:t>
    </dgm:pt>
    <dgm:pt modelId="{5814AFC0-6C0D-4982-AE20-B817E0596BAC}" type="pres">
      <dgm:prSet presAssocID="{FEBB441F-7C4E-40F5-B8EE-5C01A112D928}" presName="linear" presStyleCnt="0">
        <dgm:presLayoutVars>
          <dgm:animLvl val="lvl"/>
          <dgm:resizeHandles val="exact"/>
        </dgm:presLayoutVars>
      </dgm:prSet>
      <dgm:spPr/>
    </dgm:pt>
    <dgm:pt modelId="{BAF222F9-E1E1-4B7E-AEC9-7232D7D2F6C6}" type="pres">
      <dgm:prSet presAssocID="{FE4CF741-851B-4535-944A-184BDC2D473A}" presName="parentText" presStyleLbl="node1" presStyleIdx="0" presStyleCnt="1" custLinFactNeighborX="926" custLinFactNeighborY="-35736">
        <dgm:presLayoutVars>
          <dgm:chMax val="0"/>
          <dgm:bulletEnabled val="1"/>
        </dgm:presLayoutVars>
      </dgm:prSet>
      <dgm:spPr/>
    </dgm:pt>
  </dgm:ptLst>
  <dgm:cxnLst>
    <dgm:cxn modelId="{CB724244-4598-4C8A-9AEA-3E4A14151854}" type="presOf" srcId="{FEBB441F-7C4E-40F5-B8EE-5C01A112D928}" destId="{5814AFC0-6C0D-4982-AE20-B817E0596BAC}" srcOrd="0" destOrd="0" presId="urn:microsoft.com/office/officeart/2005/8/layout/vList2"/>
    <dgm:cxn modelId="{20414771-1D1E-48A1-85AD-4A8003B4C3AD}" type="presOf" srcId="{FE4CF741-851B-4535-944A-184BDC2D473A}" destId="{BAF222F9-E1E1-4B7E-AEC9-7232D7D2F6C6}" srcOrd="0" destOrd="0" presId="urn:microsoft.com/office/officeart/2005/8/layout/vList2"/>
    <dgm:cxn modelId="{A82AA898-152E-464A-9E10-89148995BE5A}" srcId="{FEBB441F-7C4E-40F5-B8EE-5C01A112D928}" destId="{FE4CF741-851B-4535-944A-184BDC2D473A}" srcOrd="0" destOrd="0" parTransId="{D9200DE3-2FEB-427E-A51D-FC1D1E071A96}" sibTransId="{F73C2E28-79D1-48D5-BE7F-81A0047FDCF4}"/>
    <dgm:cxn modelId="{A842C9ED-C36B-446B-A24F-CAF050C15F3C}" type="presParOf" srcId="{5814AFC0-6C0D-4982-AE20-B817E0596BAC}" destId="{BAF222F9-E1E1-4B7E-AEC9-7232D7D2F6C6}" srcOrd="0" destOrd="0" presId="urn:microsoft.com/office/officeart/2005/8/layout/vList2"/>
  </dgm:cxnLst>
  <dgm:bg>
    <a:gradFill>
      <a:gsLst>
        <a:gs pos="0">
          <a:schemeClr val="accent3">
            <a:hueOff val="-3226488"/>
            <a:satOff val="1079"/>
            <a:lumOff val="-4706"/>
            <a:alphaOff val="0"/>
            <a:tint val="50000"/>
            <a:satMod val="300000"/>
          </a:schemeClr>
        </a:gs>
        <a:gs pos="35000">
          <a:schemeClr val="accent3">
            <a:hueOff val="-3226488"/>
            <a:satOff val="1079"/>
            <a:lumOff val="-4706"/>
            <a:alphaOff val="0"/>
            <a:tint val="37000"/>
            <a:satMod val="300000"/>
          </a:schemeClr>
        </a:gs>
        <a:gs pos="100000">
          <a:schemeClr val="accent3">
            <a:hueOff val="-3226488"/>
            <a:satOff val="1079"/>
            <a:lumOff val="-4706"/>
            <a:alphaOff val="0"/>
            <a:tint val="15000"/>
            <a:satMod val="350000"/>
          </a:schemeClr>
        </a:gs>
      </a:gsLst>
      <a:lin ang="16200000" scaled="1"/>
    </a:grad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1985BB-D400-4032-9A7F-157B22D00981}"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en-IN"/>
        </a:p>
      </dgm:t>
    </dgm:pt>
    <dgm:pt modelId="{71CDBD18-4118-4431-A6DD-2C46F7E370D6}">
      <dgm:prSet custT="1"/>
      <dgm:spPr/>
      <dgm:t>
        <a:bodyPr/>
        <a:lstStyle/>
        <a:p>
          <a:pPr rtl="0"/>
          <a:r>
            <a:rPr lang="en-IN" sz="1600" b="0" strike="noStrike" baseline="0" dirty="0">
              <a:solidFill>
                <a:schemeClr val="tx1"/>
              </a:solidFill>
              <a:latin typeface="Times New Roman" panose="02020603050405020304" pitchFamily="18" charset="0"/>
              <a:cs typeface="Times New Roman" panose="02020603050405020304" pitchFamily="18" charset="0"/>
            </a:rPr>
            <a:t>Introduction</a:t>
          </a:r>
        </a:p>
      </dgm:t>
    </dgm:pt>
    <dgm:pt modelId="{34930CE3-64F8-4911-8AC3-812DB7DECAF5}" type="sibTrans" cxnId="{0C2E440E-96E8-4EC0-9A36-D2B476C27482}">
      <dgm:prSet/>
      <dgm:spPr/>
      <dgm:t>
        <a:bodyPr/>
        <a:lstStyle/>
        <a:p>
          <a:endParaRPr lang="en-IN" sz="1600" b="0" dirty="0"/>
        </a:p>
      </dgm:t>
    </dgm:pt>
    <dgm:pt modelId="{5AC2A9D6-9D9E-48D6-B15D-E20DBEEDD651}" type="parTrans" cxnId="{0C2E440E-96E8-4EC0-9A36-D2B476C27482}">
      <dgm:prSet/>
      <dgm:spPr/>
      <dgm:t>
        <a:bodyPr/>
        <a:lstStyle/>
        <a:p>
          <a:endParaRPr lang="en-IN" sz="1600" b="0" dirty="0"/>
        </a:p>
      </dgm:t>
    </dgm:pt>
    <dgm:pt modelId="{EDED98A6-E577-4BF1-B923-07978E24A3BF}">
      <dgm:prSet custT="1"/>
      <dgm:spPr/>
      <dgm:t>
        <a:bodyPr/>
        <a:lstStyle/>
        <a:p>
          <a:pPr rtl="0"/>
          <a:r>
            <a:rPr lang="en-US" sz="1600" dirty="0">
              <a:latin typeface="Times New Roman" panose="02020603050405020304" pitchFamily="18" charset="0"/>
              <a:cs typeface="Times New Roman" panose="02020603050405020304" pitchFamily="18" charset="0"/>
            </a:rPr>
            <a:t>Literature Survey</a:t>
          </a:r>
          <a:endParaRPr lang="en-IN" sz="1600" b="0" strike="noStrike" baseline="0" dirty="0">
            <a:latin typeface="Times New Roman" panose="02020603050405020304" pitchFamily="18" charset="0"/>
            <a:cs typeface="Times New Roman" panose="02020603050405020304" pitchFamily="18" charset="0"/>
          </a:endParaRPr>
        </a:p>
      </dgm:t>
    </dgm:pt>
    <dgm:pt modelId="{42B0B072-5852-48F9-8360-9940C54E6787}" type="parTrans" cxnId="{4310055D-FFC7-43C0-BDD0-5085E6269E41}">
      <dgm:prSet/>
      <dgm:spPr/>
      <dgm:t>
        <a:bodyPr/>
        <a:lstStyle/>
        <a:p>
          <a:endParaRPr lang="en-US" sz="1600"/>
        </a:p>
      </dgm:t>
    </dgm:pt>
    <dgm:pt modelId="{1606AF16-3E64-476C-B2E3-F6AE84553C0D}" type="sibTrans" cxnId="{4310055D-FFC7-43C0-BDD0-5085E6269E41}">
      <dgm:prSet/>
      <dgm:spPr/>
      <dgm:t>
        <a:bodyPr/>
        <a:lstStyle/>
        <a:p>
          <a:endParaRPr lang="en-US" sz="1600"/>
        </a:p>
      </dgm:t>
    </dgm:pt>
    <dgm:pt modelId="{B708EB2A-160D-4FBF-A431-724EBFFA1170}">
      <dgm:prSet custT="1"/>
      <dgm:spPr/>
      <dgm:t>
        <a:bodyPr/>
        <a:lstStyle/>
        <a:p>
          <a:pPr rtl="0"/>
          <a:r>
            <a:rPr lang="en-US" sz="1600" dirty="0">
              <a:latin typeface="Times New Roman" panose="02020603050405020304" pitchFamily="18" charset="0"/>
              <a:cs typeface="Times New Roman" panose="02020603050405020304" pitchFamily="18" charset="0"/>
            </a:rPr>
            <a:t>Research Gap</a:t>
          </a:r>
          <a:endParaRPr lang="en-IN" sz="1600" b="0" strike="noStrike" baseline="0" dirty="0">
            <a:latin typeface="Times New Roman" panose="02020603050405020304" pitchFamily="18" charset="0"/>
            <a:cs typeface="Times New Roman" panose="02020603050405020304" pitchFamily="18" charset="0"/>
          </a:endParaRPr>
        </a:p>
      </dgm:t>
    </dgm:pt>
    <dgm:pt modelId="{FF421003-5595-4F99-A74D-E17283E58223}" type="parTrans" cxnId="{5CE8114E-C44D-405F-9FDC-9F2F7990A9EA}">
      <dgm:prSet/>
      <dgm:spPr/>
      <dgm:t>
        <a:bodyPr/>
        <a:lstStyle/>
        <a:p>
          <a:endParaRPr lang="en-US" sz="1600"/>
        </a:p>
      </dgm:t>
    </dgm:pt>
    <dgm:pt modelId="{2B511BF1-E72F-461A-B258-468698CD493B}" type="sibTrans" cxnId="{5CE8114E-C44D-405F-9FDC-9F2F7990A9EA}">
      <dgm:prSet/>
      <dgm:spPr/>
      <dgm:t>
        <a:bodyPr/>
        <a:lstStyle/>
        <a:p>
          <a:endParaRPr lang="en-US" sz="1600"/>
        </a:p>
      </dgm:t>
    </dgm:pt>
    <dgm:pt modelId="{64D03EA2-BA6E-4BAA-A2C1-8E327040F0EA}">
      <dgm:prSet custT="1"/>
      <dgm:spPr/>
      <dgm:t>
        <a:bodyPr/>
        <a:lstStyle/>
        <a:p>
          <a:pPr rtl="0"/>
          <a:r>
            <a:rPr lang="en-US" sz="1600" dirty="0">
              <a:latin typeface="Times New Roman" panose="02020603050405020304" pitchFamily="18" charset="0"/>
              <a:cs typeface="Times New Roman" panose="02020603050405020304" pitchFamily="18" charset="0"/>
            </a:rPr>
            <a:t>Problem Statement</a:t>
          </a:r>
          <a:endParaRPr lang="en-IN" sz="1600" b="0" strike="noStrike" baseline="0" dirty="0">
            <a:latin typeface="Times New Roman" panose="02020603050405020304" pitchFamily="18" charset="0"/>
            <a:cs typeface="Times New Roman" panose="02020603050405020304" pitchFamily="18" charset="0"/>
          </a:endParaRPr>
        </a:p>
      </dgm:t>
    </dgm:pt>
    <dgm:pt modelId="{8CDD5EAD-913C-4ECD-8E28-16357CE10075}" type="parTrans" cxnId="{B6645EA0-60A9-4BDD-BA3A-1F2131D588D2}">
      <dgm:prSet/>
      <dgm:spPr/>
      <dgm:t>
        <a:bodyPr/>
        <a:lstStyle/>
        <a:p>
          <a:endParaRPr lang="en-US" sz="1600"/>
        </a:p>
      </dgm:t>
    </dgm:pt>
    <dgm:pt modelId="{3B84A4A5-6B53-481C-8A55-262095344C5C}" type="sibTrans" cxnId="{B6645EA0-60A9-4BDD-BA3A-1F2131D588D2}">
      <dgm:prSet/>
      <dgm:spPr/>
      <dgm:t>
        <a:bodyPr/>
        <a:lstStyle/>
        <a:p>
          <a:endParaRPr lang="en-US" sz="1600"/>
        </a:p>
      </dgm:t>
    </dgm:pt>
    <dgm:pt modelId="{AA483ED3-D149-463C-ACB7-E064D7D718AC}">
      <dgm:prSet custT="1"/>
      <dgm:spPr/>
      <dgm:t>
        <a:bodyPr/>
        <a:lstStyle/>
        <a:p>
          <a:r>
            <a:rPr lang="en-US" sz="1600" dirty="0">
              <a:latin typeface="Bookman Old Style" panose="02050604050505020204" pitchFamily="18" charset="0"/>
            </a:rPr>
            <a:t>References</a:t>
          </a:r>
          <a:endParaRPr lang="en-IN" sz="1600" b="0" strike="noStrike" baseline="0" dirty="0">
            <a:latin typeface="Times New Roman" panose="02020603050405020304" pitchFamily="18" charset="0"/>
            <a:cs typeface="Times New Roman" panose="02020603050405020304" pitchFamily="18" charset="0"/>
          </a:endParaRPr>
        </a:p>
      </dgm:t>
    </dgm:pt>
    <dgm:pt modelId="{978AEDEE-7CDC-44EB-AE13-8423D25FB422}" type="parTrans" cxnId="{D7DC135A-3878-4C83-8E68-D9B8242A3A82}">
      <dgm:prSet/>
      <dgm:spPr/>
      <dgm:t>
        <a:bodyPr/>
        <a:lstStyle/>
        <a:p>
          <a:endParaRPr lang="en-US" sz="1600"/>
        </a:p>
      </dgm:t>
    </dgm:pt>
    <dgm:pt modelId="{C36D5130-2A76-4235-9A72-47A1DD2E59F2}" type="sibTrans" cxnId="{D7DC135A-3878-4C83-8E68-D9B8242A3A82}">
      <dgm:prSet/>
      <dgm:spPr/>
      <dgm:t>
        <a:bodyPr/>
        <a:lstStyle/>
        <a:p>
          <a:endParaRPr lang="en-US" sz="1600"/>
        </a:p>
      </dgm:t>
    </dgm:pt>
    <dgm:pt modelId="{401969DB-ED9C-4C15-84BE-7C179E216810}">
      <dgm:prSet custT="1"/>
      <dgm:spPr/>
      <dgm:t>
        <a:bodyPr/>
        <a:lstStyle/>
        <a:p>
          <a:pPr rtl="0"/>
          <a:r>
            <a:rPr lang="en-US" sz="1600" dirty="0">
              <a:latin typeface="Times New Roman" panose="02020603050405020304" pitchFamily="18" charset="0"/>
              <a:cs typeface="Times New Roman" panose="02020603050405020304" pitchFamily="18" charset="0"/>
            </a:rPr>
            <a:t>Motivation</a:t>
          </a:r>
          <a:endParaRPr lang="en-IN" sz="1600" b="0" strike="noStrike" baseline="0" dirty="0">
            <a:latin typeface="Times New Roman" panose="02020603050405020304" pitchFamily="18" charset="0"/>
            <a:cs typeface="Times New Roman" panose="02020603050405020304" pitchFamily="18" charset="0"/>
          </a:endParaRPr>
        </a:p>
      </dgm:t>
    </dgm:pt>
    <dgm:pt modelId="{399F1852-07B4-4E59-975D-9E5854ECC68C}" type="parTrans" cxnId="{FF2ABAA9-3AD4-4F4E-96E4-0C1EDC9F9FE6}">
      <dgm:prSet/>
      <dgm:spPr/>
      <dgm:t>
        <a:bodyPr/>
        <a:lstStyle/>
        <a:p>
          <a:endParaRPr lang="en-US" sz="1600"/>
        </a:p>
      </dgm:t>
    </dgm:pt>
    <dgm:pt modelId="{5D327329-CABE-4E07-808B-AA271E5179B2}" type="sibTrans" cxnId="{FF2ABAA9-3AD4-4F4E-96E4-0C1EDC9F9FE6}">
      <dgm:prSet/>
      <dgm:spPr/>
      <dgm:t>
        <a:bodyPr/>
        <a:lstStyle/>
        <a:p>
          <a:endParaRPr lang="en-US" sz="1600"/>
        </a:p>
      </dgm:t>
    </dgm:pt>
    <dgm:pt modelId="{24A6D890-3CF1-42D4-9BDE-D0818C16299D}">
      <dgm:prSet custT="1"/>
      <dgm:spPr/>
      <dgm:t>
        <a:bodyPr/>
        <a:lstStyle/>
        <a:p>
          <a:r>
            <a:rPr lang="en-US" sz="1600" dirty="0">
              <a:latin typeface="Times New Roman" panose="02020603050405020304" pitchFamily="18" charset="0"/>
              <a:cs typeface="Times New Roman" panose="02020603050405020304" pitchFamily="18" charset="0"/>
            </a:rPr>
            <a:t>Objective</a:t>
          </a:r>
        </a:p>
      </dgm:t>
    </dgm:pt>
    <dgm:pt modelId="{5EA712B7-C30A-4BBE-85BD-F7ABD2DC517B}" type="parTrans" cxnId="{CC108F6D-090A-4355-9911-A54EC39CF3DB}">
      <dgm:prSet/>
      <dgm:spPr/>
      <dgm:t>
        <a:bodyPr/>
        <a:lstStyle/>
        <a:p>
          <a:endParaRPr lang="en-US" sz="1600"/>
        </a:p>
      </dgm:t>
    </dgm:pt>
    <dgm:pt modelId="{8B60D516-3070-4E0F-8526-1C67C7707C79}" type="sibTrans" cxnId="{CC108F6D-090A-4355-9911-A54EC39CF3DB}">
      <dgm:prSet/>
      <dgm:spPr/>
      <dgm:t>
        <a:bodyPr/>
        <a:lstStyle/>
        <a:p>
          <a:endParaRPr lang="en-US" sz="1600"/>
        </a:p>
      </dgm:t>
    </dgm:pt>
    <dgm:pt modelId="{BE2F195E-2BA7-4462-96C7-2B7232AC5D7A}">
      <dgm:prSet custT="1"/>
      <dgm:spPr/>
      <dgm:t>
        <a:bodyPr/>
        <a:lstStyle/>
        <a:p>
          <a:pPr rtl="0"/>
          <a:r>
            <a:rPr lang="en-US" sz="1600" dirty="0">
              <a:latin typeface="Times New Roman" panose="02020603050405020304" pitchFamily="18" charset="0"/>
              <a:cs typeface="Times New Roman" panose="02020603050405020304" pitchFamily="18" charset="0"/>
            </a:rPr>
            <a:t>Proposed Methodology </a:t>
          </a:r>
          <a:endParaRPr lang="en-IN" sz="1600" b="0" strike="noStrike" baseline="0" dirty="0">
            <a:latin typeface="Times New Roman" panose="02020603050405020304" pitchFamily="18" charset="0"/>
            <a:cs typeface="Times New Roman" panose="02020603050405020304" pitchFamily="18" charset="0"/>
          </a:endParaRPr>
        </a:p>
      </dgm:t>
    </dgm:pt>
    <dgm:pt modelId="{E38214F9-7E4A-4662-9CDC-4598C4A4C957}" type="parTrans" cxnId="{CC8D0570-3AD3-4282-84FD-86289F4F0AEF}">
      <dgm:prSet/>
      <dgm:spPr/>
      <dgm:t>
        <a:bodyPr/>
        <a:lstStyle/>
        <a:p>
          <a:endParaRPr lang="en-US" sz="1600"/>
        </a:p>
      </dgm:t>
    </dgm:pt>
    <dgm:pt modelId="{C24995FB-A4C3-4BD0-B83D-B6098D83A9B0}" type="sibTrans" cxnId="{CC8D0570-3AD3-4282-84FD-86289F4F0AEF}">
      <dgm:prSet/>
      <dgm:spPr/>
      <dgm:t>
        <a:bodyPr/>
        <a:lstStyle/>
        <a:p>
          <a:endParaRPr lang="en-US" sz="1600"/>
        </a:p>
      </dgm:t>
    </dgm:pt>
    <dgm:pt modelId="{3D1A6D30-8326-4B6A-A4F0-BBC89CDFB270}">
      <dgm:prSet custT="1"/>
      <dgm:spPr/>
      <dgm:t>
        <a:bodyPr/>
        <a:lstStyle/>
        <a:p>
          <a:pPr rtl="0"/>
          <a:r>
            <a:rPr lang="en-IN" sz="1600" b="0" strike="noStrike" baseline="0" dirty="0">
              <a:solidFill>
                <a:schemeClr val="tx1"/>
              </a:solidFill>
              <a:latin typeface="Times New Roman" panose="02020603050405020304" pitchFamily="18" charset="0"/>
              <a:cs typeface="Times New Roman" panose="02020603050405020304" pitchFamily="18" charset="0"/>
            </a:rPr>
            <a:t>Abstract</a:t>
          </a:r>
        </a:p>
      </dgm:t>
    </dgm:pt>
    <dgm:pt modelId="{78CDFF51-FDA3-49AC-87AE-EBF823BB1648}" type="parTrans" cxnId="{D1B8F29D-8B56-46E1-9CC4-BC46DB7BB56C}">
      <dgm:prSet/>
      <dgm:spPr/>
      <dgm:t>
        <a:bodyPr/>
        <a:lstStyle/>
        <a:p>
          <a:endParaRPr lang="en-US"/>
        </a:p>
      </dgm:t>
    </dgm:pt>
    <dgm:pt modelId="{C9230B9F-5B32-4D8C-9386-7373C9BED094}" type="sibTrans" cxnId="{D1B8F29D-8B56-46E1-9CC4-BC46DB7BB56C}">
      <dgm:prSet/>
      <dgm:spPr/>
      <dgm:t>
        <a:bodyPr/>
        <a:lstStyle/>
        <a:p>
          <a:endParaRPr lang="en-US"/>
        </a:p>
      </dgm:t>
    </dgm:pt>
    <dgm:pt modelId="{89026886-4D1C-4099-8C61-0C275DE5616F}">
      <dgm:prSet custT="1"/>
      <dgm:spPr/>
      <dgm:t>
        <a:bodyPr/>
        <a:lstStyle/>
        <a:p>
          <a:pPr rtl="0"/>
          <a:r>
            <a:rPr lang="en-IN" sz="1600" b="0" strike="noStrike" baseline="0" dirty="0">
              <a:latin typeface="Times New Roman" panose="02020603050405020304" pitchFamily="18" charset="0"/>
              <a:cs typeface="Times New Roman" panose="02020603050405020304" pitchFamily="18" charset="0"/>
            </a:rPr>
            <a:t>Result and Discussion on Outcome (Research Paper and Deliverables)</a:t>
          </a:r>
        </a:p>
      </dgm:t>
    </dgm:pt>
    <dgm:pt modelId="{63072F07-4E61-495A-AC24-EC8752BD1221}" type="parTrans" cxnId="{B52BC8CF-576A-4312-908F-FD77EC17B00B}">
      <dgm:prSet/>
      <dgm:spPr/>
      <dgm:t>
        <a:bodyPr/>
        <a:lstStyle/>
        <a:p>
          <a:endParaRPr lang="en-IN"/>
        </a:p>
      </dgm:t>
    </dgm:pt>
    <dgm:pt modelId="{06EB6932-0A5F-4F3B-9183-58570BA7E1F7}" type="sibTrans" cxnId="{B52BC8CF-576A-4312-908F-FD77EC17B00B}">
      <dgm:prSet/>
      <dgm:spPr/>
      <dgm:t>
        <a:bodyPr/>
        <a:lstStyle/>
        <a:p>
          <a:endParaRPr lang="en-IN"/>
        </a:p>
      </dgm:t>
    </dgm:pt>
    <dgm:pt modelId="{FA265CEF-E1D3-4F42-BCA9-D740473397B3}" type="pres">
      <dgm:prSet presAssocID="{FA1985BB-D400-4032-9A7F-157B22D00981}" presName="linear" presStyleCnt="0">
        <dgm:presLayoutVars>
          <dgm:animLvl val="lvl"/>
          <dgm:resizeHandles val="exact"/>
        </dgm:presLayoutVars>
      </dgm:prSet>
      <dgm:spPr/>
    </dgm:pt>
    <dgm:pt modelId="{8AF73CB3-664F-4474-81B3-92D97B6E2F23}" type="pres">
      <dgm:prSet presAssocID="{3D1A6D30-8326-4B6A-A4F0-BBC89CDFB270}" presName="parentText" presStyleLbl="node1" presStyleIdx="0" presStyleCnt="10">
        <dgm:presLayoutVars>
          <dgm:chMax val="0"/>
          <dgm:bulletEnabled val="1"/>
        </dgm:presLayoutVars>
      </dgm:prSet>
      <dgm:spPr/>
    </dgm:pt>
    <dgm:pt modelId="{1E33F72A-FE28-4128-826C-9B7F160A7E7E}" type="pres">
      <dgm:prSet presAssocID="{C9230B9F-5B32-4D8C-9386-7373C9BED094}" presName="spacer" presStyleCnt="0"/>
      <dgm:spPr/>
    </dgm:pt>
    <dgm:pt modelId="{0C292BC2-ADFF-490F-A1D6-7FDA3C25D23C}" type="pres">
      <dgm:prSet presAssocID="{71CDBD18-4118-4431-A6DD-2C46F7E370D6}" presName="parentText" presStyleLbl="node1" presStyleIdx="1" presStyleCnt="10" custLinFactNeighborY="-1121">
        <dgm:presLayoutVars>
          <dgm:chMax val="0"/>
          <dgm:bulletEnabled val="1"/>
        </dgm:presLayoutVars>
      </dgm:prSet>
      <dgm:spPr/>
    </dgm:pt>
    <dgm:pt modelId="{9EF7D786-5CE1-44B1-82A6-0A38D8666C77}" type="pres">
      <dgm:prSet presAssocID="{34930CE3-64F8-4911-8AC3-812DB7DECAF5}" presName="spacer" presStyleCnt="0"/>
      <dgm:spPr/>
    </dgm:pt>
    <dgm:pt modelId="{095A8D5B-507B-49DD-9F50-21D5783DA766}" type="pres">
      <dgm:prSet presAssocID="{401969DB-ED9C-4C15-84BE-7C179E216810}" presName="parentText" presStyleLbl="node1" presStyleIdx="2" presStyleCnt="10">
        <dgm:presLayoutVars>
          <dgm:chMax val="0"/>
          <dgm:bulletEnabled val="1"/>
        </dgm:presLayoutVars>
      </dgm:prSet>
      <dgm:spPr/>
    </dgm:pt>
    <dgm:pt modelId="{AB2FE273-2CBC-42D7-8B88-960497F425CD}" type="pres">
      <dgm:prSet presAssocID="{5D327329-CABE-4E07-808B-AA271E5179B2}" presName="spacer" presStyleCnt="0"/>
      <dgm:spPr/>
    </dgm:pt>
    <dgm:pt modelId="{D59183E6-5BCE-4FD7-904C-1F49A18FA90A}" type="pres">
      <dgm:prSet presAssocID="{24A6D890-3CF1-42D4-9BDE-D0818C16299D}" presName="parentText" presStyleLbl="node1" presStyleIdx="3" presStyleCnt="10">
        <dgm:presLayoutVars>
          <dgm:chMax val="0"/>
          <dgm:bulletEnabled val="1"/>
        </dgm:presLayoutVars>
      </dgm:prSet>
      <dgm:spPr/>
    </dgm:pt>
    <dgm:pt modelId="{4FC79289-272C-462F-8407-B03F236808AE}" type="pres">
      <dgm:prSet presAssocID="{8B60D516-3070-4E0F-8526-1C67C7707C79}" presName="spacer" presStyleCnt="0"/>
      <dgm:spPr/>
    </dgm:pt>
    <dgm:pt modelId="{A38FE33E-AAC5-4E0B-8577-5ECAA37FA220}" type="pres">
      <dgm:prSet presAssocID="{EDED98A6-E577-4BF1-B923-07978E24A3BF}" presName="parentText" presStyleLbl="node1" presStyleIdx="4" presStyleCnt="10">
        <dgm:presLayoutVars>
          <dgm:chMax val="0"/>
          <dgm:bulletEnabled val="1"/>
        </dgm:presLayoutVars>
      </dgm:prSet>
      <dgm:spPr/>
    </dgm:pt>
    <dgm:pt modelId="{A70457E0-9E15-4145-8AFF-3F0FA33A6D66}" type="pres">
      <dgm:prSet presAssocID="{1606AF16-3E64-476C-B2E3-F6AE84553C0D}" presName="spacer" presStyleCnt="0"/>
      <dgm:spPr/>
    </dgm:pt>
    <dgm:pt modelId="{A96DAACA-F17E-47F0-B672-F8211FEB47AC}" type="pres">
      <dgm:prSet presAssocID="{B708EB2A-160D-4FBF-A431-724EBFFA1170}" presName="parentText" presStyleLbl="node1" presStyleIdx="5" presStyleCnt="10">
        <dgm:presLayoutVars>
          <dgm:chMax val="0"/>
          <dgm:bulletEnabled val="1"/>
        </dgm:presLayoutVars>
      </dgm:prSet>
      <dgm:spPr/>
    </dgm:pt>
    <dgm:pt modelId="{6B1F05B8-4CD7-4C5E-B083-9DB5BB967236}" type="pres">
      <dgm:prSet presAssocID="{2B511BF1-E72F-461A-B258-468698CD493B}" presName="spacer" presStyleCnt="0"/>
      <dgm:spPr/>
    </dgm:pt>
    <dgm:pt modelId="{6885AA65-2AA3-46B5-A084-7E7DD856A146}" type="pres">
      <dgm:prSet presAssocID="{64D03EA2-BA6E-4BAA-A2C1-8E327040F0EA}" presName="parentText" presStyleLbl="node1" presStyleIdx="6" presStyleCnt="10">
        <dgm:presLayoutVars>
          <dgm:chMax val="0"/>
          <dgm:bulletEnabled val="1"/>
        </dgm:presLayoutVars>
      </dgm:prSet>
      <dgm:spPr/>
    </dgm:pt>
    <dgm:pt modelId="{A90DDBFD-C452-4908-8B22-E5A28FD4AA10}" type="pres">
      <dgm:prSet presAssocID="{3B84A4A5-6B53-481C-8A55-262095344C5C}" presName="spacer" presStyleCnt="0"/>
      <dgm:spPr/>
    </dgm:pt>
    <dgm:pt modelId="{FA3189F3-6CE2-4CA8-9D73-CCF3A091FC32}" type="pres">
      <dgm:prSet presAssocID="{BE2F195E-2BA7-4462-96C7-2B7232AC5D7A}" presName="parentText" presStyleLbl="node1" presStyleIdx="7" presStyleCnt="10">
        <dgm:presLayoutVars>
          <dgm:chMax val="0"/>
          <dgm:bulletEnabled val="1"/>
        </dgm:presLayoutVars>
      </dgm:prSet>
      <dgm:spPr/>
    </dgm:pt>
    <dgm:pt modelId="{5F77AADB-777B-4D7F-B851-7DE8D4D55FCB}" type="pres">
      <dgm:prSet presAssocID="{C24995FB-A4C3-4BD0-B83D-B6098D83A9B0}" presName="spacer" presStyleCnt="0"/>
      <dgm:spPr/>
    </dgm:pt>
    <dgm:pt modelId="{ACD9FB09-745B-43A9-A14D-18BE8D6CE92F}" type="pres">
      <dgm:prSet presAssocID="{89026886-4D1C-4099-8C61-0C275DE5616F}" presName="parentText" presStyleLbl="node1" presStyleIdx="8" presStyleCnt="10">
        <dgm:presLayoutVars>
          <dgm:chMax val="0"/>
          <dgm:bulletEnabled val="1"/>
        </dgm:presLayoutVars>
      </dgm:prSet>
      <dgm:spPr/>
    </dgm:pt>
    <dgm:pt modelId="{FA45AC09-2E0E-40D4-8018-BE6D74560493}" type="pres">
      <dgm:prSet presAssocID="{06EB6932-0A5F-4F3B-9183-58570BA7E1F7}" presName="spacer" presStyleCnt="0"/>
      <dgm:spPr/>
    </dgm:pt>
    <dgm:pt modelId="{1B872D9D-FE3C-49B3-9DAD-AF5052A20FFE}" type="pres">
      <dgm:prSet presAssocID="{AA483ED3-D149-463C-ACB7-E064D7D718AC}" presName="parentText" presStyleLbl="node1" presStyleIdx="9" presStyleCnt="10">
        <dgm:presLayoutVars>
          <dgm:chMax val="0"/>
          <dgm:bulletEnabled val="1"/>
        </dgm:presLayoutVars>
      </dgm:prSet>
      <dgm:spPr/>
    </dgm:pt>
  </dgm:ptLst>
  <dgm:cxnLst>
    <dgm:cxn modelId="{D46C880B-70F5-4330-81AB-5E9CBC132F0A}" type="presOf" srcId="{401969DB-ED9C-4C15-84BE-7C179E216810}" destId="{095A8D5B-507B-49DD-9F50-21D5783DA766}" srcOrd="0" destOrd="0" presId="urn:microsoft.com/office/officeart/2005/8/layout/vList2"/>
    <dgm:cxn modelId="{0C2E440E-96E8-4EC0-9A36-D2B476C27482}" srcId="{FA1985BB-D400-4032-9A7F-157B22D00981}" destId="{71CDBD18-4118-4431-A6DD-2C46F7E370D6}" srcOrd="1" destOrd="0" parTransId="{5AC2A9D6-9D9E-48D6-B15D-E20DBEEDD651}" sibTransId="{34930CE3-64F8-4911-8AC3-812DB7DECAF5}"/>
    <dgm:cxn modelId="{4310055D-FFC7-43C0-BDD0-5085E6269E41}" srcId="{FA1985BB-D400-4032-9A7F-157B22D00981}" destId="{EDED98A6-E577-4BF1-B923-07978E24A3BF}" srcOrd="4" destOrd="0" parTransId="{42B0B072-5852-48F9-8360-9940C54E6787}" sibTransId="{1606AF16-3E64-476C-B2E3-F6AE84553C0D}"/>
    <dgm:cxn modelId="{BBAB885F-F7EB-45E4-B4BB-B81A402A9794}" type="presOf" srcId="{89026886-4D1C-4099-8C61-0C275DE5616F}" destId="{ACD9FB09-745B-43A9-A14D-18BE8D6CE92F}" srcOrd="0" destOrd="0" presId="urn:microsoft.com/office/officeart/2005/8/layout/vList2"/>
    <dgm:cxn modelId="{2B1A3646-A7D0-4A42-A6AC-74CE580D15B8}" type="presOf" srcId="{EDED98A6-E577-4BF1-B923-07978E24A3BF}" destId="{A38FE33E-AAC5-4E0B-8577-5ECAA37FA220}" srcOrd="0" destOrd="0" presId="urn:microsoft.com/office/officeart/2005/8/layout/vList2"/>
    <dgm:cxn modelId="{CC108F6D-090A-4355-9911-A54EC39CF3DB}" srcId="{FA1985BB-D400-4032-9A7F-157B22D00981}" destId="{24A6D890-3CF1-42D4-9BDE-D0818C16299D}" srcOrd="3" destOrd="0" parTransId="{5EA712B7-C30A-4BBE-85BD-F7ABD2DC517B}" sibTransId="{8B60D516-3070-4E0F-8526-1C67C7707C79}"/>
    <dgm:cxn modelId="{5CE8114E-C44D-405F-9FDC-9F2F7990A9EA}" srcId="{FA1985BB-D400-4032-9A7F-157B22D00981}" destId="{B708EB2A-160D-4FBF-A431-724EBFFA1170}" srcOrd="5" destOrd="0" parTransId="{FF421003-5595-4F99-A74D-E17283E58223}" sibTransId="{2B511BF1-E72F-461A-B258-468698CD493B}"/>
    <dgm:cxn modelId="{CC8D0570-3AD3-4282-84FD-86289F4F0AEF}" srcId="{FA1985BB-D400-4032-9A7F-157B22D00981}" destId="{BE2F195E-2BA7-4462-96C7-2B7232AC5D7A}" srcOrd="7" destOrd="0" parTransId="{E38214F9-7E4A-4662-9CDC-4598C4A4C957}" sibTransId="{C24995FB-A4C3-4BD0-B83D-B6098D83A9B0}"/>
    <dgm:cxn modelId="{85A76B72-0009-4F15-9802-358413863C64}" type="presOf" srcId="{3D1A6D30-8326-4B6A-A4F0-BBC89CDFB270}" destId="{8AF73CB3-664F-4474-81B3-92D97B6E2F23}" srcOrd="0" destOrd="0" presId="urn:microsoft.com/office/officeart/2005/8/layout/vList2"/>
    <dgm:cxn modelId="{C6A4C376-EBEC-4804-B3E8-0D4B0D085B34}" type="presOf" srcId="{24A6D890-3CF1-42D4-9BDE-D0818C16299D}" destId="{D59183E6-5BCE-4FD7-904C-1F49A18FA90A}" srcOrd="0" destOrd="0" presId="urn:microsoft.com/office/officeart/2005/8/layout/vList2"/>
    <dgm:cxn modelId="{D7DC135A-3878-4C83-8E68-D9B8242A3A82}" srcId="{FA1985BB-D400-4032-9A7F-157B22D00981}" destId="{AA483ED3-D149-463C-ACB7-E064D7D718AC}" srcOrd="9" destOrd="0" parTransId="{978AEDEE-7CDC-44EB-AE13-8423D25FB422}" sibTransId="{C36D5130-2A76-4235-9A72-47A1DD2E59F2}"/>
    <dgm:cxn modelId="{CE7C8080-A451-4F00-8691-B1323551A1F0}" type="presOf" srcId="{B708EB2A-160D-4FBF-A431-724EBFFA1170}" destId="{A96DAACA-F17E-47F0-B672-F8211FEB47AC}" srcOrd="0" destOrd="0" presId="urn:microsoft.com/office/officeart/2005/8/layout/vList2"/>
    <dgm:cxn modelId="{F5C5B88A-330C-4462-AE72-DC8D39CAE661}" type="presOf" srcId="{64D03EA2-BA6E-4BAA-A2C1-8E327040F0EA}" destId="{6885AA65-2AA3-46B5-A084-7E7DD856A146}" srcOrd="0" destOrd="0" presId="urn:microsoft.com/office/officeart/2005/8/layout/vList2"/>
    <dgm:cxn modelId="{41B66E96-4EAC-4FD0-8E00-3F321CE6E736}" type="presOf" srcId="{71CDBD18-4118-4431-A6DD-2C46F7E370D6}" destId="{0C292BC2-ADFF-490F-A1D6-7FDA3C25D23C}" srcOrd="0" destOrd="0" presId="urn:microsoft.com/office/officeart/2005/8/layout/vList2"/>
    <dgm:cxn modelId="{D1B8F29D-8B56-46E1-9CC4-BC46DB7BB56C}" srcId="{FA1985BB-D400-4032-9A7F-157B22D00981}" destId="{3D1A6D30-8326-4B6A-A4F0-BBC89CDFB270}" srcOrd="0" destOrd="0" parTransId="{78CDFF51-FDA3-49AC-87AE-EBF823BB1648}" sibTransId="{C9230B9F-5B32-4D8C-9386-7373C9BED094}"/>
    <dgm:cxn modelId="{B6645EA0-60A9-4BDD-BA3A-1F2131D588D2}" srcId="{FA1985BB-D400-4032-9A7F-157B22D00981}" destId="{64D03EA2-BA6E-4BAA-A2C1-8E327040F0EA}" srcOrd="6" destOrd="0" parTransId="{8CDD5EAD-913C-4ECD-8E28-16357CE10075}" sibTransId="{3B84A4A5-6B53-481C-8A55-262095344C5C}"/>
    <dgm:cxn modelId="{FF2ABAA9-3AD4-4F4E-96E4-0C1EDC9F9FE6}" srcId="{FA1985BB-D400-4032-9A7F-157B22D00981}" destId="{401969DB-ED9C-4C15-84BE-7C179E216810}" srcOrd="2" destOrd="0" parTransId="{399F1852-07B4-4E59-975D-9E5854ECC68C}" sibTransId="{5D327329-CABE-4E07-808B-AA271E5179B2}"/>
    <dgm:cxn modelId="{335BD1C0-2D7E-47AC-928B-0B0B5765A5AB}" type="presOf" srcId="{FA1985BB-D400-4032-9A7F-157B22D00981}" destId="{FA265CEF-E1D3-4F42-BCA9-D740473397B3}" srcOrd="0" destOrd="0" presId="urn:microsoft.com/office/officeart/2005/8/layout/vList2"/>
    <dgm:cxn modelId="{1892B9C4-D4DE-43C9-8126-A7E7889CE3CD}" type="presOf" srcId="{BE2F195E-2BA7-4462-96C7-2B7232AC5D7A}" destId="{FA3189F3-6CE2-4CA8-9D73-CCF3A091FC32}" srcOrd="0" destOrd="0" presId="urn:microsoft.com/office/officeart/2005/8/layout/vList2"/>
    <dgm:cxn modelId="{B52BC8CF-576A-4312-908F-FD77EC17B00B}" srcId="{FA1985BB-D400-4032-9A7F-157B22D00981}" destId="{89026886-4D1C-4099-8C61-0C275DE5616F}" srcOrd="8" destOrd="0" parTransId="{63072F07-4E61-495A-AC24-EC8752BD1221}" sibTransId="{06EB6932-0A5F-4F3B-9183-58570BA7E1F7}"/>
    <dgm:cxn modelId="{B27109D0-E259-4C50-A12A-FE51BC4E1497}" type="presOf" srcId="{AA483ED3-D149-463C-ACB7-E064D7D718AC}" destId="{1B872D9D-FE3C-49B3-9DAD-AF5052A20FFE}" srcOrd="0" destOrd="0" presId="urn:microsoft.com/office/officeart/2005/8/layout/vList2"/>
    <dgm:cxn modelId="{3638C0A1-CCC6-42AA-8E6D-A7BB2A8D7433}" type="presParOf" srcId="{FA265CEF-E1D3-4F42-BCA9-D740473397B3}" destId="{8AF73CB3-664F-4474-81B3-92D97B6E2F23}" srcOrd="0" destOrd="0" presId="urn:microsoft.com/office/officeart/2005/8/layout/vList2"/>
    <dgm:cxn modelId="{36722D97-AFAF-426C-B57A-DFDB099D14AF}" type="presParOf" srcId="{FA265CEF-E1D3-4F42-BCA9-D740473397B3}" destId="{1E33F72A-FE28-4128-826C-9B7F160A7E7E}" srcOrd="1" destOrd="0" presId="urn:microsoft.com/office/officeart/2005/8/layout/vList2"/>
    <dgm:cxn modelId="{E43D6A9A-D778-4676-A5C6-95E4A808BACE}" type="presParOf" srcId="{FA265CEF-E1D3-4F42-BCA9-D740473397B3}" destId="{0C292BC2-ADFF-490F-A1D6-7FDA3C25D23C}" srcOrd="2" destOrd="0" presId="urn:microsoft.com/office/officeart/2005/8/layout/vList2"/>
    <dgm:cxn modelId="{26F81564-AE95-4948-AC98-EB29A4C5A48D}" type="presParOf" srcId="{FA265CEF-E1D3-4F42-BCA9-D740473397B3}" destId="{9EF7D786-5CE1-44B1-82A6-0A38D8666C77}" srcOrd="3" destOrd="0" presId="urn:microsoft.com/office/officeart/2005/8/layout/vList2"/>
    <dgm:cxn modelId="{7B4A2029-66D1-47D3-97D8-027F6B900503}" type="presParOf" srcId="{FA265CEF-E1D3-4F42-BCA9-D740473397B3}" destId="{095A8D5B-507B-49DD-9F50-21D5783DA766}" srcOrd="4" destOrd="0" presId="urn:microsoft.com/office/officeart/2005/8/layout/vList2"/>
    <dgm:cxn modelId="{9FDB2C2D-F4E5-41D5-AF33-78507C6F0686}" type="presParOf" srcId="{FA265CEF-E1D3-4F42-BCA9-D740473397B3}" destId="{AB2FE273-2CBC-42D7-8B88-960497F425CD}" srcOrd="5" destOrd="0" presId="urn:microsoft.com/office/officeart/2005/8/layout/vList2"/>
    <dgm:cxn modelId="{747BBF30-1ECB-449C-A583-0B8AFF1087E6}" type="presParOf" srcId="{FA265CEF-E1D3-4F42-BCA9-D740473397B3}" destId="{D59183E6-5BCE-4FD7-904C-1F49A18FA90A}" srcOrd="6" destOrd="0" presId="urn:microsoft.com/office/officeart/2005/8/layout/vList2"/>
    <dgm:cxn modelId="{80D8713E-E5E6-4AD7-B7B1-46A2A0E4166B}" type="presParOf" srcId="{FA265CEF-E1D3-4F42-BCA9-D740473397B3}" destId="{4FC79289-272C-462F-8407-B03F236808AE}" srcOrd="7" destOrd="0" presId="urn:microsoft.com/office/officeart/2005/8/layout/vList2"/>
    <dgm:cxn modelId="{DE8C4887-4C5F-4B86-8750-700FC0F47419}" type="presParOf" srcId="{FA265CEF-E1D3-4F42-BCA9-D740473397B3}" destId="{A38FE33E-AAC5-4E0B-8577-5ECAA37FA220}" srcOrd="8" destOrd="0" presId="urn:microsoft.com/office/officeart/2005/8/layout/vList2"/>
    <dgm:cxn modelId="{376DAD15-4F6A-4011-BFD3-D869DFCADCDB}" type="presParOf" srcId="{FA265CEF-E1D3-4F42-BCA9-D740473397B3}" destId="{A70457E0-9E15-4145-8AFF-3F0FA33A6D66}" srcOrd="9" destOrd="0" presId="urn:microsoft.com/office/officeart/2005/8/layout/vList2"/>
    <dgm:cxn modelId="{0F399570-5E21-4ED0-8C3A-487392DC1F02}" type="presParOf" srcId="{FA265CEF-E1D3-4F42-BCA9-D740473397B3}" destId="{A96DAACA-F17E-47F0-B672-F8211FEB47AC}" srcOrd="10" destOrd="0" presId="urn:microsoft.com/office/officeart/2005/8/layout/vList2"/>
    <dgm:cxn modelId="{7B6EBBA7-8E0B-49C7-AE38-C50507B2C171}" type="presParOf" srcId="{FA265CEF-E1D3-4F42-BCA9-D740473397B3}" destId="{6B1F05B8-4CD7-4C5E-B083-9DB5BB967236}" srcOrd="11" destOrd="0" presId="urn:microsoft.com/office/officeart/2005/8/layout/vList2"/>
    <dgm:cxn modelId="{9EB17FA9-3573-457F-B72E-9389EE98CFCA}" type="presParOf" srcId="{FA265CEF-E1D3-4F42-BCA9-D740473397B3}" destId="{6885AA65-2AA3-46B5-A084-7E7DD856A146}" srcOrd="12" destOrd="0" presId="urn:microsoft.com/office/officeart/2005/8/layout/vList2"/>
    <dgm:cxn modelId="{85FD7275-B6F2-4195-90B5-DBE0E9C4D788}" type="presParOf" srcId="{FA265CEF-E1D3-4F42-BCA9-D740473397B3}" destId="{A90DDBFD-C452-4908-8B22-E5A28FD4AA10}" srcOrd="13" destOrd="0" presId="urn:microsoft.com/office/officeart/2005/8/layout/vList2"/>
    <dgm:cxn modelId="{61FD1A85-F392-483C-B199-D66EB117A791}" type="presParOf" srcId="{FA265CEF-E1D3-4F42-BCA9-D740473397B3}" destId="{FA3189F3-6CE2-4CA8-9D73-CCF3A091FC32}" srcOrd="14" destOrd="0" presId="urn:microsoft.com/office/officeart/2005/8/layout/vList2"/>
    <dgm:cxn modelId="{E83650C3-12CA-4EB3-90CA-D51F985A0E10}" type="presParOf" srcId="{FA265CEF-E1D3-4F42-BCA9-D740473397B3}" destId="{5F77AADB-777B-4D7F-B851-7DE8D4D55FCB}" srcOrd="15" destOrd="0" presId="urn:microsoft.com/office/officeart/2005/8/layout/vList2"/>
    <dgm:cxn modelId="{A9D91C88-4D31-4404-B7DA-75895782BEA2}" type="presParOf" srcId="{FA265CEF-E1D3-4F42-BCA9-D740473397B3}" destId="{ACD9FB09-745B-43A9-A14D-18BE8D6CE92F}" srcOrd="16" destOrd="0" presId="urn:microsoft.com/office/officeart/2005/8/layout/vList2"/>
    <dgm:cxn modelId="{A6E9516F-411D-469B-872C-BDD23DAB6D82}" type="presParOf" srcId="{FA265CEF-E1D3-4F42-BCA9-D740473397B3}" destId="{FA45AC09-2E0E-40D4-8018-BE6D74560493}" srcOrd="17" destOrd="0" presId="urn:microsoft.com/office/officeart/2005/8/layout/vList2"/>
    <dgm:cxn modelId="{3487AA50-CB0C-474E-8E9F-8DA6274CBAF3}" type="presParOf" srcId="{FA265CEF-E1D3-4F42-BCA9-D740473397B3}" destId="{1B872D9D-FE3C-49B3-9DAD-AF5052A20FFE}" srcOrd="18"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F222F9-E1E1-4B7E-AEC9-7232D7D2F6C6}">
      <dsp:nvSpPr>
        <dsp:cNvPr id="0" name=""/>
        <dsp:cNvSpPr/>
      </dsp:nvSpPr>
      <dsp:spPr>
        <a:xfrm>
          <a:off x="0" y="0"/>
          <a:ext cx="8229600" cy="861120"/>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baseline="0" dirty="0">
              <a:solidFill>
                <a:schemeClr val="tx1"/>
              </a:solidFill>
              <a:latin typeface="Bookman Old Style" pitchFamily="18" charset="0"/>
            </a:rPr>
            <a:t>Outline</a:t>
          </a:r>
          <a:endParaRPr lang="en-IN" sz="2800" b="1" kern="1200" baseline="0" dirty="0">
            <a:solidFill>
              <a:schemeClr val="tx1"/>
            </a:solidFill>
            <a:latin typeface="Bookman Old Style" pitchFamily="18" charset="0"/>
          </a:endParaRPr>
        </a:p>
      </dsp:txBody>
      <dsp:txXfrm>
        <a:off x="42036" y="42036"/>
        <a:ext cx="8145528" cy="777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F73CB3-664F-4474-81B3-92D97B6E2F23}">
      <dsp:nvSpPr>
        <dsp:cNvPr id="0" name=""/>
        <dsp:cNvSpPr/>
      </dsp:nvSpPr>
      <dsp:spPr>
        <a:xfrm>
          <a:off x="0" y="48840"/>
          <a:ext cx="8229600" cy="486720"/>
        </a:xfrm>
        <a:prstGeom prst="round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solidFill>
                <a:schemeClr val="tx1"/>
              </a:solidFill>
              <a:latin typeface="Times New Roman" panose="02020603050405020304" pitchFamily="18" charset="0"/>
              <a:cs typeface="Times New Roman" panose="02020603050405020304" pitchFamily="18" charset="0"/>
            </a:rPr>
            <a:t>Abstract</a:t>
          </a:r>
        </a:p>
      </dsp:txBody>
      <dsp:txXfrm>
        <a:off x="23760" y="72600"/>
        <a:ext cx="8182080" cy="439200"/>
      </dsp:txXfrm>
    </dsp:sp>
    <dsp:sp modelId="{0C292BC2-ADFF-490F-A1D6-7FDA3C25D23C}">
      <dsp:nvSpPr>
        <dsp:cNvPr id="0" name=""/>
        <dsp:cNvSpPr/>
      </dsp:nvSpPr>
      <dsp:spPr>
        <a:xfrm>
          <a:off x="0" y="609600"/>
          <a:ext cx="8229600" cy="486720"/>
        </a:xfrm>
        <a:prstGeom prst="roundRect">
          <a:avLst/>
        </a:prstGeom>
        <a:gradFill rotWithShape="0">
          <a:gsLst>
            <a:gs pos="0">
              <a:schemeClr val="accent3">
                <a:hueOff val="-1075496"/>
                <a:satOff val="360"/>
                <a:lumOff val="-1569"/>
                <a:alphaOff val="0"/>
                <a:tint val="50000"/>
                <a:satMod val="300000"/>
              </a:schemeClr>
            </a:gs>
            <a:gs pos="35000">
              <a:schemeClr val="accent3">
                <a:hueOff val="-1075496"/>
                <a:satOff val="360"/>
                <a:lumOff val="-1569"/>
                <a:alphaOff val="0"/>
                <a:tint val="37000"/>
                <a:satMod val="300000"/>
              </a:schemeClr>
            </a:gs>
            <a:gs pos="100000">
              <a:schemeClr val="accent3">
                <a:hueOff val="-1075496"/>
                <a:satOff val="360"/>
                <a:lumOff val="-156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solidFill>
                <a:schemeClr val="tx1"/>
              </a:solidFill>
              <a:latin typeface="Times New Roman" panose="02020603050405020304" pitchFamily="18" charset="0"/>
              <a:cs typeface="Times New Roman" panose="02020603050405020304" pitchFamily="18" charset="0"/>
            </a:rPr>
            <a:t>Introduction</a:t>
          </a:r>
        </a:p>
      </dsp:txBody>
      <dsp:txXfrm>
        <a:off x="23760" y="633360"/>
        <a:ext cx="8182080" cy="439200"/>
      </dsp:txXfrm>
    </dsp:sp>
    <dsp:sp modelId="{095A8D5B-507B-49DD-9F50-21D5783DA766}">
      <dsp:nvSpPr>
        <dsp:cNvPr id="0" name=""/>
        <dsp:cNvSpPr/>
      </dsp:nvSpPr>
      <dsp:spPr>
        <a:xfrm>
          <a:off x="0" y="1172040"/>
          <a:ext cx="8229600" cy="486720"/>
        </a:xfrm>
        <a:prstGeom prst="roundRect">
          <a:avLst/>
        </a:prstGeom>
        <a:gradFill rotWithShape="0">
          <a:gsLst>
            <a:gs pos="0">
              <a:schemeClr val="accent3">
                <a:hueOff val="-2150992"/>
                <a:satOff val="720"/>
                <a:lumOff val="-3137"/>
                <a:alphaOff val="0"/>
                <a:tint val="50000"/>
                <a:satMod val="300000"/>
              </a:schemeClr>
            </a:gs>
            <a:gs pos="35000">
              <a:schemeClr val="accent3">
                <a:hueOff val="-2150992"/>
                <a:satOff val="720"/>
                <a:lumOff val="-3137"/>
                <a:alphaOff val="0"/>
                <a:tint val="37000"/>
                <a:satMod val="300000"/>
              </a:schemeClr>
            </a:gs>
            <a:gs pos="100000">
              <a:schemeClr val="accent3">
                <a:hueOff val="-2150992"/>
                <a:satOff val="720"/>
                <a:lumOff val="-313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Motivation</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1195800"/>
        <a:ext cx="8182080" cy="439200"/>
      </dsp:txXfrm>
    </dsp:sp>
    <dsp:sp modelId="{D59183E6-5BCE-4FD7-904C-1F49A18FA90A}">
      <dsp:nvSpPr>
        <dsp:cNvPr id="0" name=""/>
        <dsp:cNvSpPr/>
      </dsp:nvSpPr>
      <dsp:spPr>
        <a:xfrm>
          <a:off x="0" y="1733640"/>
          <a:ext cx="8229600" cy="486720"/>
        </a:xfrm>
        <a:prstGeom prst="roundRect">
          <a:avLst/>
        </a:prstGeom>
        <a:gradFill rotWithShape="0">
          <a:gsLst>
            <a:gs pos="0">
              <a:schemeClr val="accent3">
                <a:hueOff val="-3226488"/>
                <a:satOff val="1079"/>
                <a:lumOff val="-4706"/>
                <a:alphaOff val="0"/>
                <a:tint val="50000"/>
                <a:satMod val="300000"/>
              </a:schemeClr>
            </a:gs>
            <a:gs pos="35000">
              <a:schemeClr val="accent3">
                <a:hueOff val="-3226488"/>
                <a:satOff val="1079"/>
                <a:lumOff val="-4706"/>
                <a:alphaOff val="0"/>
                <a:tint val="37000"/>
                <a:satMod val="300000"/>
              </a:schemeClr>
            </a:gs>
            <a:gs pos="100000">
              <a:schemeClr val="accent3">
                <a:hueOff val="-3226488"/>
                <a:satOff val="1079"/>
                <a:lumOff val="-470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Objective</a:t>
          </a:r>
        </a:p>
      </dsp:txBody>
      <dsp:txXfrm>
        <a:off x="23760" y="1757400"/>
        <a:ext cx="8182080" cy="439200"/>
      </dsp:txXfrm>
    </dsp:sp>
    <dsp:sp modelId="{A38FE33E-AAC5-4E0B-8577-5ECAA37FA220}">
      <dsp:nvSpPr>
        <dsp:cNvPr id="0" name=""/>
        <dsp:cNvSpPr/>
      </dsp:nvSpPr>
      <dsp:spPr>
        <a:xfrm>
          <a:off x="0" y="2295239"/>
          <a:ext cx="8229600" cy="486720"/>
        </a:xfrm>
        <a:prstGeom prst="roundRect">
          <a:avLst/>
        </a:prstGeom>
        <a:gradFill rotWithShape="0">
          <a:gsLst>
            <a:gs pos="0">
              <a:schemeClr val="accent3">
                <a:hueOff val="-4301983"/>
                <a:satOff val="1439"/>
                <a:lumOff val="-6275"/>
                <a:alphaOff val="0"/>
                <a:tint val="50000"/>
                <a:satMod val="300000"/>
              </a:schemeClr>
            </a:gs>
            <a:gs pos="35000">
              <a:schemeClr val="accent3">
                <a:hueOff val="-4301983"/>
                <a:satOff val="1439"/>
                <a:lumOff val="-6275"/>
                <a:alphaOff val="0"/>
                <a:tint val="37000"/>
                <a:satMod val="300000"/>
              </a:schemeClr>
            </a:gs>
            <a:gs pos="100000">
              <a:schemeClr val="accent3">
                <a:hueOff val="-4301983"/>
                <a:satOff val="1439"/>
                <a:lumOff val="-627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Literature Survey</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2318999"/>
        <a:ext cx="8182080" cy="439200"/>
      </dsp:txXfrm>
    </dsp:sp>
    <dsp:sp modelId="{A96DAACA-F17E-47F0-B672-F8211FEB47AC}">
      <dsp:nvSpPr>
        <dsp:cNvPr id="0" name=""/>
        <dsp:cNvSpPr/>
      </dsp:nvSpPr>
      <dsp:spPr>
        <a:xfrm>
          <a:off x="0" y="2856839"/>
          <a:ext cx="8229600" cy="486720"/>
        </a:xfrm>
        <a:prstGeom prst="roundRect">
          <a:avLst/>
        </a:prstGeom>
        <a:gradFill rotWithShape="0">
          <a:gsLst>
            <a:gs pos="0">
              <a:schemeClr val="accent3">
                <a:hueOff val="-5377479"/>
                <a:satOff val="1799"/>
                <a:lumOff val="-7843"/>
                <a:alphaOff val="0"/>
                <a:tint val="50000"/>
                <a:satMod val="300000"/>
              </a:schemeClr>
            </a:gs>
            <a:gs pos="35000">
              <a:schemeClr val="accent3">
                <a:hueOff val="-5377479"/>
                <a:satOff val="1799"/>
                <a:lumOff val="-7843"/>
                <a:alphaOff val="0"/>
                <a:tint val="37000"/>
                <a:satMod val="300000"/>
              </a:schemeClr>
            </a:gs>
            <a:gs pos="100000">
              <a:schemeClr val="accent3">
                <a:hueOff val="-5377479"/>
                <a:satOff val="1799"/>
                <a:lumOff val="-784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Research Gap</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2880599"/>
        <a:ext cx="8182080" cy="439200"/>
      </dsp:txXfrm>
    </dsp:sp>
    <dsp:sp modelId="{6885AA65-2AA3-46B5-A084-7E7DD856A146}">
      <dsp:nvSpPr>
        <dsp:cNvPr id="0" name=""/>
        <dsp:cNvSpPr/>
      </dsp:nvSpPr>
      <dsp:spPr>
        <a:xfrm>
          <a:off x="0" y="3418439"/>
          <a:ext cx="8229600" cy="486720"/>
        </a:xfrm>
        <a:prstGeom prst="roundRect">
          <a:avLst/>
        </a:prstGeom>
        <a:gradFill rotWithShape="0">
          <a:gsLst>
            <a:gs pos="0">
              <a:schemeClr val="accent3">
                <a:hueOff val="-6452975"/>
                <a:satOff val="2159"/>
                <a:lumOff val="-9412"/>
                <a:alphaOff val="0"/>
                <a:tint val="50000"/>
                <a:satMod val="300000"/>
              </a:schemeClr>
            </a:gs>
            <a:gs pos="35000">
              <a:schemeClr val="accent3">
                <a:hueOff val="-6452975"/>
                <a:satOff val="2159"/>
                <a:lumOff val="-9412"/>
                <a:alphaOff val="0"/>
                <a:tint val="37000"/>
                <a:satMod val="300000"/>
              </a:schemeClr>
            </a:gs>
            <a:gs pos="100000">
              <a:schemeClr val="accent3">
                <a:hueOff val="-6452975"/>
                <a:satOff val="2159"/>
                <a:lumOff val="-941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Problem Statement</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3442199"/>
        <a:ext cx="8182080" cy="439200"/>
      </dsp:txXfrm>
    </dsp:sp>
    <dsp:sp modelId="{FA3189F3-6CE2-4CA8-9D73-CCF3A091FC32}">
      <dsp:nvSpPr>
        <dsp:cNvPr id="0" name=""/>
        <dsp:cNvSpPr/>
      </dsp:nvSpPr>
      <dsp:spPr>
        <a:xfrm>
          <a:off x="0" y="3980039"/>
          <a:ext cx="8229600" cy="486720"/>
        </a:xfrm>
        <a:prstGeom prst="roundRect">
          <a:avLst/>
        </a:prstGeom>
        <a:gradFill rotWithShape="0">
          <a:gsLst>
            <a:gs pos="0">
              <a:schemeClr val="accent3">
                <a:hueOff val="-7528471"/>
                <a:satOff val="2518"/>
                <a:lumOff val="-10981"/>
                <a:alphaOff val="0"/>
                <a:tint val="50000"/>
                <a:satMod val="300000"/>
              </a:schemeClr>
            </a:gs>
            <a:gs pos="35000">
              <a:schemeClr val="accent3">
                <a:hueOff val="-7528471"/>
                <a:satOff val="2518"/>
                <a:lumOff val="-10981"/>
                <a:alphaOff val="0"/>
                <a:tint val="37000"/>
                <a:satMod val="300000"/>
              </a:schemeClr>
            </a:gs>
            <a:gs pos="100000">
              <a:schemeClr val="accent3">
                <a:hueOff val="-7528471"/>
                <a:satOff val="2518"/>
                <a:lumOff val="-10981"/>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Proposed Methodology </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4003799"/>
        <a:ext cx="8182080" cy="439200"/>
      </dsp:txXfrm>
    </dsp:sp>
    <dsp:sp modelId="{ACD9FB09-745B-43A9-A14D-18BE8D6CE92F}">
      <dsp:nvSpPr>
        <dsp:cNvPr id="0" name=""/>
        <dsp:cNvSpPr/>
      </dsp:nvSpPr>
      <dsp:spPr>
        <a:xfrm>
          <a:off x="0" y="4541639"/>
          <a:ext cx="8229600" cy="486720"/>
        </a:xfrm>
        <a:prstGeom prst="roundRect">
          <a:avLst/>
        </a:prstGeom>
        <a:gradFill rotWithShape="0">
          <a:gsLst>
            <a:gs pos="0">
              <a:schemeClr val="accent3">
                <a:hueOff val="-8603967"/>
                <a:satOff val="2878"/>
                <a:lumOff val="-12549"/>
                <a:alphaOff val="0"/>
                <a:tint val="50000"/>
                <a:satMod val="300000"/>
              </a:schemeClr>
            </a:gs>
            <a:gs pos="35000">
              <a:schemeClr val="accent3">
                <a:hueOff val="-8603967"/>
                <a:satOff val="2878"/>
                <a:lumOff val="-12549"/>
                <a:alphaOff val="0"/>
                <a:tint val="37000"/>
                <a:satMod val="300000"/>
              </a:schemeClr>
            </a:gs>
            <a:gs pos="100000">
              <a:schemeClr val="accent3">
                <a:hueOff val="-8603967"/>
                <a:satOff val="2878"/>
                <a:lumOff val="-1254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b="0" strike="noStrike" kern="1200" baseline="0" dirty="0">
              <a:latin typeface="Times New Roman" panose="02020603050405020304" pitchFamily="18" charset="0"/>
              <a:cs typeface="Times New Roman" panose="02020603050405020304" pitchFamily="18" charset="0"/>
            </a:rPr>
            <a:t>Result and Discussion on Outcome (Research Paper and Deliverables)</a:t>
          </a:r>
        </a:p>
      </dsp:txBody>
      <dsp:txXfrm>
        <a:off x="23760" y="4565399"/>
        <a:ext cx="8182080" cy="439200"/>
      </dsp:txXfrm>
    </dsp:sp>
    <dsp:sp modelId="{1B872D9D-FE3C-49B3-9DAD-AF5052A20FFE}">
      <dsp:nvSpPr>
        <dsp:cNvPr id="0" name=""/>
        <dsp:cNvSpPr/>
      </dsp:nvSpPr>
      <dsp:spPr>
        <a:xfrm>
          <a:off x="0" y="5103240"/>
          <a:ext cx="8229600" cy="486720"/>
        </a:xfrm>
        <a:prstGeom prst="roundRect">
          <a:avLst/>
        </a:prstGeom>
        <a:gradFill rotWithShape="0">
          <a:gsLst>
            <a:gs pos="0">
              <a:schemeClr val="accent3">
                <a:hueOff val="-9679462"/>
                <a:satOff val="3238"/>
                <a:lumOff val="-14118"/>
                <a:alphaOff val="0"/>
                <a:tint val="50000"/>
                <a:satMod val="300000"/>
              </a:schemeClr>
            </a:gs>
            <a:gs pos="35000">
              <a:schemeClr val="accent3">
                <a:hueOff val="-9679462"/>
                <a:satOff val="3238"/>
                <a:lumOff val="-14118"/>
                <a:alphaOff val="0"/>
                <a:tint val="37000"/>
                <a:satMod val="300000"/>
              </a:schemeClr>
            </a:gs>
            <a:gs pos="100000">
              <a:schemeClr val="accent3">
                <a:hueOff val="-9679462"/>
                <a:satOff val="3238"/>
                <a:lumOff val="-1411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Bookman Old Style" panose="02050604050505020204" pitchFamily="18" charset="0"/>
            </a:rPr>
            <a:t>References</a:t>
          </a:r>
          <a:endParaRPr lang="en-IN" sz="1600" b="0" strike="noStrike" kern="1200" baseline="0" dirty="0">
            <a:latin typeface="Times New Roman" panose="02020603050405020304" pitchFamily="18" charset="0"/>
            <a:cs typeface="Times New Roman" panose="02020603050405020304" pitchFamily="18" charset="0"/>
          </a:endParaRPr>
        </a:p>
      </dsp:txBody>
      <dsp:txXfrm>
        <a:off x="23760" y="5127000"/>
        <a:ext cx="8182080" cy="4392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820"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D592F5-36E2-49C4-AC5A-04F2CF94D6D4}" type="datetimeFigureOut">
              <a:rPr lang="en-US" smtClean="0"/>
              <a:pPr/>
              <a:t>10/1/2026</a:t>
            </a:fld>
            <a:endParaRPr lang="en-US"/>
          </a:p>
        </p:txBody>
      </p:sp>
      <p:sp>
        <p:nvSpPr>
          <p:cNvPr id="1048821"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822"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824"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09CA17-6F94-48C9-A51D-7CB0D00B15D3}" type="slidenum">
              <a:rPr lang="en-US" smtClean="0"/>
              <a:pPr/>
              <a:t>‹#›</a:t>
            </a:fld>
            <a:endParaRPr lang="en-US"/>
          </a:p>
        </p:txBody>
      </p:sp>
    </p:spTree>
    <p:extLst>
      <p:ext uri="{BB962C8B-B14F-4D97-AF65-F5344CB8AC3E}">
        <p14:creationId xmlns:p14="http://schemas.microsoft.com/office/powerpoint/2010/main" val="3108571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Good morning. I am Saket Sharma, presenting my Project Based Learning work, RefurbIQ, which analyses sentiment in refurbished electronics reviews at aspect level across five Indian marketplaces. Registration number, course code, guide names and date are visible placeholders to be filled before submission.</a:t>
            </a:r>
          </a:p>
        </p:txBody>
      </p:sp>
    </p:spTree>
    <p:extLst>
      <p:ext uri="{BB962C8B-B14F-4D97-AF65-F5344CB8AC3E}">
        <p14:creationId xmlns:p14="http://schemas.microsoft.com/office/powerpoint/2010/main" val="2569003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Slide Image Placeholder 1"/>
          <p:cNvSpPr>
            <a:spLocks noGrp="1" noRot="1" noChangeAspect="1"/>
          </p:cNvSpPr>
          <p:nvPr>
            <p:ph type="sldImg"/>
          </p:nvPr>
        </p:nvSpPr>
        <p:spPr/>
      </p:sp>
      <p:sp>
        <p:nvSpPr>
          <p:cNvPr id="1048594" name="Notes Placeholder 2"/>
          <p:cNvSpPr>
            <a:spLocks noGrp="1"/>
          </p:cNvSpPr>
          <p:nvPr>
            <p:ph type="body" idx="1"/>
          </p:nvPr>
        </p:nvSpPr>
        <p:spPr/>
        <p:txBody>
          <a:bodyPr>
            <a:normAutofit/>
          </a:bodyPr>
          <a:lstStyle/>
          <a:p>
            <a:r>
              <a:t>The talk follows this outline: abstract and introduction, then motivation, objective and literature survey, the research gap and problem statement, methodology, results and discussion, and the outcome.</a:t>
            </a:r>
          </a:p>
        </p:txBody>
      </p:sp>
      <p:sp>
        <p:nvSpPr>
          <p:cNvPr id="1048595"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D25A-8417-4FAA-8603-F6EFFE7FCD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1086939"/>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RefurbIQ reads reviews at aspect level instead of one overall rating, compares five Indian platforms, and benchmarks four models on the same split. The corpus is a clearly labelled synthetic demo of 2,000 reviews used to validate the full pipeline before real marketplace reviews are collected.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Refurbished devices are cheaper, but buyers cannot verify battery health, condition or authenticity before paying. Star ratings hide the cause of dissatisfaction, which is why we use aspect-based sentiment analysis and compare classical TF-IDF models with BERT.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motivations: buyer uncertainty, single-label ratings hiding the cause, unknown platform differences, and very little prior work on Indian refurbished reviews.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an aspect taxonomy, a cross-platform comparison, a fair model comparison and actionable insights. The hypotheses H1 to H4 are stated up front and tested - never assumed as findings.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covers eWOM, sentiment analysis, ABSA, classical machine learning and transformers, using only the nine references listed at the end. To our knowledge no study targets Indian refurbished marketplaces at aspect level.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gaps: granularity, domain, platforms, method and evaluation. Each one is addressed directly by this project's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mixed reviews, different platform models and class imbalance. Scope is India, five platforms, three categories, nine aspects and three labels.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stages from review collection to platform comparison. The split is fixed at seed 42, so every model is trained and tested on exactly the same partitions.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corpus has 2,000 reviews and 3,548 aspect annotations, generated after verifying that the five platforms do not expose scrapeable reviews. Every data value in this deck is computed from this labelled corpus - nothing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Cleaning keeps negation and contrast markers because they decide aspect polarity. Aspect tagging produces one annotation per mention with its evidence phrase, and the split is review-level to prevent leakage between partitions.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classical models use TF-IDF features; DistilBERT is fine-tuned with a three-class head. All models train on the training partition only and are evaluated once on the same held-out test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is highest on this demo data at 90.69% accuracy and fine-tuned BERT is second at 89.57%. Neutral recall is the weakest point for every model, which matches the injected ambiguity. Results characterize the pipeline on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Returns and refunds and trust show the highest negative shares in the demo data, and OLX is weakest on seller service. These patterns will be re-checked once real platform reviews are collected. The metric table explains how results are 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is a paper draft in progress plus four deliverables: the labelled dataset, reproducible code, the aspect taxonomy and the model comparison. The planned venue is not finalised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nine references are the only sources cited. They cover eWOM, sentiment analysis, ABSA shared tasks, classical mining methods and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research pipeline end to end. Step 1 was an honest verification pass: none of the five platforms exposes a structured public review corpus, so the modelling corpus is a clearly labelled synthetic demonstration dataset. The pipeline is separately validated on 2,000 real Amazon reviews, agreeing with human star ratings in 75.6% of annotations.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open source. Streamlit serves the eight-tab interface; Hugging Face transformers provide zero-shot RoBERTa and fine-tuned DistilBERT sentiment; scikit-learn and XGBoost give the TF-IDF baselines; pandas and matplotlib handle data and visualisation. Model weights stay local in models/ and are git-ignored.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takes an uploaded review CSV (or the bundled demo corpus), cleans it, extracts aspects through the 13-aspect keyword vocabulary, runs whole-review sentiment, and produces the ABSA results table. That feeds two branches: the analytics dashboard and the recommendation engine, which powers Compare Platforms, Best Place to Buy and Explain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overall score is a weighted sum of six transparent sub-scores: sentiment 0.25, product quality 0.25, service 0.15, value 0.15, trust 0.10 and return/refund 0.10. A confidence gate requires at least 20 reviews before any recommendation is made, and HIGH confidence additionally needs 50+ reviews with consistent sentiment.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803"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804"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805"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06" name="Footer Placeholder 4"/>
          <p:cNvSpPr>
            <a:spLocks noGrp="1"/>
          </p:cNvSpPr>
          <p:nvPr>
            <p:ph type="ftr" sz="quarter" idx="11"/>
          </p:nvPr>
        </p:nvSpPr>
        <p:spPr/>
        <p:txBody>
          <a:bodyPr/>
          <a:lstStyle/>
          <a:p>
            <a:endParaRPr lang="en-US"/>
          </a:p>
        </p:txBody>
      </p:sp>
      <p:sp>
        <p:nvSpPr>
          <p:cNvPr id="1048807"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t>Click to edit Master title style</a:t>
            </a:r>
          </a:p>
        </p:txBody>
      </p:sp>
      <p:sp>
        <p:nvSpPr>
          <p:cNvPr id="1048589"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6"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7"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8"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89" name="Footer Placeholder 4"/>
          <p:cNvSpPr>
            <a:spLocks noGrp="1"/>
          </p:cNvSpPr>
          <p:nvPr>
            <p:ph type="ftr" sz="quarter" idx="11"/>
          </p:nvPr>
        </p:nvSpPr>
        <p:spPr/>
        <p:txBody>
          <a:bodyPr/>
          <a:lstStyle/>
          <a:p>
            <a:endParaRPr lang="en-US"/>
          </a:p>
        </p:txBody>
      </p:sp>
      <p:sp>
        <p:nvSpPr>
          <p:cNvPr id="1048790"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97" name="Title 1"/>
          <p:cNvSpPr>
            <a:spLocks noGrp="1"/>
          </p:cNvSpPr>
          <p:nvPr>
            <p:ph type="title"/>
          </p:nvPr>
        </p:nvSpPr>
        <p:spPr/>
        <p:txBody>
          <a:bodyPr/>
          <a:lstStyle/>
          <a:p>
            <a:r>
              <a:rPr lang="en-US"/>
              <a:t>Click to edit Master title style</a:t>
            </a:r>
          </a:p>
        </p:txBody>
      </p:sp>
      <p:sp>
        <p:nvSpPr>
          <p:cNvPr id="1048798"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9"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0"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01" name="Footer Placeholder 5"/>
          <p:cNvSpPr>
            <a:spLocks noGrp="1"/>
          </p:cNvSpPr>
          <p:nvPr>
            <p:ph type="ftr" sz="quarter" idx="11"/>
          </p:nvPr>
        </p:nvSpPr>
        <p:spPr/>
        <p:txBody>
          <a:bodyPr/>
          <a:lstStyle/>
          <a:p>
            <a:endParaRPr lang="en-US"/>
          </a:p>
        </p:txBody>
      </p:sp>
      <p:sp>
        <p:nvSpPr>
          <p:cNvPr id="1048802"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73" name="Title 1"/>
          <p:cNvSpPr>
            <a:spLocks noGrp="1"/>
          </p:cNvSpPr>
          <p:nvPr>
            <p:ph type="title"/>
          </p:nvPr>
        </p:nvSpPr>
        <p:spPr/>
        <p:txBody>
          <a:bodyPr/>
          <a:lstStyle/>
          <a:p>
            <a:r>
              <a:rPr lang="en-US"/>
              <a:t>Click to edit Master title style</a:t>
            </a:r>
          </a:p>
        </p:txBody>
      </p:sp>
      <p:sp>
        <p:nvSpPr>
          <p:cNvPr id="104877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8" name="Date Placeholder 6"/>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79" name="Footer Placeholder 7"/>
          <p:cNvSpPr>
            <a:spLocks noGrp="1"/>
          </p:cNvSpPr>
          <p:nvPr>
            <p:ph type="ftr" sz="quarter" idx="11"/>
          </p:nvPr>
        </p:nvSpPr>
        <p:spPr/>
        <p:txBody>
          <a:bodyPr/>
          <a:lstStyle/>
          <a:p>
            <a:endParaRPr lang="en-US"/>
          </a:p>
        </p:txBody>
      </p:sp>
      <p:sp>
        <p:nvSpPr>
          <p:cNvPr id="1048780" name="Slide Number Placeholder 8"/>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Date Placeholder 2"/>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583" name="Footer Placeholder 3"/>
          <p:cNvSpPr>
            <a:spLocks noGrp="1"/>
          </p:cNvSpPr>
          <p:nvPr>
            <p:ph type="ftr" sz="quarter" idx="11"/>
          </p:nvPr>
        </p:nvSpPr>
        <p:spPr/>
        <p:txBody>
          <a:bodyPr/>
          <a:lstStyle/>
          <a:p>
            <a:endParaRPr lang="en-US"/>
          </a:p>
        </p:txBody>
      </p:sp>
      <p:sp>
        <p:nvSpPr>
          <p:cNvPr id="1048584" name="Slide Number Placeholder 4"/>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6" name="Date Placeholder 1"/>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07" name="Footer Placeholder 2"/>
          <p:cNvSpPr>
            <a:spLocks noGrp="1"/>
          </p:cNvSpPr>
          <p:nvPr>
            <p:ph type="ftr" sz="quarter" idx="11"/>
          </p:nvPr>
        </p:nvSpPr>
        <p:spPr/>
        <p:txBody>
          <a:bodyPr/>
          <a:lstStyle/>
          <a:p>
            <a:endParaRPr lang="en-US"/>
          </a:p>
        </p:txBody>
      </p:sp>
      <p:sp>
        <p:nvSpPr>
          <p:cNvPr id="1048708" name="Slide Number Placeholder 3"/>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1"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9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94"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95" name="Footer Placeholder 5"/>
          <p:cNvSpPr>
            <a:spLocks noGrp="1"/>
          </p:cNvSpPr>
          <p:nvPr>
            <p:ph type="ftr" sz="quarter" idx="11"/>
          </p:nvPr>
        </p:nvSpPr>
        <p:spPr/>
        <p:txBody>
          <a:bodyPr/>
          <a:lstStyle/>
          <a:p>
            <a:endParaRPr lang="en-US"/>
          </a:p>
        </p:txBody>
      </p:sp>
      <p:sp>
        <p:nvSpPr>
          <p:cNvPr id="1048796"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80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80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1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811" name="Date Placeholder 4"/>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12" name="Footer Placeholder 5"/>
          <p:cNvSpPr>
            <a:spLocks noGrp="1"/>
          </p:cNvSpPr>
          <p:nvPr>
            <p:ph type="ftr" sz="quarter" idx="11"/>
          </p:nvPr>
        </p:nvSpPr>
        <p:spPr/>
        <p:txBody>
          <a:bodyPr/>
          <a:lstStyle/>
          <a:p>
            <a:endParaRPr lang="en-US"/>
          </a:p>
        </p:txBody>
      </p:sp>
      <p:sp>
        <p:nvSpPr>
          <p:cNvPr id="1048813" name="Slide Number Placeholder 6"/>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814" name="Title 1"/>
          <p:cNvSpPr>
            <a:spLocks noGrp="1"/>
          </p:cNvSpPr>
          <p:nvPr>
            <p:ph type="title"/>
          </p:nvPr>
        </p:nvSpPr>
        <p:spPr/>
        <p:txBody>
          <a:bodyPr/>
          <a:lstStyle/>
          <a:p>
            <a:r>
              <a:rPr lang="en-US"/>
              <a:t>Click to edit Master title style</a:t>
            </a:r>
          </a:p>
        </p:txBody>
      </p:sp>
      <p:sp>
        <p:nvSpPr>
          <p:cNvPr id="104881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6"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817" name="Footer Placeholder 4"/>
          <p:cNvSpPr>
            <a:spLocks noGrp="1"/>
          </p:cNvSpPr>
          <p:nvPr>
            <p:ph type="ftr" sz="quarter" idx="11"/>
          </p:nvPr>
        </p:nvSpPr>
        <p:spPr/>
        <p:txBody>
          <a:bodyPr/>
          <a:lstStyle/>
          <a:p>
            <a:endParaRPr lang="en-US"/>
          </a:p>
        </p:txBody>
      </p:sp>
      <p:sp>
        <p:nvSpPr>
          <p:cNvPr id="1048818"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81"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82"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3" name="Date Placeholder 3"/>
          <p:cNvSpPr>
            <a:spLocks noGrp="1"/>
          </p:cNvSpPr>
          <p:nvPr>
            <p:ph type="dt" sz="half" idx="10"/>
          </p:nvPr>
        </p:nvSpPr>
        <p:spPr/>
        <p:txBody>
          <a:bodyPr/>
          <a:lstStyle/>
          <a:p>
            <a:fld id="{41C59881-54BE-46AD-B095-242DAEA9C01C}" type="datetimeFigureOut">
              <a:rPr lang="en-US" smtClean="0"/>
              <a:pPr/>
              <a:t>10/1/2026</a:t>
            </a:fld>
            <a:endParaRPr lang="en-US"/>
          </a:p>
        </p:txBody>
      </p:sp>
      <p:sp>
        <p:nvSpPr>
          <p:cNvPr id="1048784" name="Footer Placeholder 4"/>
          <p:cNvSpPr>
            <a:spLocks noGrp="1"/>
          </p:cNvSpPr>
          <p:nvPr>
            <p:ph type="ftr" sz="quarter" idx="11"/>
          </p:nvPr>
        </p:nvSpPr>
        <p:spPr/>
        <p:txBody>
          <a:bodyPr/>
          <a:lstStyle/>
          <a:p>
            <a:endParaRPr lang="en-US"/>
          </a:p>
        </p:txBody>
      </p:sp>
      <p:sp>
        <p:nvSpPr>
          <p:cNvPr id="1048785" name="Slide Number Placeholder 5"/>
          <p:cNvSpPr>
            <a:spLocks noGrp="1"/>
          </p:cNvSpPr>
          <p:nvPr>
            <p:ph type="sldNum" sz="quarter" idx="12"/>
          </p:nvPr>
        </p:nvSpPr>
        <p:spPr/>
        <p:txBody>
          <a:bodyPr/>
          <a:lstStyle/>
          <a:p>
            <a:fld id="{D0D3D9D9-2323-4B14-959B-DD5C508B8A7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C59881-54BE-46AD-B095-242DAEA9C01C}" type="datetimeFigureOut">
              <a:rPr lang="en-US" smtClean="0"/>
              <a:pPr/>
              <a:t>10/1/2026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3D9D9-2323-4B14-959B-DD5C508B8A7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diagramData" Target="../diagrams/data2.xml"/><Relationship Id="rId10" Type="http://schemas.openxmlformats.org/officeDocument/2006/relationships/diagramLayout" Target="../diagrams/layout2.xml"/><Relationship Id="rId11" Type="http://schemas.openxmlformats.org/officeDocument/2006/relationships/diagramQuickStyle" Target="../diagrams/quickStyle2.xml"/><Relationship Id="rId12" Type="http://schemas.openxmlformats.org/officeDocument/2006/relationships/diagramColors" Target="../diagrams/colors2.xml"/><Relationship Id="rId13" Type="http://schemas.microsoft.com/office/2007/relationships/diagramDrawing" Target="../diagrams/drawin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chart" Target="../charts/chart1.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chart" Target="../charts/chart2.xml"/><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notesSlide" Target="../notesSlides/notesSlide15.xml"/><Relationship Id="rId90"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050" name="Title 1"/>
          <p:cNvSpPr>
            <a:spLocks noGrp="1"/>
          </p:cNvSpPr>
          <p:nvPr>
            <p:ph type="title"/>
          </p:nvPr>
        </p:nvSpPr>
        <p:spPr/>
        <p:txBody>
          <a:bodyPr>
            <a:normAutofit fontScale="90000"/>
          </a:bodyPr>
          <a:lstStyle/>
          <a:p>
            <a:pPr algn="ctr"/>
            <a:r>
              <a:rPr lang="en-US" sz="3100" b="1" dirty="0">
                <a:latin typeface="Times New Roman" pitchFamily="18" charset="0"/>
                <a:cs typeface="Times New Roman" pitchFamily="18" charset="0"/>
              </a:rPr>
              <a:t>Manipal University Jaipur</a:t>
            </a:r>
          </a:p>
          <a:p>
            <a:pPr algn="ctr"/>
            <a:r>
              <a:rPr lang="en-US" sz="3100" b="1" dirty="0">
                <a:latin typeface="Times New Roman" pitchFamily="18" charset="0"/>
                <a:cs typeface="Times New Roman" pitchFamily="18" charset="0"/>
              </a:rPr>
              <a:t>School of Computer Science and Engineering</a:t>
            </a:r>
          </a:p>
          <a:p>
            <a:pPr algn="ctr"/>
            <a:r>
              <a:rPr lang="en-US" sz="3100" b="1" dirty="0">
                <a:latin typeface="Times New Roman" pitchFamily="18" charset="0"/>
                <a:cs typeface="Times New Roman" pitchFamily="18" charset="0"/>
              </a:rPr>
              <a:t>Department of Data Science and Engineering</a:t>
            </a:r>
          </a:p>
        </p:txBody>
      </p:sp>
      <p:sp>
        <p:nvSpPr>
          <p:cNvPr id="2052" name="Rectangle 4"/>
          <p:cNvSpPr>
            <a:spLocks noChangeArrowheads="1"/>
          </p:cNvSpPr>
          <p:nvPr/>
        </p:nvSpPr>
        <p:spPr bwMode="auto">
          <a:xfrm>
            <a:off x="-10886" y="2871216"/>
            <a:ext cx="9144000" cy="640080"/>
          </a:xfrm>
          <a:prstGeom prst="rect">
            <a:avLst/>
          </a:prstGeom>
          <a:noFill/>
          <a:ln w="9525">
            <a:noFill/>
            <a:miter lim="800000"/>
            <a:headEnd/>
            <a:tailEnd/>
          </a:ln>
        </p:spPr>
        <p:txBody>
          <a:bodyPr wrap="square">
            <a:spAutoFit/>
          </a:bodyPr>
          <a:lstStyle/>
          <a:p>
            <a:pPr marL="447675" indent="-447675" algn="ctr">
              <a:spcBef>
                <a:spcPct val="20000"/>
              </a:spcBef>
              <a:buClr>
                <a:schemeClr val="accent1"/>
              </a:buClr>
              <a:buFont typeface="Wingdings" pitchFamily="2" charset="2"/>
              <a:buNone/>
            </a:pPr>
            <a:r>
              <a:rPr lang="en-US" b="1" dirty="0">
                <a:solidFill>
                  <a:schemeClr val="tx2">
                    <a:lumMod val="50000"/>
                  </a:schemeClr>
                </a:solidFill>
                <a:latin typeface="Bookman Old Style" pitchFamily="18" charset="0"/>
              </a:rPr>
              <a:t>DSE2270 Project Based Learning Presentation</a:t>
            </a:r>
          </a:p>
          <a:p>
            <a:pPr marL="447675" indent="-447675" algn="ctr">
              <a:spcBef>
                <a:spcPct val="20000"/>
              </a:spcBef>
              <a:buClr>
                <a:schemeClr val="accent1"/>
              </a:buClr>
              <a:buFont typeface="Wingdings" pitchFamily="2" charset="2"/>
              <a:buNone/>
            </a:pPr>
            <a:r>
              <a:rPr lang="en-US" b="1" dirty="0">
                <a:solidFill>
                  <a:schemeClr val="tx2">
                    <a:lumMod val="50000"/>
                  </a:schemeClr>
                </a:solidFill>
                <a:latin typeface="Bookman Old Style" pitchFamily="18" charset="0"/>
              </a:rPr>
              <a:t>On</a:t>
            </a:r>
          </a:p>
        </p:txBody>
      </p:sp>
      <p:sp>
        <p:nvSpPr>
          <p:cNvPr id="9" name="Rectangle 8"/>
          <p:cNvSpPr/>
          <p:nvPr/>
        </p:nvSpPr>
        <p:spPr>
          <a:xfrm>
            <a:off x="-10886" y="3639312"/>
            <a:ext cx="9144000" cy="713232"/>
          </a:xfrm>
          <a:prstGeom prst="rect">
            <a:avLst/>
          </a:prstGeom>
        </p:spPr>
        <p:txBody>
          <a:bodyPr wrap="square">
            <a:spAutoFit/>
          </a:bodyPr>
          <a:lstStyle/>
          <a:p>
            <a:pPr algn="ctr"/>
            <a:r>
              <a:rPr lang="en-IN" sz="1400" b="1" dirty="0" i="0">
                <a:solidFill>
                  <a:schemeClr val="tx2">
                    <a:lumMod val="50000"/>
                  </a:schemeClr>
                </a:solidFill>
                <a:latin typeface="Bookman Old Style" pitchFamily="18" charset="0"/>
              </a:rPr>
              <a:t>RefurbIQ: Aspect-Based Sentiment Analysis of Refurbished Electronics Across Indian Marketplaces</a:t>
            </a:r>
          </a:p>
          <a:p>
            <a:pPr algn="ctr"/>
            <a:r>
              <a:rPr lang="en-IN" sz="1100" b="0" dirty="0" i="1">
                <a:solidFill>
                  <a:schemeClr val="tx2">
                    <a:lumMod val="50000"/>
                  </a:schemeClr>
                </a:solidFill>
                <a:latin typeface="Bookman Old Style" pitchFamily="18" charset="0"/>
              </a:rPr>
              <a:t>A Comparative Evaluation of Traditional Machine Learning and BERT</a:t>
            </a:r>
          </a:p>
        </p:txBody>
      </p:sp>
      <p:graphicFrame>
        <p:nvGraphicFramePr>
          <p:cNvPr id="2" name="Table 1">
            <a:extLst>
              <a:ext uri="{FF2B5EF4-FFF2-40B4-BE49-F238E27FC236}">
                <a16:creationId xmlns:a16="http://schemas.microsoft.com/office/drawing/2014/main" id="{CD526A3A-00DA-DCF0-32C3-5C2F4C3AC757}"/>
              </a:ext>
            </a:extLst>
          </p:cNvPr>
          <p:cNvGraphicFramePr>
            <a:graphicFrameLocks noGrp="1"/>
          </p:cNvGraphicFramePr>
          <p:nvPr>
            <p:extLst>
              <p:ext uri="{D42A27DB-BD31-4B8C-83A1-F6EECF244321}">
                <p14:modId xmlns:p14="http://schemas.microsoft.com/office/powerpoint/2010/main" val="3046051251"/>
              </p:ext>
            </p:extLst>
          </p:nvPr>
        </p:nvGraphicFramePr>
        <p:xfrm>
          <a:off x="307975" y="4650000"/>
          <a:ext cx="8607425" cy="1380578"/>
        </p:xfrm>
        <a:graphic>
          <a:graphicData uri="http://schemas.openxmlformats.org/drawingml/2006/table">
            <a:tbl>
              <a:tblPr firstRow="1" bandRow="1">
                <a:tableStyleId>{2D5ABB26-0587-4C30-8999-92F81FD0307C}</a:tableStyleId>
              </a:tblPr>
              <a:tblGrid>
                <a:gridCol w="3900000">
                  <a:extLst>
                    <a:ext uri="{9D8B030D-6E8A-4147-A177-3AD203B41FA5}">
                      <a16:colId xmlns:a16="http://schemas.microsoft.com/office/drawing/2014/main" val="20000"/>
                    </a:ext>
                  </a:extLst>
                </a:gridCol>
                <a:gridCol w="807425">
                  <a:extLst>
                    <a:ext uri="{9D8B030D-6E8A-4147-A177-3AD203B41FA5}">
                      <a16:colId xmlns:a16="http://schemas.microsoft.com/office/drawing/2014/main" val="20001"/>
                    </a:ext>
                  </a:extLst>
                </a:gridCol>
                <a:gridCol w="3900000">
                  <a:extLst>
                    <a:ext uri="{9D8B030D-6E8A-4147-A177-3AD203B41FA5}">
                      <a16:colId xmlns:a16="http://schemas.microsoft.com/office/drawing/2014/main" val="20002"/>
                    </a:ext>
                  </a:extLst>
                </a:gridCol>
              </a:tblGrid>
              <a:tr h="1380578">
                <a:tc>
                  <a:txBody>
                    <a:bodyPr/>
                    <a:lstStyle/>
                    <a:p>
                      <a:pPr algn="ctr"/>
                      <a:r>
                        <a:rPr lang="en-US" sz="1600" b="1" i="0" dirty="0">
                          <a:solidFill>
                            <a:srgbClr val="1F3864"/>
                          </a:solidFill>
                          <a:latin typeface="Times New Roman"/>
                          <a:cs typeface="Times New Roman"/>
                        </a:rPr>
                        <a:t>Presented by</a:t>
                      </a:r>
                    </a:p>
                    <a:p>
                      <a:pPr algn="ctr"/>
                      <a:r>
                        <a:rPr lang="en-US" sz="1800" b="1" i="0" dirty="0">
                          <a:solidFill>
                            <a:srgbClr val="000000"/>
                          </a:solidFill>
                          <a:latin typeface="Times New Roman"/>
                          <a:cs typeface="Times New Roman"/>
                        </a:rPr>
                        <a:t>Saket Sharma (2430010408)</a:t>
                      </a:r>
                    </a:p>
                  </a:txBody>
                  <a:tcPr/>
                </a:tc>
                <a:tc>
                  <a:txBody>
                    <a:bodyPr/>
                    <a:lstStyle/>
                    <a:p>
                      <a:pPr algn="r"/>
                      <a:endParaRPr lang="en-US" sz="1800" b="0" i="0" kern="1200" dirty="0">
                        <a:solidFill>
                          <a:schemeClr val="tx1"/>
                        </a:solidFill>
                        <a:latin typeface="Times New Roman" pitchFamily="18" charset="0"/>
                        <a:ea typeface="+mn-ea"/>
                        <a:cs typeface="Times New Roman" pitchFamily="18" charset="0"/>
                      </a:endParaRPr>
                    </a:p>
                  </a:txBody>
                  <a:tcPr/>
                </a:tc>
                <a:tc>
                  <a:txBody>
                    <a:bodyPr/>
                    <a:lstStyle/>
                    <a:p>
                      <a:pPr algn="ctr"/>
                      <a:r>
                        <a:rPr lang="en-US" sz="1600" b="1" i="0" dirty="0">
                          <a:solidFill>
                            <a:srgbClr val="1F3864"/>
                          </a:solidFill>
                          <a:latin typeface="Times New Roman"/>
                          <a:cs typeface="Times New Roman"/>
                        </a:rPr>
                        <a:t>Under the Guidance of</a:t>
                      </a:r>
                    </a:p>
                    <a:p>
                      <a:pPr algn="ctr"/>
                      <a:r>
                        <a:rPr lang="en-US" sz="1800" b="1" i="0" dirty="0">
                          <a:solidFill>
                            <a:srgbClr val="000000"/>
                          </a:solidFill>
                          <a:latin typeface="Times New Roman"/>
                          <a:cs typeface="Times New Roman"/>
                        </a:rPr>
                        <a:t>Dr Ashish Pandey</a:t>
                      </a:r>
                    </a:p>
                  </a:txBody>
                  <a:tcPr/>
                </a:tc>
                <a:extLst>
                  <a:ext uri="{0D108BD9-81ED-4DB2-BD59-A6C34878D82A}">
                    <a16:rowId xmlns:a16="http://schemas.microsoft.com/office/drawing/2014/main" val="10000"/>
                  </a:ext>
                </a:extLst>
              </a:tr>
            </a:tbl>
          </a:graphicData>
        </a:graphic>
      </p:graphicFrame>
      <p:pic>
        <p:nvPicPr>
          <p:cNvPr id="4" name="Picture 3" descr="Manipal University Jaipur logo">
            <a:extLst>
              <a:ext uri="{FF2B5EF4-FFF2-40B4-BE49-F238E27FC236}">
                <a16:creationId xmlns:a16="http://schemas.microsoft.com/office/drawing/2014/main" id="{1814AFFA-6FB5-C0B9-7906-293F469DFB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7640" y="1463040"/>
            <a:ext cx="1188720" cy="1188720"/>
          </a:xfrm>
          <a:prstGeom prst="rect">
            <a:avLst/>
          </a:prstGeom>
        </p:spPr>
      </p:pic>
      <p:sp>
        <p:nvSpPr>
          <p:cNvPr id="5" name="Date Placeholder 4">
            <a:extLst>
              <a:ext uri="{FF2B5EF4-FFF2-40B4-BE49-F238E27FC236}">
                <a16:creationId xmlns:a16="http://schemas.microsoft.com/office/drawing/2014/main" id="{BDB6C62C-60CE-4889-8CA7-1827D66F6091}"/>
              </a:ext>
            </a:extLst>
          </p:cNvPr>
          <p:cNvSpPr>
            <a:spLocks noGrp="1"/>
          </p:cNvSpPr>
          <p:nvPr>
            <p:ph type="dt" sz="half" idx="10"/>
          </p:nvPr>
        </p:nvSpPr>
        <p:spPr/>
        <p:txBody>
          <a:bodyPr/>
          <a:lstStyle/>
          <a:p>
            <a:r>
              <a:rPr lang="en-IN"/>
              <a:t>14/10/2005</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extLst>
      <p:ext uri="{BB962C8B-B14F-4D97-AF65-F5344CB8AC3E}">
        <p14:creationId xmlns:p14="http://schemas.microsoft.com/office/powerpoint/2010/main" val="405326414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graphicFrame>
        <p:nvGraphicFramePr>
          <p:cNvPr id="4194305" name="Diagram 4"/>
          <p:cNvGraphicFramePr>
            <a:graphicFrameLocks/>
          </p:cNvGraphicFramePr>
          <p:nvPr>
            <p:extLst>
              <p:ext uri="{D42A27DB-BD31-4B8C-83A1-F6EECF244321}">
                <p14:modId xmlns:p14="http://schemas.microsoft.com/office/powerpoint/2010/main" val="4157367672"/>
              </p:ext>
            </p:extLst>
          </p:nvPr>
        </p:nvGraphicFramePr>
        <p:xfrm>
          <a:off x="446314" y="122238"/>
          <a:ext cx="8229600" cy="8683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194306" name="Content Placeholder 3"/>
          <p:cNvGraphicFramePr>
            <a:graphicFrameLocks noGrp="1"/>
          </p:cNvGraphicFramePr>
          <p:nvPr>
            <p:ph idx="1"/>
            <p:extLst>
              <p:ext uri="{D42A27DB-BD31-4B8C-83A1-F6EECF244321}">
                <p14:modId xmlns:p14="http://schemas.microsoft.com/office/powerpoint/2010/main" val="1040866723"/>
              </p:ext>
            </p:extLst>
          </p:nvPr>
        </p:nvGraphicFramePr>
        <p:xfrm>
          <a:off x="457200" y="990600"/>
          <a:ext cx="8229600" cy="56388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Abstract</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Abstract card"/>
          <p:cNvSpPr/>
          <p:nvPr/>
        </p:nvSpPr>
        <p:spPr>
          <a:xfrm>
            <a:off x="365760" y="1234440"/>
            <a:ext cx="53949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bstract points"/>
          <p:cNvSpPr txBox="1"/>
          <p:nvPr/>
        </p:nvSpPr>
        <p:spPr>
          <a:xfrm>
            <a:off x="594360" y="1417320"/>
            <a:ext cx="4937760" cy="3931920"/>
          </a:xfrm>
          <a:prstGeom prst="rect">
            <a:avLst/>
          </a:prstGeom>
          <a:noFill/>
        </p:spPr>
        <p:txBody>
          <a:bodyPr wrap="square" anchor="t" lIns="0" rIns="0" tIns="0" bIns="0">
            <a:spAutoFit/>
          </a:bodyPr>
          <a:lstStyle/>
          <a:p>
            <a:pPr marL="228600" indent="-228600">
              <a:spcAft>
                <a:spcPts val="700"/>
              </a:spcAft>
              <a:buFont typeface="Arial"/>
              <a:buChar char="•"/>
            </a:pPr>
            <a:r>
              <a:rPr sz="1700">
                <a:solidFill>
                  <a:srgbClr val="26323F"/>
                </a:solidFill>
                <a:latin typeface="Times New Roman"/>
              </a:rPr>
              <a:t>Analyses refurbished electronics reviews in India at aspect level: nine aspects, three polarity labels.</a:t>
            </a:r>
          </a:p>
          <a:p>
            <a:pPr marL="228600" indent="-228600">
              <a:spcAft>
                <a:spcPts val="700"/>
              </a:spcAft>
              <a:buFont typeface="Arial"/>
              <a:buChar char="•"/>
            </a:pPr>
            <a:r>
              <a:rPr sz="1700">
                <a:solidFill>
                  <a:srgbClr val="26323F"/>
                </a:solidFill>
                <a:latin typeface="Times New Roman"/>
              </a:rPr>
              <a:t>Compares five marketplaces: Cashify, Amazon Renewed, Flipkart Refurbished, OLX and Budli under one taxonomy.</a:t>
            </a:r>
          </a:p>
          <a:p>
            <a:pPr marL="228600" indent="-228600">
              <a:spcAft>
                <a:spcPts val="700"/>
              </a:spcAft>
              <a:buFont typeface="Arial"/>
              <a:buChar char="•"/>
            </a:pPr>
            <a:r>
              <a:rPr sz="1700">
                <a:solidFill>
                  <a:srgbClr val="26323F"/>
                </a:solidFill>
                <a:latin typeface="Times New Roman"/>
              </a:rPr>
              <a:t>Compares Logistic Regression, Random Forest and XGBoost (TF-IDF) with fine-tuned BERT on the same split.</a:t>
            </a:r>
          </a:p>
          <a:p>
            <a:pPr marL="228600" indent="-228600">
              <a:spcAft>
                <a:spcPts val="700"/>
              </a:spcAft>
              <a:buFont typeface="Arial"/>
              <a:buChar char="•"/>
            </a:pPr>
            <a:r>
              <a:rPr sz="1700">
                <a:solidFill>
                  <a:srgbClr val="26323F"/>
                </a:solidFill>
                <a:latin typeface="Times New Roman"/>
              </a:rPr>
              <a:t>Best accuracy 90.7% (Logistic Regression); the neutral class is hardest for every model.</a:t>
            </a:r>
          </a:p>
          <a:p>
            <a:pPr marL="228600" indent="-228600">
              <a:spcAft>
                <a:spcPts val="700"/>
              </a:spcAft>
              <a:buFont typeface="Arial"/>
              <a:buChar char="•"/>
            </a:pPr>
            <a:r>
              <a:rPr sz="1700">
                <a:solidFill>
                  <a:srgbClr val="26323F"/>
                </a:solidFill>
                <a:latin typeface="Times New Roman"/>
              </a:rPr>
              <a:t>Corpus: 2,000 synthetic demo reviews (seed 42), built to validate the pipeline end to end.</a:t>
            </a:r>
          </a:p>
        </p:txBody>
      </p:sp>
      <p:sp>
        <p:nvSpPr>
          <p:cNvPr id="9" name="Stat card 1"/>
          <p:cNvSpPr/>
          <p:nvPr/>
        </p:nvSpPr>
        <p:spPr>
          <a:xfrm>
            <a:off x="5943600" y="1234440"/>
            <a:ext cx="2651760" cy="12801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value 1"/>
          <p:cNvSpPr txBox="1"/>
          <p:nvPr/>
        </p:nvSpPr>
        <p:spPr>
          <a:xfrm>
            <a:off x="6035040" y="1325880"/>
            <a:ext cx="2468880" cy="685800"/>
          </a:xfrm>
          <a:prstGeom prst="rect">
            <a:avLst/>
          </a:prstGeom>
          <a:noFill/>
        </p:spPr>
        <p:txBody>
          <a:bodyPr wrap="square" anchor="ctr" lIns="0" rIns="0" tIns="0" bIns="0">
            <a:spAutoFit/>
          </a:bodyPr>
          <a:lstStyle/>
          <a:p>
            <a:pPr algn="ctr"/>
            <a:r>
              <a:rPr sz="3600" b="1">
                <a:solidFill>
                  <a:srgbClr val="1F3864"/>
                </a:solidFill>
                <a:latin typeface="Times New Roman"/>
              </a:rPr>
              <a:t>2,000</a:t>
            </a:r>
          </a:p>
        </p:txBody>
      </p:sp>
      <p:sp>
        <p:nvSpPr>
          <p:cNvPr id="11" name="Stat label 1"/>
          <p:cNvSpPr txBox="1"/>
          <p:nvPr/>
        </p:nvSpPr>
        <p:spPr>
          <a:xfrm>
            <a:off x="6035040" y="2011680"/>
            <a:ext cx="2468880" cy="457200"/>
          </a:xfrm>
          <a:prstGeom prst="rect">
            <a:avLst/>
          </a:prstGeom>
          <a:noFill/>
        </p:spPr>
        <p:txBody>
          <a:bodyPr wrap="square" anchor="t" lIns="0" rIns="0" tIns="0" bIns="0">
            <a:spAutoFit/>
          </a:bodyPr>
          <a:lstStyle/>
          <a:p>
            <a:pPr algn="ctr"/>
            <a:r>
              <a:rPr sz="1400">
                <a:solidFill>
                  <a:srgbClr val="26323F"/>
                </a:solidFill>
                <a:latin typeface="Times New Roman"/>
              </a:rPr>
              <a:t>reviews collected (synthetic demo)</a:t>
            </a:r>
          </a:p>
        </p:txBody>
      </p:sp>
      <p:sp>
        <p:nvSpPr>
          <p:cNvPr id="12" name="Stat card 2"/>
          <p:cNvSpPr/>
          <p:nvPr/>
        </p:nvSpPr>
        <p:spPr>
          <a:xfrm>
            <a:off x="5943600" y="2651760"/>
            <a:ext cx="2651760" cy="12801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value 2"/>
          <p:cNvSpPr txBox="1"/>
          <p:nvPr/>
        </p:nvSpPr>
        <p:spPr>
          <a:xfrm>
            <a:off x="6035040" y="2743200"/>
            <a:ext cx="2468880" cy="685800"/>
          </a:xfrm>
          <a:prstGeom prst="rect">
            <a:avLst/>
          </a:prstGeom>
          <a:noFill/>
        </p:spPr>
        <p:txBody>
          <a:bodyPr wrap="square" anchor="ctr" lIns="0" rIns="0" tIns="0" bIns="0">
            <a:spAutoFit/>
          </a:bodyPr>
          <a:lstStyle/>
          <a:p>
            <a:pPr algn="ctr"/>
            <a:r>
              <a:rPr sz="3600" b="1">
                <a:solidFill>
                  <a:srgbClr val="1F6F78"/>
                </a:solidFill>
                <a:latin typeface="Times New Roman"/>
              </a:rPr>
              <a:t>5</a:t>
            </a:r>
          </a:p>
        </p:txBody>
      </p:sp>
      <p:sp>
        <p:nvSpPr>
          <p:cNvPr id="14" name="Stat label 2"/>
          <p:cNvSpPr txBox="1"/>
          <p:nvPr/>
        </p:nvSpPr>
        <p:spPr>
          <a:xfrm>
            <a:off x="6035040" y="3429000"/>
            <a:ext cx="2468880" cy="457200"/>
          </a:xfrm>
          <a:prstGeom prst="rect">
            <a:avLst/>
          </a:prstGeom>
          <a:noFill/>
        </p:spPr>
        <p:txBody>
          <a:bodyPr wrap="square" anchor="t" lIns="0" rIns="0" tIns="0" bIns="0">
            <a:spAutoFit/>
          </a:bodyPr>
          <a:lstStyle/>
          <a:p>
            <a:pPr algn="ctr"/>
            <a:r>
              <a:rPr sz="1400">
                <a:solidFill>
                  <a:srgbClr val="26323F"/>
                </a:solidFill>
                <a:latin typeface="Times New Roman"/>
              </a:rPr>
              <a:t>platforms compared</a:t>
            </a:r>
          </a:p>
        </p:txBody>
      </p:sp>
      <p:sp>
        <p:nvSpPr>
          <p:cNvPr id="15" name="Stat card 3"/>
          <p:cNvSpPr/>
          <p:nvPr/>
        </p:nvSpPr>
        <p:spPr>
          <a:xfrm>
            <a:off x="5943600" y="4069080"/>
            <a:ext cx="2651760" cy="12801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t value 3"/>
          <p:cNvSpPr txBox="1"/>
          <p:nvPr/>
        </p:nvSpPr>
        <p:spPr>
          <a:xfrm>
            <a:off x="6035040" y="4160520"/>
            <a:ext cx="2468880" cy="685800"/>
          </a:xfrm>
          <a:prstGeom prst="rect">
            <a:avLst/>
          </a:prstGeom>
          <a:noFill/>
        </p:spPr>
        <p:txBody>
          <a:bodyPr wrap="square" anchor="ctr" lIns="0" rIns="0" tIns="0" bIns="0">
            <a:spAutoFit/>
          </a:bodyPr>
          <a:lstStyle/>
          <a:p>
            <a:pPr algn="ctr"/>
            <a:r>
              <a:rPr sz="3600" b="1">
                <a:solidFill>
                  <a:srgbClr val="B03A5B"/>
                </a:solidFill>
                <a:latin typeface="Times New Roman"/>
              </a:rPr>
              <a:t>90.7%</a:t>
            </a:r>
          </a:p>
        </p:txBody>
      </p:sp>
      <p:sp>
        <p:nvSpPr>
          <p:cNvPr id="17" name="Stat label 3"/>
          <p:cNvSpPr txBox="1"/>
          <p:nvPr/>
        </p:nvSpPr>
        <p:spPr>
          <a:xfrm>
            <a:off x="6035040" y="4846320"/>
            <a:ext cx="2468880" cy="457200"/>
          </a:xfrm>
          <a:prstGeom prst="rect">
            <a:avLst/>
          </a:prstGeom>
          <a:noFill/>
        </p:spPr>
        <p:txBody>
          <a:bodyPr wrap="square" anchor="t" lIns="0" rIns="0" tIns="0" bIns="0">
            <a:spAutoFit/>
          </a:bodyPr>
          <a:lstStyle/>
          <a:p>
            <a:pPr algn="ctr"/>
            <a:r>
              <a:rPr sz="1400">
                <a:solidFill>
                  <a:srgbClr val="26323F"/>
                </a:solidFill>
                <a:latin typeface="Times New Roman"/>
              </a:rPr>
              <a:t>best model accuracy (Log. Reg.)</a:t>
            </a:r>
          </a:p>
        </p:txBody>
      </p:sp>
      <p:sp>
        <p:nvSpPr>
          <p:cNvPr id="18" name="Abstract takeaway"/>
          <p:cNvSpPr/>
          <p:nvPr/>
        </p:nvSpPr>
        <p:spPr>
          <a:xfrm>
            <a:off x="365760" y="5577840"/>
            <a:ext cx="8229600" cy="7772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bstract takeaway text"/>
          <p:cNvSpPr txBox="1"/>
          <p:nvPr/>
        </p:nvSpPr>
        <p:spPr>
          <a:xfrm>
            <a:off x="594360" y="5623560"/>
            <a:ext cx="7772400" cy="685800"/>
          </a:xfrm>
          <a:prstGeom prst="rect">
            <a:avLst/>
          </a:prstGeom>
          <a:noFill/>
        </p:spPr>
        <p:txBody>
          <a:bodyPr wrap="square" anchor="ctr" lIns="0" rIns="0" tIns="0" bIns="0">
            <a:spAutoFit/>
          </a:bodyPr>
          <a:lstStyle/>
          <a:p>
            <a:pPr algn="l"/>
            <a:r>
              <a:rPr sz="1500" i="1">
                <a:solidFill>
                  <a:srgbClr val="1F3864"/>
                </a:solidFill>
                <a:latin typeface="Times New Roman"/>
              </a:rPr>
              <a:t>A single overall rating hides which aspect causes dissatisfaction; aspect-level analysis shows whether the problem is battery, trust, returns or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Introduction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8" name="Photo caption"/>
          <p:cNvSpPr txBox="1"/>
          <p:nvPr/>
        </p:nvSpPr>
        <p:spPr>
          <a:xfrm>
            <a:off x="365760" y="4297680"/>
            <a:ext cx="3017520" cy="320040"/>
          </a:xfrm>
          <a:prstGeom prst="rect">
            <a:avLst/>
          </a:prstGeom>
          <a:noFill/>
        </p:spPr>
        <p:txBody>
          <a:bodyPr wrap="square" anchor="t" lIns="0" rIns="0" tIns="0" bIns="0">
            <a:spAutoFit/>
          </a:bodyPr>
          <a:lstStyle/>
          <a:p>
            <a:pPr algn="ctr"/>
            <a:r>
              <a:rPr sz="1400" i="1">
                <a:solidFill>
                  <a:srgbClr val="556575"/>
                </a:solidFill>
                <a:latin typeface="Times New Roman"/>
              </a:rPr>
              <a:t>Refurbished phone, laptop, DSLR</a:t>
            </a:r>
          </a:p>
        </p:txBody>
      </p:sp>
      <p:sp>
        <p:nvSpPr>
          <p:cNvPr id="9" name="Scope card"/>
          <p:cNvSpPr/>
          <p:nvPr/>
        </p:nvSpPr>
        <p:spPr>
          <a:xfrm>
            <a:off x="365760" y="4754880"/>
            <a:ext cx="3017520" cy="14630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ope text"/>
          <p:cNvSpPr txBox="1"/>
          <p:nvPr/>
        </p:nvSpPr>
        <p:spPr>
          <a:xfrm>
            <a:off x="548640" y="4846320"/>
            <a:ext cx="2651760" cy="1280160"/>
          </a:xfrm>
          <a:prstGeom prst="rect">
            <a:avLst/>
          </a:prstGeom>
          <a:noFill/>
        </p:spPr>
        <p:txBody>
          <a:bodyPr wrap="square" anchor="ctr" lIns="0" rIns="0" tIns="0" bIns="0">
            <a:spAutoFit/>
          </a:bodyPr>
          <a:lstStyle/>
          <a:p>
            <a:pPr algn="l"/>
            <a:r>
              <a:rPr sz="1600" b="1">
                <a:solidFill>
                  <a:srgbClr val="1F6F78"/>
                </a:solidFill>
                <a:latin typeface="Times New Roman"/>
              </a:rPr>
              <a:t>Scope</a:t>
            </a:r>
          </a:p>
          <a:p>
            <a:pPr algn="l"/>
            <a:r>
              <a:rPr sz="1400">
                <a:solidFill>
                  <a:srgbClr val="26323F"/>
                </a:solidFill>
                <a:latin typeface="Times New Roman"/>
              </a:rPr>
              <a:t>Phones, laptops, DSLR; nine aspects, three labels.</a:t>
            </a:r>
          </a:p>
        </p:txBody>
      </p:sp>
      <p:sp>
        <p:nvSpPr>
          <p:cNvPr id="11" name="Intro card"/>
          <p:cNvSpPr/>
          <p:nvPr/>
        </p:nvSpPr>
        <p:spPr>
          <a:xfrm>
            <a:off x="3611880" y="1234440"/>
            <a:ext cx="4983480" cy="49834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tro points"/>
          <p:cNvSpPr txBox="1"/>
          <p:nvPr/>
        </p:nvSpPr>
        <p:spPr>
          <a:xfrm>
            <a:off x="3840480" y="1417320"/>
            <a:ext cx="4526280" cy="4663440"/>
          </a:xfrm>
          <a:prstGeom prst="rect">
            <a:avLst/>
          </a:prstGeom>
          <a:noFill/>
        </p:spPr>
        <p:txBody>
          <a:bodyPr wrap="square" anchor="t" lIns="0" rIns="0" tIns="0" bIns="0">
            <a:spAutoFit/>
          </a:bodyPr>
          <a:lstStyle/>
          <a:p>
            <a:pPr marL="228600" indent="-228600">
              <a:spcAft>
                <a:spcPts val="900"/>
              </a:spcAft>
              <a:buFont typeface="Arial"/>
              <a:buChar char="•"/>
            </a:pPr>
            <a:r>
              <a:rPr sz="1700" b="1">
                <a:solidFill>
                  <a:srgbClr val="1F3864"/>
                </a:solidFill>
                <a:latin typeface="Times New Roman"/>
              </a:rPr>
              <a:t>Why it matters: </a:t>
            </a:r>
            <a:r>
              <a:rPr sz="1700" b="1">
                <a:solidFill>
                  <a:srgbClr val="1F3864"/>
                </a:solidFill>
                <a:latin typeface="Times New Roman"/>
              </a:rPr>
              <a:t>India's refurbished market is growing, but buyers face uncertainty about condition and authenticity.</a:t>
            </a:r>
          </a:p>
          <a:p>
            <a:pPr marL="228600" indent="-228600">
              <a:spcAft>
                <a:spcPts val="900"/>
              </a:spcAft>
              <a:buFont typeface="Arial"/>
              <a:buChar char="•"/>
            </a:pPr>
            <a:r>
              <a:rPr sz="1700" b="1">
                <a:solidFill>
                  <a:srgbClr val="1F3864"/>
                </a:solidFill>
                <a:latin typeface="Times New Roman"/>
              </a:rPr>
              <a:t>Current practice: </a:t>
            </a:r>
            <a:r>
              <a:rPr sz="1700" b="1">
                <a:solidFill>
                  <a:srgbClr val="1F3864"/>
                </a:solidFill>
                <a:latin typeface="Times New Roman"/>
              </a:rPr>
              <a:t>one star rating per review hides which aspect caused dissatisfaction.</a:t>
            </a:r>
          </a:p>
          <a:p>
            <a:pPr marL="228600" indent="-228600">
              <a:spcAft>
                <a:spcPts val="900"/>
              </a:spcAft>
              <a:buFont typeface="Arial"/>
              <a:buChar char="•"/>
            </a:pPr>
            <a:r>
              <a:rPr sz="1700" b="1">
                <a:solidFill>
                  <a:srgbClr val="1F3864"/>
                </a:solidFill>
                <a:latin typeface="Times New Roman"/>
              </a:rPr>
              <a:t>ABSA: </a:t>
            </a:r>
            <a:r>
              <a:rPr sz="1700" b="1">
                <a:solidFill>
                  <a:srgbClr val="1F3864"/>
                </a:solidFill>
                <a:latin typeface="Times New Roman"/>
              </a:rPr>
              <a:t>attaches a sentiment to each aspect - battery, condition, seller service, trust.</a:t>
            </a:r>
          </a:p>
          <a:p>
            <a:pPr marL="228600" indent="-228600">
              <a:spcAft>
                <a:spcPts val="900"/>
              </a:spcAft>
              <a:buFont typeface="Arial"/>
              <a:buChar char="•"/>
            </a:pPr>
            <a:r>
              <a:rPr sz="1700" b="1">
                <a:solidFill>
                  <a:srgbClr val="1F3864"/>
                </a:solidFill>
                <a:latin typeface="Times New Roman"/>
              </a:rPr>
              <a:t>BERT vs TF-IDF: </a:t>
            </a:r>
            <a:r>
              <a:rPr sz="1700" b="1">
                <a:solidFill>
                  <a:srgbClr val="1F3864"/>
                </a:solidFill>
                <a:latin typeface="Times New Roman"/>
              </a:rPr>
              <a:t>contextual transformer features against classical n-gram features, on the same split.</a:t>
            </a:r>
          </a:p>
          <a:p>
            <a:pPr marL="228600" indent="-228600">
              <a:spcAft>
                <a:spcPts val="900"/>
              </a:spcAft>
              <a:buFont typeface="Arial"/>
              <a:buChar char="•"/>
            </a:pPr>
            <a:r>
              <a:rPr sz="1700" b="1">
                <a:solidFill>
                  <a:srgbClr val="1F3864"/>
                </a:solidFill>
                <a:latin typeface="Times New Roman"/>
              </a:rPr>
              <a:t>Indian platforms: </a:t>
            </a:r>
            <a:r>
              <a:rPr sz="1700" b="1">
                <a:solidFill>
                  <a:srgbClr val="1F3864"/>
                </a:solidFill>
                <a:latin typeface="Times New Roman"/>
              </a:rPr>
              <a:t>Cashify, Amazon Renewed, Flipkart Refurbished, OLX and Budli under one aspect taxonomy.</a:t>
            </a:r>
          </a:p>
        </p:txBody>
      </p:sp>
      <p:sp>
        <p:nvSpPr>
          <p:cNvPr id="13" name="Rounded Rectangle 12"/>
          <p:cNvSpPr/>
          <p:nvPr/>
        </p:nvSpPr>
        <p:spPr>
          <a:xfrm>
            <a:off x="365760" y="1234440"/>
            <a:ext cx="3017520" cy="3017520"/>
          </a:xfrm>
          <a:prstGeom prst="roundRect">
            <a:avLst/>
          </a:prstGeom>
          <a:solidFill>
            <a:srgbClr val="FFFFFF"/>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1" name="Laptop screen"/>
          <p:cNvSpPr/>
          <p:nvPr/>
        </p:nvSpPr>
        <p:spPr>
          <a:xfrm>
            <a:off x="777240" y="1691640"/>
            <a:ext cx="1600200" cy="1051560"/>
          </a:xfrm>
          <a:prstGeom prst="roundRect">
            <a:avLst>
              <a:gd name="adj" fmla="val 6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102" name="Laptop display"/>
          <p:cNvSpPr/>
          <p:nvPr/>
        </p:nvSpPr>
        <p:spPr>
          <a:xfrm>
            <a:off x="868680" y="1783080"/>
            <a:ext cx="1417320" cy="868680"/>
          </a:xfrm>
          <a:prstGeom prst="rect">
            <a:avLst/>
          </a:prstGeom>
          <a:solidFill>
            <a:srgbClr val="CFE0EC"/>
          </a:solidFill>
          <a:ln>
            <a:noFill/>
          </a:ln>
          <a:effectLst/>
        </p:spPr>
        <p:txBody>
          <a:bodyPr wrap="square" lIns="73152" tIns="36576" rIns="73152" bIns="36576" anchor="ctr" rtlCol="0">
            <a:noAutofit/>
          </a:bodyPr>
          <a:lstStyle/>
          <a:p>
            <a:endParaRPr lang="en-US"/>
          </a:p>
        </p:txBody>
      </p:sp>
      <p:sp>
        <p:nvSpPr>
          <p:cNvPr id="103" name="Laptop bar 1"/>
          <p:cNvSpPr/>
          <p:nvPr/>
        </p:nvSpPr>
        <p:spPr>
          <a:xfrm>
            <a:off x="1024128" y="2240280"/>
            <a:ext cx="237744" cy="320040"/>
          </a:xfrm>
          <a:prstGeom prst="rect">
            <a:avLst/>
          </a:prstGeom>
          <a:solidFill>
            <a:srgbClr val="1E6F78"/>
          </a:solidFill>
          <a:ln>
            <a:noFill/>
          </a:ln>
          <a:effectLst/>
        </p:spPr>
        <p:txBody>
          <a:bodyPr wrap="square" lIns="73152" tIns="36576" rIns="73152" bIns="36576" anchor="ctr" rtlCol="0">
            <a:noAutofit/>
          </a:bodyPr>
          <a:lstStyle/>
          <a:p>
            <a:endParaRPr lang="en-US"/>
          </a:p>
        </p:txBody>
      </p:sp>
      <p:sp>
        <p:nvSpPr>
          <p:cNvPr id="104" name="Laptop bar 2"/>
          <p:cNvSpPr/>
          <p:nvPr/>
        </p:nvSpPr>
        <p:spPr>
          <a:xfrm>
            <a:off x="1389888" y="2057400"/>
            <a:ext cx="237744" cy="502920"/>
          </a:xfrm>
          <a:prstGeom prst="rect">
            <a:avLst/>
          </a:prstGeom>
          <a:solidFill>
            <a:srgbClr val="4A7FA7"/>
          </a:solidFill>
          <a:ln>
            <a:noFill/>
          </a:ln>
          <a:effectLst/>
        </p:spPr>
        <p:txBody>
          <a:bodyPr wrap="square" lIns="73152" tIns="36576" rIns="73152" bIns="36576" anchor="ctr" rtlCol="0">
            <a:noAutofit/>
          </a:bodyPr>
          <a:lstStyle/>
          <a:p>
            <a:endParaRPr lang="en-US"/>
          </a:p>
        </p:txBody>
      </p:sp>
      <p:sp>
        <p:nvSpPr>
          <p:cNvPr id="105" name="Laptop bar 3"/>
          <p:cNvSpPr/>
          <p:nvPr/>
        </p:nvSpPr>
        <p:spPr>
          <a:xfrm>
            <a:off x="1755648" y="2176272"/>
            <a:ext cx="237744" cy="384048"/>
          </a:xfrm>
          <a:prstGeom prst="rect">
            <a:avLst/>
          </a:prstGeom>
          <a:solidFill>
            <a:srgbClr val="B0385A"/>
          </a:solidFill>
          <a:ln>
            <a:noFill/>
          </a:ln>
          <a:effectLst/>
        </p:spPr>
        <p:txBody>
          <a:bodyPr wrap="square" lIns="73152" tIns="36576" rIns="73152" bIns="36576" anchor="ctr" rtlCol="0">
            <a:noAutofit/>
          </a:bodyPr>
          <a:lstStyle/>
          <a:p>
            <a:endParaRPr lang="en-US"/>
          </a:p>
        </p:txBody>
      </p:sp>
      <p:sp>
        <p:nvSpPr>
          <p:cNvPr id="106" name="Laptop base"/>
          <p:cNvSpPr/>
          <p:nvPr/>
        </p:nvSpPr>
        <p:spPr>
          <a:xfrm>
            <a:off x="594360" y="2743200"/>
            <a:ext cx="1965960" cy="118872"/>
          </a:xfrm>
          <a:prstGeom prst="roundRect">
            <a:avLst>
              <a:gd name="adj" fmla="val 40000"/>
            </a:avLst>
          </a:prstGeom>
          <a:solidFill>
            <a:srgbClr val="5C6B7A"/>
          </a:solidFill>
          <a:ln>
            <a:noFill/>
          </a:ln>
          <a:effectLst/>
        </p:spPr>
        <p:txBody>
          <a:bodyPr wrap="square" lIns="73152" tIns="36576" rIns="73152" bIns="36576" anchor="ctr" rtlCol="0">
            <a:noAutofit/>
          </a:bodyPr>
          <a:lstStyle/>
          <a:p>
            <a:endParaRPr lang="en-US"/>
          </a:p>
        </p:txBody>
      </p:sp>
      <p:sp>
        <p:nvSpPr>
          <p:cNvPr id="107" name="Phone body"/>
          <p:cNvSpPr/>
          <p:nvPr/>
        </p:nvSpPr>
        <p:spPr>
          <a:xfrm>
            <a:off x="2606040" y="2011680"/>
            <a:ext cx="658368" cy="1188720"/>
          </a:xfrm>
          <a:prstGeom prst="roundRect">
            <a:avLst>
              <a:gd name="adj" fmla="val 14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108" name="Phone screen"/>
          <p:cNvSpPr/>
          <p:nvPr/>
        </p:nvSpPr>
        <p:spPr>
          <a:xfrm>
            <a:off x="2660904" y="2121408"/>
            <a:ext cx="548640" cy="932688"/>
          </a:xfrm>
          <a:prstGeom prst="rect">
            <a:avLst/>
          </a:prstGeom>
          <a:solidFill>
            <a:srgbClr val="CFE0EC"/>
          </a:solidFill>
          <a:ln>
            <a:noFill/>
          </a:ln>
          <a:effectLst/>
        </p:spPr>
        <p:txBody>
          <a:bodyPr wrap="square" lIns="73152" tIns="36576" rIns="73152" bIns="36576" anchor="ctr" rtlCol="0">
            <a:noAutofit/>
          </a:bodyPr>
          <a:lstStyle/>
          <a:p>
            <a:endParaRPr lang="en-US"/>
          </a:p>
        </p:txBody>
      </p:sp>
      <p:sp>
        <p:nvSpPr>
          <p:cNvPr id="109" name="Phone tick"/>
          <p:cNvSpPr/>
          <p:nvPr/>
        </p:nvSpPr>
        <p:spPr>
          <a:xfrm>
            <a:off x="2743200" y="2395728"/>
            <a:ext cx="384048" cy="384048"/>
          </a:xfrm>
          <a:prstGeom prst="ellipse">
            <a:avLst/>
          </a:prstGeom>
          <a:solidFill>
            <a:srgbClr val="1E6F78"/>
          </a:solidFill>
          <a:ln>
            <a:noFill/>
          </a:ln>
          <a:effectLst/>
        </p:spPr>
        <p:txBody>
          <a:bodyPr wrap="square" lIns="0" tIns="0" rIns="0" bIns="0" anchor="ctr" rtlCol="0">
            <a:noAutofit/>
          </a:bodyPr>
          <a:lstStyle/>
          <a:p>
            <a:pPr algn="ctr">
              <a:spcBef>
                <a:spcPts val="0"/>
              </a:spcBef>
              <a:spcAft>
                <a:spcPts val="0"/>
              </a:spcAft>
            </a:pPr>
            <a:r>
              <a:rPr lang="en-US" sz="1800" b="1" i="0" dirty="0">
                <a:solidFill>
                  <a:srgbClr val="FFFFFF"/>
                </a:solidFill>
                <a:latin typeface="Times New Roman"/>
                <a:cs typeface="Times New Roman"/>
              </a:rPr>
              <a:t>✓</a:t>
            </a:r>
          </a:p>
        </p:txBody>
      </p:sp>
      <p:sp>
        <p:nvSpPr>
          <p:cNvPr id="110" name="Camera prism"/>
          <p:cNvSpPr/>
          <p:nvPr/>
        </p:nvSpPr>
        <p:spPr>
          <a:xfrm>
            <a:off x="1417320" y="3200400"/>
            <a:ext cx="548640" cy="201168"/>
          </a:xfrm>
          <a:prstGeom prst="roundRect">
            <a:avLst>
              <a:gd name="adj" fmla="val 30000"/>
            </a:avLst>
          </a:prstGeom>
          <a:solidFill>
            <a:srgbClr val="B0385A"/>
          </a:solidFill>
          <a:ln>
            <a:noFill/>
          </a:ln>
          <a:effectLst/>
        </p:spPr>
        <p:txBody>
          <a:bodyPr wrap="square" lIns="73152" tIns="36576" rIns="73152" bIns="36576" anchor="ctr" rtlCol="0">
            <a:noAutofit/>
          </a:bodyPr>
          <a:lstStyle/>
          <a:p>
            <a:endParaRPr lang="en-US"/>
          </a:p>
        </p:txBody>
      </p:sp>
      <p:sp>
        <p:nvSpPr>
          <p:cNvPr id="111" name="Camera body"/>
          <p:cNvSpPr/>
          <p:nvPr/>
        </p:nvSpPr>
        <p:spPr>
          <a:xfrm>
            <a:off x="960120" y="3337560"/>
            <a:ext cx="1828800" cy="777240"/>
          </a:xfrm>
          <a:prstGeom prst="roundRect">
            <a:avLst>
              <a:gd name="adj" fmla="val 14000"/>
            </a:avLst>
          </a:prstGeom>
          <a:solidFill>
            <a:srgbClr val="B0385A"/>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112" name="Camera lens outer"/>
          <p:cNvSpPr/>
          <p:nvPr/>
        </p:nvSpPr>
        <p:spPr>
          <a:xfrm>
            <a:off x="1572768" y="3419856"/>
            <a:ext cx="621792" cy="621792"/>
          </a:xfrm>
          <a:prstGeom prst="ellipse">
            <a:avLst/>
          </a:prstGeom>
          <a:solidFill>
            <a:srgbClr val="2B2F3A"/>
          </a:solidFill>
          <a:ln>
            <a:noFill/>
          </a:ln>
          <a:effectLst/>
        </p:spPr>
        <p:txBody>
          <a:bodyPr wrap="square" lIns="73152" tIns="36576" rIns="73152" bIns="36576" anchor="ctr" rtlCol="0">
            <a:noAutofit/>
          </a:bodyPr>
          <a:lstStyle/>
          <a:p>
            <a:endParaRPr lang="en-US"/>
          </a:p>
        </p:txBody>
      </p:sp>
      <p:sp>
        <p:nvSpPr>
          <p:cNvPr id="113" name="Camera lens inner"/>
          <p:cNvSpPr/>
          <p:nvPr/>
        </p:nvSpPr>
        <p:spPr>
          <a:xfrm>
            <a:off x="1700784" y="3547872"/>
            <a:ext cx="365760" cy="365760"/>
          </a:xfrm>
          <a:prstGeom prst="ellipse">
            <a:avLst/>
          </a:prstGeom>
          <a:solidFill>
            <a:srgbClr val="4A7FA7"/>
          </a:solidFill>
          <a:ln>
            <a:noFill/>
          </a:ln>
          <a:effectLst/>
        </p:spPr>
        <p:txBody>
          <a:bodyPr wrap="square" lIns="73152" tIns="36576" rIns="73152" bIns="36576" anchor="ctr" rtlCol="0">
            <a:noAutofit/>
          </a:bodyPr>
          <a:lstStyle/>
          <a:p>
            <a:endParaRPr lang="en-US"/>
          </a:p>
        </p:txBody>
      </p:sp>
      <p:sp>
        <p:nvSpPr>
          <p:cNvPr id="114" name="Camera grip"/>
          <p:cNvSpPr/>
          <p:nvPr/>
        </p:nvSpPr>
        <p:spPr>
          <a:xfrm>
            <a:off x="2377440" y="3456432"/>
            <a:ext cx="274320" cy="146304"/>
          </a:xfrm>
          <a:prstGeom prst="rect">
            <a:avLst/>
          </a:prstGeom>
          <a:solidFill>
            <a:srgbClr val="F2D6DE"/>
          </a:solidFill>
          <a:ln>
            <a:noFill/>
          </a:ln>
          <a:effectLst/>
        </p:spPr>
        <p:txBody>
          <a:bodyPr wrap="square" lIns="73152" tIns="36576" rIns="73152" bIns="36576" anchor="ctr" rtlCol="0">
            <a:noAutofit/>
          </a:bodyPr>
          <a:lstStyle/>
          <a:p>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Motivation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Motivation card 1"/>
          <p:cNvSpPr/>
          <p:nvPr/>
        </p:nvSpPr>
        <p:spPr>
          <a:xfrm>
            <a:off x="365760" y="123444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otivation num 1"/>
          <p:cNvSpPr/>
          <p:nvPr/>
        </p:nvSpPr>
        <p:spPr>
          <a:xfrm>
            <a:off x="594360" y="14173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1</a:t>
            </a:r>
          </a:p>
        </p:txBody>
      </p:sp>
      <p:sp>
        <p:nvSpPr>
          <p:cNvPr id="9" name="Motivation head 1"/>
          <p:cNvSpPr txBox="1"/>
          <p:nvPr/>
        </p:nvSpPr>
        <p:spPr>
          <a:xfrm>
            <a:off x="1143000" y="146304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Buyer uncertainty</a:t>
            </a:r>
          </a:p>
        </p:txBody>
      </p:sp>
      <p:sp>
        <p:nvSpPr>
          <p:cNvPr id="10" name="Motivation text 1"/>
          <p:cNvSpPr txBox="1"/>
          <p:nvPr/>
        </p:nvSpPr>
        <p:spPr>
          <a:xfrm>
            <a:off x="594360" y="2011680"/>
            <a:ext cx="3566160" cy="1508760"/>
          </a:xfrm>
          <a:prstGeom prst="rect">
            <a:avLst/>
          </a:prstGeom>
          <a:noFill/>
        </p:spPr>
        <p:txBody>
          <a:bodyPr wrap="square" anchor="t" lIns="0" rIns="0" tIns="0" bIns="0">
            <a:spAutoFit/>
          </a:bodyPr>
          <a:lstStyle/>
          <a:p>
            <a:pPr algn="l"/>
            <a:r>
              <a:rPr sz="1700">
                <a:solidFill>
                  <a:srgbClr val="26323F"/>
                </a:solidFill>
                <a:latin typeface="Times New Roman"/>
              </a:rPr>
              <a:t>Buyers cannot verify condition, battery health or authenticity of a refurbished device before paying.</a:t>
            </a:r>
          </a:p>
        </p:txBody>
      </p:sp>
      <p:sp>
        <p:nvSpPr>
          <p:cNvPr id="11" name="Motivation card 2"/>
          <p:cNvSpPr/>
          <p:nvPr/>
        </p:nvSpPr>
        <p:spPr>
          <a:xfrm>
            <a:off x="4572000" y="123444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tivation num 2"/>
          <p:cNvSpPr/>
          <p:nvPr/>
        </p:nvSpPr>
        <p:spPr>
          <a:xfrm>
            <a:off x="4800600" y="1417320"/>
            <a:ext cx="411480" cy="41148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2</a:t>
            </a:r>
          </a:p>
        </p:txBody>
      </p:sp>
      <p:sp>
        <p:nvSpPr>
          <p:cNvPr id="13" name="Motivation head 2"/>
          <p:cNvSpPr txBox="1"/>
          <p:nvPr/>
        </p:nvSpPr>
        <p:spPr>
          <a:xfrm>
            <a:off x="5349240" y="146304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One label hides why</a:t>
            </a:r>
          </a:p>
        </p:txBody>
      </p:sp>
      <p:sp>
        <p:nvSpPr>
          <p:cNvPr id="14" name="Motivation text 2"/>
          <p:cNvSpPr txBox="1"/>
          <p:nvPr/>
        </p:nvSpPr>
        <p:spPr>
          <a:xfrm>
            <a:off x="4800600" y="2011680"/>
            <a:ext cx="3566160" cy="1508760"/>
          </a:xfrm>
          <a:prstGeom prst="rect">
            <a:avLst/>
          </a:prstGeom>
          <a:noFill/>
        </p:spPr>
        <p:txBody>
          <a:bodyPr wrap="square" anchor="t" lIns="0" rIns="0" tIns="0" bIns="0">
            <a:spAutoFit/>
          </a:bodyPr>
          <a:lstStyle/>
          <a:p>
            <a:pPr algn="l"/>
            <a:r>
              <a:rPr sz="1700">
                <a:solidFill>
                  <a:srgbClr val="26323F"/>
                </a:solidFill>
                <a:latin typeface="Times New Roman"/>
              </a:rPr>
              <a:t>A 3-star review may praise the battery but blame the seller; a single sentiment label loses this information.</a:t>
            </a:r>
          </a:p>
        </p:txBody>
      </p:sp>
      <p:sp>
        <p:nvSpPr>
          <p:cNvPr id="15" name="Motivation card 3"/>
          <p:cNvSpPr/>
          <p:nvPr/>
        </p:nvSpPr>
        <p:spPr>
          <a:xfrm>
            <a:off x="365760" y="379476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otivation num 3"/>
          <p:cNvSpPr/>
          <p:nvPr/>
        </p:nvSpPr>
        <p:spPr>
          <a:xfrm>
            <a:off x="594360" y="3977640"/>
            <a:ext cx="411480" cy="411480"/>
          </a:xfrm>
          <a:prstGeom prst="ellipse">
            <a:avLst/>
          </a:prstGeom>
          <a:solidFill>
            <a:srgbClr val="B03A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3</a:t>
            </a:r>
          </a:p>
        </p:txBody>
      </p:sp>
      <p:sp>
        <p:nvSpPr>
          <p:cNvPr id="17" name="Motivation head 3"/>
          <p:cNvSpPr txBox="1"/>
          <p:nvPr/>
        </p:nvSpPr>
        <p:spPr>
          <a:xfrm>
            <a:off x="1143000" y="402336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Platform gaps unknown</a:t>
            </a:r>
          </a:p>
        </p:txBody>
      </p:sp>
      <p:sp>
        <p:nvSpPr>
          <p:cNvPr id="18" name="Motivation text 3"/>
          <p:cNvSpPr txBox="1"/>
          <p:nvPr/>
        </p:nvSpPr>
        <p:spPr>
          <a:xfrm>
            <a:off x="594360" y="4572000"/>
            <a:ext cx="3566160" cy="1508760"/>
          </a:xfrm>
          <a:prstGeom prst="rect">
            <a:avLst/>
          </a:prstGeom>
          <a:noFill/>
        </p:spPr>
        <p:txBody>
          <a:bodyPr wrap="square" anchor="t" lIns="0" rIns="0" tIns="0" bIns="0">
            <a:spAutoFit/>
          </a:bodyPr>
          <a:lstStyle/>
          <a:p>
            <a:pPr algn="l"/>
            <a:r>
              <a:rPr sz="1700">
                <a:solidFill>
                  <a:srgbClr val="26323F"/>
                </a:solidFill>
                <a:latin typeface="Times New Roman"/>
              </a:rPr>
              <a:t>Whether Cashify, Amazon Renewed, Flipkart, OLX or Budli differ by aspect has not been measured.</a:t>
            </a:r>
          </a:p>
        </p:txBody>
      </p:sp>
      <p:sp>
        <p:nvSpPr>
          <p:cNvPr id="19" name="Motivation card 4"/>
          <p:cNvSpPr/>
          <p:nvPr/>
        </p:nvSpPr>
        <p:spPr>
          <a:xfrm>
            <a:off x="4572000" y="3794760"/>
            <a:ext cx="4023360" cy="2377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otivation num 4"/>
          <p:cNvSpPr/>
          <p:nvPr/>
        </p:nvSpPr>
        <p:spPr>
          <a:xfrm>
            <a:off x="4800600" y="397764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4</a:t>
            </a:r>
          </a:p>
        </p:txBody>
      </p:sp>
      <p:sp>
        <p:nvSpPr>
          <p:cNvPr id="21" name="Motivation head 4"/>
          <p:cNvSpPr txBox="1"/>
          <p:nvPr/>
        </p:nvSpPr>
        <p:spPr>
          <a:xfrm>
            <a:off x="5349240" y="4023360"/>
            <a:ext cx="3108960" cy="365760"/>
          </a:xfrm>
          <a:prstGeom prst="rect">
            <a:avLst/>
          </a:prstGeom>
          <a:noFill/>
        </p:spPr>
        <p:txBody>
          <a:bodyPr wrap="square" anchor="ctr" lIns="0" rIns="0" tIns="0" bIns="0">
            <a:spAutoFit/>
          </a:bodyPr>
          <a:lstStyle/>
          <a:p>
            <a:pPr algn="l"/>
            <a:r>
              <a:rPr sz="2000" b="1">
                <a:solidFill>
                  <a:srgbClr val="1F3864"/>
                </a:solidFill>
                <a:latin typeface="Times New Roman"/>
              </a:rPr>
              <a:t>Little prior work</a:t>
            </a:r>
          </a:p>
        </p:txBody>
      </p:sp>
      <p:sp>
        <p:nvSpPr>
          <p:cNvPr id="22" name="Motivation text 4"/>
          <p:cNvSpPr txBox="1"/>
          <p:nvPr/>
        </p:nvSpPr>
        <p:spPr>
          <a:xfrm>
            <a:off x="4800600" y="4572000"/>
            <a:ext cx="3566160" cy="1508760"/>
          </a:xfrm>
          <a:prstGeom prst="rect">
            <a:avLst/>
          </a:prstGeom>
          <a:noFill/>
        </p:spPr>
        <p:txBody>
          <a:bodyPr wrap="square" anchor="t" lIns="0" rIns="0" tIns="0" bIns="0">
            <a:spAutoFit/>
          </a:bodyPr>
          <a:lstStyle/>
          <a:p>
            <a:pPr algn="l"/>
            <a:r>
              <a:rPr sz="1700">
                <a:solidFill>
                  <a:srgbClr val="26323F"/>
                </a:solidFill>
                <a:latin typeface="Times New Roman"/>
              </a:rPr>
              <a:t>ABSA research mostly covers new products and Western marketplaces; Indian refurbished platforms are barely studied.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Objective</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Objective card 1"/>
          <p:cNvSpPr/>
          <p:nvPr/>
        </p:nvSpPr>
        <p:spPr>
          <a:xfrm>
            <a:off x="365760" y="1234440"/>
            <a:ext cx="5120640" cy="1143000"/>
          </a:xfrm>
          <a:prstGeom prst="roundRect">
            <a:avLst>
              <a:gd name="adj" fmla="val 8000"/>
            </a:avLst>
          </a:prstGeom>
          <a:solidFill>
            <a:srgbClr val="EEEAF6"/>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bjective num 1"/>
          <p:cNvSpPr/>
          <p:nvPr/>
        </p:nvSpPr>
        <p:spPr>
          <a:xfrm>
            <a:off x="548640" y="158191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1</a:t>
            </a:r>
          </a:p>
        </p:txBody>
      </p:sp>
      <p:sp>
        <p:nvSpPr>
          <p:cNvPr id="9" name="Objective head 1"/>
          <p:cNvSpPr txBox="1"/>
          <p:nvPr/>
        </p:nvSpPr>
        <p:spPr>
          <a:xfrm>
            <a:off x="1188720" y="1389888"/>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Aspect taxonomy</a:t>
            </a:r>
          </a:p>
        </p:txBody>
      </p:sp>
      <p:sp>
        <p:nvSpPr>
          <p:cNvPr id="10" name="Objective text 1"/>
          <p:cNvSpPr txBox="1"/>
          <p:nvPr/>
        </p:nvSpPr>
        <p:spPr>
          <a:xfrm>
            <a:off x="1188720" y="1810512"/>
            <a:ext cx="4206240" cy="502920"/>
          </a:xfrm>
          <a:prstGeom prst="rect">
            <a:avLst/>
          </a:prstGeom>
          <a:noFill/>
        </p:spPr>
        <p:txBody>
          <a:bodyPr wrap="square" anchor="t" lIns="0" rIns="0" tIns="0" bIns="0">
            <a:spAutoFit/>
          </a:bodyPr>
          <a:lstStyle/>
          <a:p>
            <a:pPr algn="l"/>
            <a:r>
              <a:rPr sz="1500">
                <a:solidFill>
                  <a:srgbClr val="26323F"/>
                </a:solidFill>
                <a:latin typeface="Times New Roman"/>
              </a:rPr>
              <a:t>Define nine aspects for refurbished electronics and tag every mention</a:t>
            </a:r>
          </a:p>
        </p:txBody>
      </p:sp>
      <p:sp>
        <p:nvSpPr>
          <p:cNvPr id="11" name="Objective card 2"/>
          <p:cNvSpPr/>
          <p:nvPr/>
        </p:nvSpPr>
        <p:spPr>
          <a:xfrm>
            <a:off x="365760" y="2514600"/>
            <a:ext cx="5120640" cy="1143000"/>
          </a:xfrm>
          <a:prstGeom prst="roundRect">
            <a:avLst>
              <a:gd name="adj" fmla="val 8000"/>
            </a:avLst>
          </a:prstGeom>
          <a:solidFill>
            <a:srgbClr val="E6EFF8"/>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bjective num 2"/>
          <p:cNvSpPr/>
          <p:nvPr/>
        </p:nvSpPr>
        <p:spPr>
          <a:xfrm>
            <a:off x="548640" y="2862072"/>
            <a:ext cx="457200" cy="45720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2</a:t>
            </a:r>
          </a:p>
        </p:txBody>
      </p:sp>
      <p:sp>
        <p:nvSpPr>
          <p:cNvPr id="13" name="Objective head 2"/>
          <p:cNvSpPr txBox="1"/>
          <p:nvPr/>
        </p:nvSpPr>
        <p:spPr>
          <a:xfrm>
            <a:off x="1188720" y="2670048"/>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Cross-platform comparison</a:t>
            </a:r>
          </a:p>
        </p:txBody>
      </p:sp>
      <p:sp>
        <p:nvSpPr>
          <p:cNvPr id="14" name="Objective text 2"/>
          <p:cNvSpPr txBox="1"/>
          <p:nvPr/>
        </p:nvSpPr>
        <p:spPr>
          <a:xfrm>
            <a:off x="1188720" y="3090672"/>
            <a:ext cx="4206240" cy="502920"/>
          </a:xfrm>
          <a:prstGeom prst="rect">
            <a:avLst/>
          </a:prstGeom>
          <a:noFill/>
        </p:spPr>
        <p:txBody>
          <a:bodyPr wrap="square" anchor="t" lIns="0" rIns="0" tIns="0" bIns="0">
            <a:spAutoFit/>
          </a:bodyPr>
          <a:lstStyle/>
          <a:p>
            <a:pPr algn="l"/>
            <a:r>
              <a:rPr sz="1500">
                <a:solidFill>
                  <a:srgbClr val="26323F"/>
                </a:solidFill>
                <a:latin typeface="Times New Roman"/>
              </a:rPr>
              <a:t>Measure how aspect sentiment differs across the five platforms</a:t>
            </a:r>
          </a:p>
        </p:txBody>
      </p:sp>
      <p:sp>
        <p:nvSpPr>
          <p:cNvPr id="15" name="Objective card 3"/>
          <p:cNvSpPr/>
          <p:nvPr/>
        </p:nvSpPr>
        <p:spPr>
          <a:xfrm>
            <a:off x="365760" y="3794760"/>
            <a:ext cx="5120640" cy="114300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bjective num 3"/>
          <p:cNvSpPr/>
          <p:nvPr/>
        </p:nvSpPr>
        <p:spPr>
          <a:xfrm>
            <a:off x="548640" y="4142232"/>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3</a:t>
            </a:r>
          </a:p>
        </p:txBody>
      </p:sp>
      <p:sp>
        <p:nvSpPr>
          <p:cNvPr id="17" name="Objective head 3"/>
          <p:cNvSpPr txBox="1"/>
          <p:nvPr/>
        </p:nvSpPr>
        <p:spPr>
          <a:xfrm>
            <a:off x="1188720" y="3950208"/>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Model comparison</a:t>
            </a:r>
          </a:p>
        </p:txBody>
      </p:sp>
      <p:sp>
        <p:nvSpPr>
          <p:cNvPr id="18" name="Objective text 3"/>
          <p:cNvSpPr txBox="1"/>
          <p:nvPr/>
        </p:nvSpPr>
        <p:spPr>
          <a:xfrm>
            <a:off x="1188720" y="4370832"/>
            <a:ext cx="4206240" cy="502920"/>
          </a:xfrm>
          <a:prstGeom prst="rect">
            <a:avLst/>
          </a:prstGeom>
          <a:noFill/>
        </p:spPr>
        <p:txBody>
          <a:bodyPr wrap="square" anchor="t" lIns="0" rIns="0" tIns="0" bIns="0">
            <a:spAutoFit/>
          </a:bodyPr>
          <a:lstStyle/>
          <a:p>
            <a:pPr algn="l"/>
            <a:r>
              <a:rPr sz="1500">
                <a:solidFill>
                  <a:srgbClr val="26323F"/>
                </a:solidFill>
                <a:latin typeface="Times New Roman"/>
              </a:rPr>
              <a:t>Evaluate LR, RF, XGBoost and fine-tuned BERT on the same split</a:t>
            </a:r>
          </a:p>
        </p:txBody>
      </p:sp>
      <p:sp>
        <p:nvSpPr>
          <p:cNvPr id="19" name="Objective card 4"/>
          <p:cNvSpPr/>
          <p:nvPr/>
        </p:nvSpPr>
        <p:spPr>
          <a:xfrm>
            <a:off x="365760" y="5074919"/>
            <a:ext cx="5120640" cy="1143000"/>
          </a:xfrm>
          <a:prstGeom prst="roundRect">
            <a:avLst>
              <a:gd name="adj" fmla="val 8000"/>
            </a:avLst>
          </a:prstGeom>
          <a:solidFill>
            <a:srgbClr val="EAF4E6"/>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bjective num 4"/>
          <p:cNvSpPr/>
          <p:nvPr/>
        </p:nvSpPr>
        <p:spPr>
          <a:xfrm>
            <a:off x="548640" y="5422391"/>
            <a:ext cx="457200" cy="45720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Times New Roman"/>
              </a:rPr>
              <a:t>4</a:t>
            </a:r>
          </a:p>
        </p:txBody>
      </p:sp>
      <p:sp>
        <p:nvSpPr>
          <p:cNvPr id="21" name="Objective head 4"/>
          <p:cNvSpPr txBox="1"/>
          <p:nvPr/>
        </p:nvSpPr>
        <p:spPr>
          <a:xfrm>
            <a:off x="1188720" y="5230367"/>
            <a:ext cx="4206240" cy="365760"/>
          </a:xfrm>
          <a:prstGeom prst="rect">
            <a:avLst/>
          </a:prstGeom>
          <a:noFill/>
        </p:spPr>
        <p:txBody>
          <a:bodyPr wrap="square" anchor="t" lIns="0" rIns="0" tIns="0" bIns="0">
            <a:spAutoFit/>
          </a:bodyPr>
          <a:lstStyle/>
          <a:p>
            <a:pPr algn="l"/>
            <a:r>
              <a:rPr sz="1900" b="1">
                <a:solidFill>
                  <a:srgbClr val="1F3864"/>
                </a:solidFill>
                <a:latin typeface="Times New Roman"/>
              </a:rPr>
              <a:t>Insights</a:t>
            </a:r>
          </a:p>
        </p:txBody>
      </p:sp>
      <p:sp>
        <p:nvSpPr>
          <p:cNvPr id="22" name="Objective text 4"/>
          <p:cNvSpPr txBox="1"/>
          <p:nvPr/>
        </p:nvSpPr>
        <p:spPr>
          <a:xfrm>
            <a:off x="1188720" y="5650991"/>
            <a:ext cx="4206240" cy="502920"/>
          </a:xfrm>
          <a:prstGeom prst="rect">
            <a:avLst/>
          </a:prstGeom>
          <a:noFill/>
        </p:spPr>
        <p:txBody>
          <a:bodyPr wrap="square" anchor="t" lIns="0" rIns="0" tIns="0" bIns="0">
            <a:spAutoFit/>
          </a:bodyPr>
          <a:lstStyle/>
          <a:p>
            <a:pPr algn="l"/>
            <a:r>
              <a:rPr sz="1500">
                <a:solidFill>
                  <a:srgbClr val="26323F"/>
                </a:solidFill>
                <a:latin typeface="Times New Roman"/>
              </a:rPr>
              <a:t>Report which aspects and platforms drive satisfaction and distrust</a:t>
            </a:r>
          </a:p>
        </p:txBody>
      </p:sp>
      <p:sp>
        <p:nvSpPr>
          <p:cNvPr id="23" name="Aims card"/>
          <p:cNvSpPr/>
          <p:nvPr/>
        </p:nvSpPr>
        <p:spPr>
          <a:xfrm>
            <a:off x="5669280" y="1234440"/>
            <a:ext cx="2926080" cy="49834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ims head"/>
          <p:cNvSpPr txBox="1"/>
          <p:nvPr/>
        </p:nvSpPr>
        <p:spPr>
          <a:xfrm>
            <a:off x="5897880" y="1417320"/>
            <a:ext cx="2468880" cy="411480"/>
          </a:xfrm>
          <a:prstGeom prst="rect">
            <a:avLst/>
          </a:prstGeom>
          <a:noFill/>
        </p:spPr>
        <p:txBody>
          <a:bodyPr wrap="square" anchor="t" lIns="0" rIns="0" tIns="0" bIns="0">
            <a:spAutoFit/>
          </a:bodyPr>
          <a:lstStyle/>
          <a:p>
            <a:pPr algn="l"/>
            <a:r>
              <a:rPr sz="1900" b="1">
                <a:solidFill>
                  <a:srgbClr val="1F6F78"/>
                </a:solidFill>
                <a:latin typeface="Times New Roman"/>
              </a:rPr>
              <a:t>The study aims to</a:t>
            </a:r>
          </a:p>
        </p:txBody>
      </p:sp>
      <p:sp>
        <p:nvSpPr>
          <p:cNvPr id="25" name="Aims points"/>
          <p:cNvSpPr txBox="1"/>
          <p:nvPr/>
        </p:nvSpPr>
        <p:spPr>
          <a:xfrm>
            <a:off x="5897880" y="1965960"/>
            <a:ext cx="2514600" cy="3931920"/>
          </a:xfrm>
          <a:prstGeom prst="rect">
            <a:avLst/>
          </a:prstGeom>
          <a:noFill/>
        </p:spPr>
        <p:txBody>
          <a:bodyPr wrap="square" anchor="t" lIns="0" rIns="0" tIns="0" bIns="0">
            <a:spAutoFit/>
          </a:bodyPr>
          <a:lstStyle/>
          <a:p>
            <a:pPr marL="228600" indent="-228600">
              <a:spcAft>
                <a:spcPts val="900"/>
              </a:spcAft>
              <a:buFont typeface="Arial"/>
              <a:buChar char="•"/>
            </a:pPr>
            <a:r>
              <a:rPr sz="1600">
                <a:solidFill>
                  <a:srgbClr val="26323F"/>
                </a:solidFill>
                <a:latin typeface="Times New Roman"/>
              </a:rPr>
              <a:t>Answer RQ1: which aspects drive satisfaction and dissatisfaction</a:t>
            </a:r>
          </a:p>
          <a:p>
            <a:pPr marL="228600" indent="-228600">
              <a:spcAft>
                <a:spcPts val="900"/>
              </a:spcAft>
              <a:buFont typeface="Arial"/>
              <a:buChar char="•"/>
            </a:pPr>
            <a:r>
              <a:rPr sz="1600">
                <a:solidFill>
                  <a:srgbClr val="26323F"/>
                </a:solidFill>
                <a:latin typeface="Times New Roman"/>
              </a:rPr>
              <a:t>Answer RQ2 and RQ4: how aspect sentiment and trust concerns differ by platform</a:t>
            </a:r>
          </a:p>
          <a:p>
            <a:pPr marL="228600" indent="-228600">
              <a:spcAft>
                <a:spcPts val="900"/>
              </a:spcAft>
              <a:buFont typeface="Arial"/>
              <a:buChar char="•"/>
            </a:pPr>
            <a:r>
              <a:rPr sz="1600">
                <a:solidFill>
                  <a:srgbClr val="26323F"/>
                </a:solidFill>
                <a:latin typeface="Times New Roman"/>
              </a:rPr>
              <a:t>Answer RQ3: which model is most reliable for this task</a:t>
            </a:r>
          </a:p>
          <a:p>
            <a:pPr marL="228600" indent="-228600">
              <a:spcAft>
                <a:spcPts val="900"/>
              </a:spcAft>
              <a:buFont typeface="Arial"/>
              <a:buChar char="•"/>
            </a:pPr>
            <a:r>
              <a:rPr sz="1600">
                <a:solidFill>
                  <a:srgbClr val="26323F"/>
                </a:solidFill>
                <a:latin typeface="Times New Roman"/>
              </a:rPr>
              <a:t>Test H1-H4 as hypotheses; answer RQ5 on what platforms can improve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Literature Survey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Survey stat 1"/>
          <p:cNvSpPr/>
          <p:nvPr/>
        </p:nvSpPr>
        <p:spPr>
          <a:xfrm>
            <a:off x="365760" y="1188720"/>
            <a:ext cx="2651760" cy="10972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urvey stat value 1"/>
          <p:cNvSpPr txBox="1"/>
          <p:nvPr/>
        </p:nvSpPr>
        <p:spPr>
          <a:xfrm>
            <a:off x="457200" y="1234440"/>
            <a:ext cx="2468880" cy="548640"/>
          </a:xfrm>
          <a:prstGeom prst="rect">
            <a:avLst/>
          </a:prstGeom>
          <a:noFill/>
        </p:spPr>
        <p:txBody>
          <a:bodyPr wrap="square" anchor="ctr" lIns="0" rIns="0" tIns="0" bIns="0">
            <a:spAutoFit/>
          </a:bodyPr>
          <a:lstStyle/>
          <a:p>
            <a:pPr algn="ctr"/>
            <a:r>
              <a:rPr sz="3000" b="1">
                <a:solidFill>
                  <a:srgbClr val="1F3864"/>
                </a:solidFill>
                <a:latin typeface="Times New Roman"/>
              </a:rPr>
              <a:t>9</a:t>
            </a:r>
          </a:p>
        </p:txBody>
      </p:sp>
      <p:sp>
        <p:nvSpPr>
          <p:cNvPr id="9" name="Survey stat label 1"/>
          <p:cNvSpPr txBox="1"/>
          <p:nvPr/>
        </p:nvSpPr>
        <p:spPr>
          <a:xfrm>
            <a:off x="457200" y="1783080"/>
            <a:ext cx="2468880" cy="457200"/>
          </a:xfrm>
          <a:prstGeom prst="rect">
            <a:avLst/>
          </a:prstGeom>
          <a:noFill/>
        </p:spPr>
        <p:txBody>
          <a:bodyPr wrap="square" anchor="t" lIns="0" rIns="0" tIns="0" bIns="0">
            <a:spAutoFit/>
          </a:bodyPr>
          <a:lstStyle/>
          <a:p>
            <a:pPr algn="ctr"/>
            <a:r>
              <a:rPr sz="1300">
                <a:solidFill>
                  <a:srgbClr val="26323F"/>
                </a:solidFill>
                <a:latin typeface="Times New Roman"/>
              </a:rPr>
              <a:t>studies reviewed</a:t>
            </a:r>
          </a:p>
        </p:txBody>
      </p:sp>
      <p:sp>
        <p:nvSpPr>
          <p:cNvPr id="10" name="Survey stat 2"/>
          <p:cNvSpPr/>
          <p:nvPr/>
        </p:nvSpPr>
        <p:spPr>
          <a:xfrm>
            <a:off x="3200400" y="1188720"/>
            <a:ext cx="2651760" cy="10972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urvey stat value 2"/>
          <p:cNvSpPr txBox="1"/>
          <p:nvPr/>
        </p:nvSpPr>
        <p:spPr>
          <a:xfrm>
            <a:off x="3291840" y="1234440"/>
            <a:ext cx="2468880" cy="548640"/>
          </a:xfrm>
          <a:prstGeom prst="rect">
            <a:avLst/>
          </a:prstGeom>
          <a:noFill/>
        </p:spPr>
        <p:txBody>
          <a:bodyPr wrap="square" anchor="ctr" lIns="0" rIns="0" tIns="0" bIns="0">
            <a:spAutoFit/>
          </a:bodyPr>
          <a:lstStyle/>
          <a:p>
            <a:pPr algn="ctr"/>
            <a:r>
              <a:rPr sz="3000" b="1">
                <a:solidFill>
                  <a:srgbClr val="1F6F78"/>
                </a:solidFill>
                <a:latin typeface="Times New Roman"/>
              </a:rPr>
              <a:t>Reviews</a:t>
            </a:r>
          </a:p>
        </p:txBody>
      </p:sp>
      <p:sp>
        <p:nvSpPr>
          <p:cNvPr id="12" name="Survey stat label 2"/>
          <p:cNvSpPr txBox="1"/>
          <p:nvPr/>
        </p:nvSpPr>
        <p:spPr>
          <a:xfrm>
            <a:off x="3291840" y="1783080"/>
            <a:ext cx="2468880" cy="457200"/>
          </a:xfrm>
          <a:prstGeom prst="rect">
            <a:avLst/>
          </a:prstGeom>
          <a:noFill/>
        </p:spPr>
        <p:txBody>
          <a:bodyPr wrap="square" anchor="t" lIns="0" rIns="0" tIns="0" bIns="0">
            <a:spAutoFit/>
          </a:bodyPr>
          <a:lstStyle/>
          <a:p>
            <a:pPr algn="ctr"/>
            <a:r>
              <a:rPr sz="1300">
                <a:solidFill>
                  <a:srgbClr val="26323F"/>
                </a:solidFill>
                <a:latin typeface="Times New Roman"/>
              </a:rPr>
              <a:t>main focus: product reviews and eWOM</a:t>
            </a:r>
          </a:p>
        </p:txBody>
      </p:sp>
      <p:sp>
        <p:nvSpPr>
          <p:cNvPr id="13" name="Survey stat 3"/>
          <p:cNvSpPr/>
          <p:nvPr/>
        </p:nvSpPr>
        <p:spPr>
          <a:xfrm>
            <a:off x="6035040" y="1188720"/>
            <a:ext cx="2651760" cy="109728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urvey stat value 3"/>
          <p:cNvSpPr txBox="1"/>
          <p:nvPr/>
        </p:nvSpPr>
        <p:spPr>
          <a:xfrm>
            <a:off x="6126480" y="1234440"/>
            <a:ext cx="2468880" cy="548640"/>
          </a:xfrm>
          <a:prstGeom prst="rect">
            <a:avLst/>
          </a:prstGeom>
          <a:noFill/>
        </p:spPr>
        <p:txBody>
          <a:bodyPr wrap="square" anchor="ctr" lIns="0" rIns="0" tIns="0" bIns="0">
            <a:spAutoFit/>
          </a:bodyPr>
          <a:lstStyle/>
          <a:p>
            <a:pPr algn="ctr"/>
            <a:r>
              <a:rPr sz="3000" b="1">
                <a:solidFill>
                  <a:srgbClr val="B03A5B"/>
                </a:solidFill>
                <a:latin typeface="Times New Roman"/>
              </a:rPr>
              <a:t>0</a:t>
            </a:r>
          </a:p>
        </p:txBody>
      </p:sp>
      <p:sp>
        <p:nvSpPr>
          <p:cNvPr id="15" name="Survey stat label 3"/>
          <p:cNvSpPr txBox="1"/>
          <p:nvPr/>
        </p:nvSpPr>
        <p:spPr>
          <a:xfrm>
            <a:off x="6126480" y="1783080"/>
            <a:ext cx="2468880" cy="457200"/>
          </a:xfrm>
          <a:prstGeom prst="rect">
            <a:avLst/>
          </a:prstGeom>
          <a:noFill/>
        </p:spPr>
        <p:txBody>
          <a:bodyPr wrap="square" anchor="t" lIns="0" rIns="0" tIns="0" bIns="0">
            <a:spAutoFit/>
          </a:bodyPr>
          <a:lstStyle/>
          <a:p>
            <a:pPr algn="ctr"/>
            <a:r>
              <a:rPr sz="1300">
                <a:solidFill>
                  <a:srgbClr val="26323F"/>
                </a:solidFill>
                <a:latin typeface="Times New Roman"/>
              </a:rPr>
              <a:t>studies on Indian refurbished marketplaces</a:t>
            </a:r>
          </a:p>
        </p:txBody>
      </p:sp>
      <p:graphicFrame>
        <p:nvGraphicFramePr>
          <p:cNvPr id="16" name="Literature table"/>
          <p:cNvGraphicFramePr>
            <a:graphicFrameLocks noGrp="1"/>
          </p:cNvGraphicFramePr>
          <p:nvPr/>
        </p:nvGraphicFramePr>
        <p:xfrm>
          <a:off x="365760" y="2514600"/>
          <a:ext cx="8229600" cy="2752344"/>
        </p:xfrm>
        <a:graphic>
          <a:graphicData uri="http://schemas.openxmlformats.org/drawingml/2006/table">
            <a:tbl>
              <a:tblPr firstRow="1" bandRow="0">
                <a:tableStyleId>{5C22544A-7EE6-4342-B048-85BDC9FD1C3A}</a:tableStyleId>
              </a:tblPr>
              <a:tblGrid>
                <a:gridCol w="2103120"/>
                <a:gridCol w="3657600"/>
                <a:gridCol w="2468880"/>
              </a:tblGrid>
              <a:tr h="393192">
                <a:tc>
                  <a:txBody>
                    <a:bodyPr wrap="square"/>
                    <a:lstStyle/>
                    <a:p>
                      <a:r>
                        <a:rPr sz="1400" b="1">
                          <a:solidFill>
                            <a:srgbClr val="FFFFFF"/>
                          </a:solidFill>
                          <a:latin typeface="Times New Roman"/>
                        </a:rPr>
                        <a:t>Approach</a:t>
                      </a:r>
                    </a:p>
                  </a:txBody>
                  <a:tcPr marL="91440" marR="91440" marT="36576" marB="36576" anchor="ctr">
                    <a:solidFill>
                      <a:srgbClr val="1F3864"/>
                    </a:solidFill>
                  </a:tcPr>
                </a:tc>
                <a:tc>
                  <a:txBody>
                    <a:bodyPr wrap="square"/>
                    <a:lstStyle/>
                    <a:p>
                      <a:r>
                        <a:rPr sz="1400" b="1">
                          <a:solidFill>
                            <a:srgbClr val="FFFFFF"/>
                          </a:solidFill>
                          <a:latin typeface="Times New Roman"/>
                        </a:rPr>
                        <a:t>Examples</a:t>
                      </a:r>
                    </a:p>
                  </a:txBody>
                  <a:tcPr marL="91440" marR="91440" marT="36576" marB="36576" anchor="ctr">
                    <a:solidFill>
                      <a:srgbClr val="1F3864"/>
                    </a:solidFill>
                  </a:tcPr>
                </a:tc>
                <a:tc>
                  <a:txBody>
                    <a:bodyPr wrap="square"/>
                    <a:lstStyle/>
                    <a:p>
                      <a:r>
                        <a:rPr sz="1400" b="1">
                          <a:solidFill>
                            <a:srgbClr val="FFFFFF"/>
                          </a:solidFill>
                          <a:latin typeface="Times New Roman"/>
                        </a:rPr>
                        <a:t>Refs</a:t>
                      </a:r>
                    </a:p>
                  </a:txBody>
                  <a:tcPr marL="91440" marR="91440" marT="36576" marB="36576" anchor="ctr">
                    <a:solidFill>
                      <a:srgbClr val="1F3864"/>
                    </a:solidFill>
                  </a:tcPr>
                </a:tc>
              </a:tr>
              <a:tr h="393192">
                <a:tc>
                  <a:txBody>
                    <a:bodyPr wrap="square"/>
                    <a:lstStyle/>
                    <a:p>
                      <a:r>
                        <a:rPr sz="1400" b="1">
                          <a:solidFill>
                            <a:srgbClr val="1F3864"/>
                          </a:solidFill>
                          <a:latin typeface="Times New Roman"/>
                        </a:rPr>
                        <a:t>Online reviews and eWOM</a:t>
                      </a:r>
                    </a:p>
                  </a:txBody>
                  <a:tcPr marL="91440" marR="91440" marT="36576" marB="36576" anchor="ctr">
                    <a:solidFill>
                      <a:srgbClr val="FFFFFF"/>
                    </a:solidFill>
                  </a:tcPr>
                </a:tc>
                <a:tc>
                  <a:txBody>
                    <a:bodyPr wrap="square"/>
                    <a:lstStyle/>
                    <a:p>
                      <a:r>
                        <a:rPr sz="1400" b="0">
                          <a:solidFill>
                            <a:srgbClr val="26323F"/>
                          </a:solidFill>
                          <a:latin typeface="Times New Roman"/>
                        </a:rPr>
                        <a:t>Review valence and volume affect sales</a:t>
                      </a:r>
                    </a:p>
                  </a:txBody>
                  <a:tcPr marL="91440" marR="91440" marT="36576" marB="36576" anchor="ctr">
                    <a:solidFill>
                      <a:srgbClr val="FFFFFF"/>
                    </a:solidFill>
                  </a:tcPr>
                </a:tc>
                <a:tc>
                  <a:txBody>
                    <a:bodyPr wrap="square"/>
                    <a:lstStyle/>
                    <a:p>
                      <a:r>
                        <a:rPr sz="1400" b="0">
                          <a:solidFill>
                            <a:srgbClr val="26323F"/>
                          </a:solidFill>
                          <a:latin typeface="Times New Roman"/>
                        </a:rPr>
                        <a:t>[1]</a:t>
                      </a:r>
                    </a:p>
                  </a:txBody>
                  <a:tcPr marL="91440" marR="91440" marT="36576" marB="36576" anchor="ctr">
                    <a:solidFill>
                      <a:srgbClr val="FFFFFF"/>
                    </a:solidFill>
                  </a:tcPr>
                </a:tc>
              </a:tr>
              <a:tr h="393192">
                <a:tc>
                  <a:txBody>
                    <a:bodyPr wrap="square"/>
                    <a:lstStyle/>
                    <a:p>
                      <a:r>
                        <a:rPr sz="1400" b="1">
                          <a:solidFill>
                            <a:srgbClr val="1F3864"/>
                          </a:solidFill>
                          <a:latin typeface="Times New Roman"/>
                        </a:rPr>
                        <a:t>Sentiment analysis</a:t>
                      </a:r>
                    </a:p>
                  </a:txBody>
                  <a:tcPr marL="91440" marR="91440" marT="36576" marB="36576" anchor="ctr">
                    <a:solidFill>
                      <a:srgbClr val="EEF4F8"/>
                    </a:solidFill>
                  </a:tcPr>
                </a:tc>
                <a:tc>
                  <a:txBody>
                    <a:bodyPr wrap="square"/>
                    <a:lstStyle/>
                    <a:p>
                      <a:r>
                        <a:rPr sz="1400" b="0">
                          <a:solidFill>
                            <a:srgbClr val="26323F"/>
                          </a:solidFill>
                          <a:latin typeface="Times New Roman"/>
                        </a:rPr>
                        <a:t>Opinion mining and polarity classification</a:t>
                      </a:r>
                    </a:p>
                  </a:txBody>
                  <a:tcPr marL="91440" marR="91440" marT="36576" marB="36576" anchor="ctr">
                    <a:solidFill>
                      <a:srgbClr val="EEF4F8"/>
                    </a:solidFill>
                  </a:tcPr>
                </a:tc>
                <a:tc>
                  <a:txBody>
                    <a:bodyPr wrap="square"/>
                    <a:lstStyle/>
                    <a:p>
                      <a:r>
                        <a:rPr sz="1400" b="0">
                          <a:solidFill>
                            <a:srgbClr val="26323F"/>
                          </a:solidFill>
                          <a:latin typeface="Times New Roman"/>
                        </a:rPr>
                        <a:t>[2], [3]</a:t>
                      </a:r>
                    </a:p>
                  </a:txBody>
                  <a:tcPr marL="91440" marR="91440" marT="36576" marB="36576" anchor="ctr">
                    <a:solidFill>
                      <a:srgbClr val="EEF4F8"/>
                    </a:solidFill>
                  </a:tcPr>
                </a:tc>
              </a:tr>
              <a:tr h="393192">
                <a:tc>
                  <a:txBody>
                    <a:bodyPr wrap="square"/>
                    <a:lstStyle/>
                    <a:p>
                      <a:r>
                        <a:rPr sz="1400" b="1">
                          <a:solidFill>
                            <a:srgbClr val="1F3864"/>
                          </a:solidFill>
                          <a:latin typeface="Times New Roman"/>
                        </a:rPr>
                        <a:t>Aspect-based sentiment analysis</a:t>
                      </a:r>
                    </a:p>
                  </a:txBody>
                  <a:tcPr marL="91440" marR="91440" marT="36576" marB="36576" anchor="ctr">
                    <a:solidFill>
                      <a:srgbClr val="FFFFFF"/>
                    </a:solidFill>
                  </a:tcPr>
                </a:tc>
                <a:tc>
                  <a:txBody>
                    <a:bodyPr wrap="square"/>
                    <a:lstStyle/>
                    <a:p>
                      <a:r>
                        <a:rPr sz="1400" b="0">
                          <a:solidFill>
                            <a:srgbClr val="26323F"/>
                          </a:solidFill>
                          <a:latin typeface="Times New Roman"/>
                        </a:rPr>
                        <a:t>SemEval ABSA shared tasks define the task</a:t>
                      </a:r>
                    </a:p>
                  </a:txBody>
                  <a:tcPr marL="91440" marR="91440" marT="36576" marB="36576" anchor="ctr">
                    <a:solidFill>
                      <a:srgbClr val="FFFFFF"/>
                    </a:solidFill>
                  </a:tcPr>
                </a:tc>
                <a:tc>
                  <a:txBody>
                    <a:bodyPr wrap="square"/>
                    <a:lstStyle/>
                    <a:p>
                      <a:r>
                        <a:rPr sz="1400" b="0">
                          <a:solidFill>
                            <a:srgbClr val="26323F"/>
                          </a:solidFill>
                          <a:latin typeface="Times New Roman"/>
                        </a:rPr>
                        <a:t>[5], [6]</a:t>
                      </a:r>
                    </a:p>
                  </a:txBody>
                  <a:tcPr marL="91440" marR="91440" marT="36576" marB="36576" anchor="ctr">
                    <a:solidFill>
                      <a:srgbClr val="FFFFFF"/>
                    </a:solidFill>
                  </a:tcPr>
                </a:tc>
              </a:tr>
              <a:tr h="393192">
                <a:tc>
                  <a:txBody>
                    <a:bodyPr wrap="square"/>
                    <a:lstStyle/>
                    <a:p>
                      <a:r>
                        <a:rPr sz="1400" b="1">
                          <a:solidFill>
                            <a:srgbClr val="1F3864"/>
                          </a:solidFill>
                          <a:latin typeface="Times New Roman"/>
                        </a:rPr>
                        <a:t>Classical ML</a:t>
                      </a:r>
                    </a:p>
                  </a:txBody>
                  <a:tcPr marL="91440" marR="91440" marT="36576" marB="36576" anchor="ctr">
                    <a:solidFill>
                      <a:srgbClr val="EEF4F8"/>
                    </a:solidFill>
                  </a:tcPr>
                </a:tc>
                <a:tc>
                  <a:txBody>
                    <a:bodyPr wrap="square"/>
                    <a:lstStyle/>
                    <a:p>
                      <a:r>
                        <a:rPr sz="1400" b="0">
                          <a:solidFill>
                            <a:srgbClr val="26323F"/>
                          </a:solidFill>
                          <a:latin typeface="Times New Roman"/>
                        </a:rPr>
                        <a:t>Feature and lexicon based classifiers</a:t>
                      </a:r>
                    </a:p>
                  </a:txBody>
                  <a:tcPr marL="91440" marR="91440" marT="36576" marB="36576" anchor="ctr">
                    <a:solidFill>
                      <a:srgbClr val="EEF4F8"/>
                    </a:solidFill>
                  </a:tcPr>
                </a:tc>
                <a:tc>
                  <a:txBody>
                    <a:bodyPr wrap="square"/>
                    <a:lstStyle/>
                    <a:p>
                      <a:r>
                        <a:rPr sz="1400" b="0">
                          <a:solidFill>
                            <a:srgbClr val="26323F"/>
                          </a:solidFill>
                          <a:latin typeface="Times New Roman"/>
                        </a:rPr>
                        <a:t>[3], [4]</a:t>
                      </a:r>
                    </a:p>
                  </a:txBody>
                  <a:tcPr marL="91440" marR="91440" marT="36576" marB="36576" anchor="ctr">
                    <a:solidFill>
                      <a:srgbClr val="EEF4F8"/>
                    </a:solidFill>
                  </a:tcPr>
                </a:tc>
              </a:tr>
              <a:tr h="393192">
                <a:tc>
                  <a:txBody>
                    <a:bodyPr wrap="square"/>
                    <a:lstStyle/>
                    <a:p>
                      <a:r>
                        <a:rPr sz="1400" b="1">
                          <a:solidFill>
                            <a:srgbClr val="1F3864"/>
                          </a:solidFill>
                          <a:latin typeface="Times New Roman"/>
                        </a:rPr>
                        <a:t>BERT / transformers</a:t>
                      </a:r>
                    </a:p>
                  </a:txBody>
                  <a:tcPr marL="91440" marR="91440" marT="36576" marB="36576" anchor="ctr">
                    <a:solidFill>
                      <a:srgbClr val="FFFFFF"/>
                    </a:solidFill>
                  </a:tcPr>
                </a:tc>
                <a:tc>
                  <a:txBody>
                    <a:bodyPr wrap="square"/>
                    <a:lstStyle/>
                    <a:p>
                      <a:r>
                        <a:rPr sz="1400" b="0">
                          <a:solidFill>
                            <a:srgbClr val="26323F"/>
                          </a:solidFill>
                          <a:latin typeface="Times New Roman"/>
                        </a:rPr>
                        <a:t>Attention encoders, fine-tuned for classification</a:t>
                      </a:r>
                    </a:p>
                  </a:txBody>
                  <a:tcPr marL="91440" marR="91440" marT="36576" marB="36576" anchor="ctr">
                    <a:solidFill>
                      <a:srgbClr val="FFFFFF"/>
                    </a:solidFill>
                  </a:tcPr>
                </a:tc>
                <a:tc>
                  <a:txBody>
                    <a:bodyPr wrap="square"/>
                    <a:lstStyle/>
                    <a:p>
                      <a:r>
                        <a:rPr sz="1400" b="0">
                          <a:solidFill>
                            <a:srgbClr val="26323F"/>
                          </a:solidFill>
                          <a:latin typeface="Times New Roman"/>
                        </a:rPr>
                        <a:t>[7], [8]</a:t>
                      </a:r>
                    </a:p>
                  </a:txBody>
                  <a:tcPr marL="91440" marR="91440" marT="36576" marB="36576" anchor="ctr">
                    <a:solidFill>
                      <a:srgbClr val="FFFFFF"/>
                    </a:solidFill>
                  </a:tcPr>
                </a:tc>
              </a:tr>
              <a:tr h="393192">
                <a:tc>
                  <a:txBody>
                    <a:bodyPr wrap="square"/>
                    <a:lstStyle/>
                    <a:p>
                      <a:r>
                        <a:rPr sz="1400" b="1">
                          <a:solidFill>
                            <a:srgbClr val="1F3864"/>
                          </a:solidFill>
                          <a:latin typeface="Times New Roman"/>
                        </a:rPr>
                        <a:t>Refurbished context</a:t>
                      </a:r>
                    </a:p>
                  </a:txBody>
                  <a:tcPr marL="91440" marR="91440" marT="36576" marB="36576" anchor="ctr">
                    <a:solidFill>
                      <a:srgbClr val="EEF4F8"/>
                    </a:solidFill>
                  </a:tcPr>
                </a:tc>
                <a:tc>
                  <a:txBody>
                    <a:bodyPr wrap="square"/>
                    <a:lstStyle/>
                    <a:p>
                      <a:r>
                        <a:rPr sz="1400" b="0">
                          <a:solidFill>
                            <a:srgbClr val="26323F"/>
                          </a:solidFill>
                          <a:latin typeface="Times New Roman"/>
                        </a:rPr>
                        <a:t>No dedicated ABSA study found for Indian refurbished marketplaces</a:t>
                      </a:r>
                    </a:p>
                  </a:txBody>
                  <a:tcPr marL="91440" marR="91440" marT="36576" marB="36576" anchor="ctr">
                    <a:solidFill>
                      <a:srgbClr val="EEF4F8"/>
                    </a:solidFill>
                  </a:tcPr>
                </a:tc>
                <a:tc>
                  <a:txBody>
                    <a:bodyPr wrap="square"/>
                    <a:lstStyle/>
                    <a:p>
                      <a:r>
                        <a:rPr sz="1400" b="0">
                          <a:solidFill>
                            <a:srgbClr val="26323F"/>
                          </a:solidFill>
                          <a:latin typeface="Times New Roman"/>
                        </a:rPr>
                        <a:t>-</a:t>
                      </a:r>
                    </a:p>
                  </a:txBody>
                  <a:tcPr marL="91440" marR="91440" marT="36576" marB="36576" anchor="ctr">
                    <a:solidFill>
                      <a:srgbClr val="EEF4F8"/>
                    </a:solidFill>
                  </a:tcPr>
                </a:tc>
              </a:tr>
            </a:tbl>
          </a:graphicData>
        </a:graphic>
      </p:graphicFrame>
      <p:sp>
        <p:nvSpPr>
          <p:cNvPr id="17" name="Survey takeaway"/>
          <p:cNvSpPr txBox="1"/>
          <p:nvPr/>
        </p:nvSpPr>
        <p:spPr>
          <a:xfrm>
            <a:off x="365760" y="5669280"/>
            <a:ext cx="8229600" cy="365760"/>
          </a:xfrm>
          <a:prstGeom prst="rect">
            <a:avLst/>
          </a:prstGeom>
          <a:noFill/>
        </p:spPr>
        <p:txBody>
          <a:bodyPr wrap="square" anchor="t" lIns="0" rIns="0" tIns="0" bIns="0">
            <a:spAutoFit/>
          </a:bodyPr>
          <a:lstStyle/>
          <a:p>
            <a:pPr algn="ctr"/>
            <a:r>
              <a:rPr sz="1500" i="1">
                <a:solidFill>
                  <a:srgbClr val="556575"/>
                </a:solidFill>
                <a:latin typeface="Times New Roman"/>
              </a:rPr>
              <a:t>ABSA and transformers are mature for new products; refurbished electronics in India remain unexamined.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Research Gap</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graphicFrame>
        <p:nvGraphicFramePr>
          <p:cNvPr id="7" name="Gap table"/>
          <p:cNvGraphicFramePr>
            <a:graphicFrameLocks noGrp="1"/>
          </p:cNvGraphicFramePr>
          <p:nvPr/>
        </p:nvGraphicFramePr>
        <p:xfrm>
          <a:off x="365760" y="1188720"/>
          <a:ext cx="8229600" cy="2468880"/>
        </p:xfrm>
        <a:graphic>
          <a:graphicData uri="http://schemas.openxmlformats.org/drawingml/2006/table">
            <a:tbl>
              <a:tblPr firstRow="1" bandRow="0">
                <a:tableStyleId>{5C22544A-7EE6-4342-B048-85BDC9FD1C3A}</a:tableStyleId>
              </a:tblPr>
              <a:tblGrid>
                <a:gridCol w="1737360"/>
                <a:gridCol w="3200400"/>
                <a:gridCol w="3291840"/>
              </a:tblGrid>
              <a:tr h="411480">
                <a:tc>
                  <a:txBody>
                    <a:bodyPr wrap="square"/>
                    <a:lstStyle/>
                    <a:p>
                      <a:r>
                        <a:rPr sz="1500" b="1">
                          <a:solidFill>
                            <a:srgbClr val="FFFFFF"/>
                          </a:solidFill>
                          <a:latin typeface="Times New Roman"/>
                        </a:rPr>
                        <a:t>Aspect</a:t>
                      </a:r>
                    </a:p>
                  </a:txBody>
                  <a:tcPr marL="91440" marR="91440" marT="36576" marB="36576" anchor="ctr">
                    <a:solidFill>
                      <a:srgbClr val="1F3864"/>
                    </a:solidFill>
                  </a:tcPr>
                </a:tc>
                <a:tc>
                  <a:txBody>
                    <a:bodyPr wrap="square"/>
                    <a:lstStyle/>
                    <a:p>
                      <a:r>
                        <a:rPr sz="1500" b="1">
                          <a:solidFill>
                            <a:srgbClr val="FFFFFF"/>
                          </a:solidFill>
                          <a:latin typeface="Times New Roman"/>
                        </a:rPr>
                        <a:t>Existing literature</a:t>
                      </a:r>
                    </a:p>
                  </a:txBody>
                  <a:tcPr marL="91440" marR="91440" marT="36576" marB="36576" anchor="ctr">
                    <a:solidFill>
                      <a:srgbClr val="1F3864"/>
                    </a:solidFill>
                  </a:tcPr>
                </a:tc>
                <a:tc>
                  <a:txBody>
                    <a:bodyPr wrap="square"/>
                    <a:lstStyle/>
                    <a:p>
                      <a:r>
                        <a:rPr sz="1500" b="1">
                          <a:solidFill>
                            <a:srgbClr val="FFFFFF"/>
                          </a:solidFill>
                          <a:latin typeface="Times New Roman"/>
                        </a:rPr>
                        <a:t>This project</a:t>
                      </a:r>
                    </a:p>
                  </a:txBody>
                  <a:tcPr marL="91440" marR="91440" marT="36576" marB="36576" anchor="ctr">
                    <a:solidFill>
                      <a:srgbClr val="1F3864"/>
                    </a:solidFill>
                  </a:tcPr>
                </a:tc>
              </a:tr>
              <a:tr h="411480">
                <a:tc>
                  <a:txBody>
                    <a:bodyPr wrap="square"/>
                    <a:lstStyle/>
                    <a:p>
                      <a:r>
                        <a:rPr sz="1500" b="1">
                          <a:solidFill>
                            <a:srgbClr val="1F3864"/>
                          </a:solidFill>
                          <a:latin typeface="Times New Roman"/>
                        </a:rPr>
                        <a:t>Granularity</a:t>
                      </a:r>
                    </a:p>
                  </a:txBody>
                  <a:tcPr marL="91440" marR="91440" marT="36576" marB="36576" anchor="ctr">
                    <a:solidFill>
                      <a:srgbClr val="FFFFFF"/>
                    </a:solidFill>
                  </a:tcPr>
                </a:tc>
                <a:tc>
                  <a:txBody>
                    <a:bodyPr wrap="square"/>
                    <a:lstStyle/>
                    <a:p>
                      <a:r>
                        <a:rPr sz="1500" b="0">
                          <a:solidFill>
                            <a:srgbClr val="26323F"/>
                          </a:solidFill>
                          <a:latin typeface="Times New Roman"/>
                        </a:rPr>
                        <a:t>Whole-review or document-level labels</a:t>
                      </a:r>
                    </a:p>
                  </a:txBody>
                  <a:tcPr marL="91440" marR="91440" marT="36576" marB="36576" anchor="ctr">
                    <a:solidFill>
                      <a:srgbClr val="FFFFFF"/>
                    </a:solidFill>
                  </a:tcPr>
                </a:tc>
                <a:tc>
                  <a:txBody>
                    <a:bodyPr wrap="square"/>
                    <a:lstStyle/>
                    <a:p>
                      <a:r>
                        <a:rPr sz="1500" b="0">
                          <a:solidFill>
                            <a:srgbClr val="26323F"/>
                          </a:solidFill>
                          <a:latin typeface="Times New Roman"/>
                        </a:rPr>
                        <a:t>Aspect level: nine aspects per review</a:t>
                      </a:r>
                    </a:p>
                  </a:txBody>
                  <a:tcPr marL="91440" marR="91440" marT="36576" marB="36576" anchor="ctr">
                    <a:solidFill>
                      <a:srgbClr val="FFFFFF"/>
                    </a:solidFill>
                  </a:tcPr>
                </a:tc>
              </a:tr>
              <a:tr h="411480">
                <a:tc>
                  <a:txBody>
                    <a:bodyPr wrap="square"/>
                    <a:lstStyle/>
                    <a:p>
                      <a:r>
                        <a:rPr sz="1500" b="1">
                          <a:solidFill>
                            <a:srgbClr val="1F3864"/>
                          </a:solidFill>
                          <a:latin typeface="Times New Roman"/>
                        </a:rPr>
                        <a:t>Domain</a:t>
                      </a:r>
                    </a:p>
                  </a:txBody>
                  <a:tcPr marL="91440" marR="91440" marT="36576" marB="36576" anchor="ctr">
                    <a:solidFill>
                      <a:srgbClr val="EEF4F8"/>
                    </a:solidFill>
                  </a:tcPr>
                </a:tc>
                <a:tc>
                  <a:txBody>
                    <a:bodyPr wrap="square"/>
                    <a:lstStyle/>
                    <a:p>
                      <a:r>
                        <a:rPr sz="1500" b="0">
                          <a:solidFill>
                            <a:srgbClr val="26323F"/>
                          </a:solidFill>
                          <a:latin typeface="Times New Roman"/>
                        </a:rPr>
                        <a:t>New products, general e-commerce</a:t>
                      </a:r>
                    </a:p>
                  </a:txBody>
                  <a:tcPr marL="91440" marR="91440" marT="36576" marB="36576" anchor="ctr">
                    <a:solidFill>
                      <a:srgbClr val="EEF4F8"/>
                    </a:solidFill>
                  </a:tcPr>
                </a:tc>
                <a:tc>
                  <a:txBody>
                    <a:bodyPr wrap="square"/>
                    <a:lstStyle/>
                    <a:p>
                      <a:r>
                        <a:rPr sz="1500" b="0">
                          <a:solidFill>
                            <a:srgbClr val="26323F"/>
                          </a:solidFill>
                          <a:latin typeface="Times New Roman"/>
                        </a:rPr>
                        <a:t>Refurbished electronics (phones, laptops, DSLR)</a:t>
                      </a:r>
                    </a:p>
                  </a:txBody>
                  <a:tcPr marL="91440" marR="91440" marT="36576" marB="36576" anchor="ctr">
                    <a:solidFill>
                      <a:srgbClr val="EEF4F8"/>
                    </a:solidFill>
                  </a:tcPr>
                </a:tc>
              </a:tr>
              <a:tr h="411480">
                <a:tc>
                  <a:txBody>
                    <a:bodyPr wrap="square"/>
                    <a:lstStyle/>
                    <a:p>
                      <a:r>
                        <a:rPr sz="1500" b="1">
                          <a:solidFill>
                            <a:srgbClr val="1F3864"/>
                          </a:solidFill>
                          <a:latin typeface="Times New Roman"/>
                        </a:rPr>
                        <a:t>Platforms</a:t>
                      </a:r>
                    </a:p>
                  </a:txBody>
                  <a:tcPr marL="91440" marR="91440" marT="36576" marB="36576" anchor="ctr">
                    <a:solidFill>
                      <a:srgbClr val="FFFFFF"/>
                    </a:solidFill>
                  </a:tcPr>
                </a:tc>
                <a:tc>
                  <a:txBody>
                    <a:bodyPr wrap="square"/>
                    <a:lstStyle/>
                    <a:p>
                      <a:r>
                        <a:rPr sz="1500" b="0">
                          <a:solidFill>
                            <a:srgbClr val="26323F"/>
                          </a:solidFill>
                          <a:latin typeface="Times New Roman"/>
                        </a:rPr>
                        <a:t>Usually one marketplace</a:t>
                      </a:r>
                    </a:p>
                  </a:txBody>
                  <a:tcPr marL="91440" marR="91440" marT="36576" marB="36576" anchor="ctr">
                    <a:solidFill>
                      <a:srgbClr val="FFFFFF"/>
                    </a:solidFill>
                  </a:tcPr>
                </a:tc>
                <a:tc>
                  <a:txBody>
                    <a:bodyPr wrap="square"/>
                    <a:lstStyle/>
                    <a:p>
                      <a:r>
                        <a:rPr sz="1500" b="0">
                          <a:solidFill>
                            <a:srgbClr val="26323F"/>
                          </a:solidFill>
                          <a:latin typeface="Times New Roman"/>
                        </a:rPr>
                        <a:t>Five Indian platforms under one taxonomy</a:t>
                      </a:r>
                    </a:p>
                  </a:txBody>
                  <a:tcPr marL="91440" marR="91440" marT="36576" marB="36576" anchor="ctr">
                    <a:solidFill>
                      <a:srgbClr val="FFFFFF"/>
                    </a:solidFill>
                  </a:tcPr>
                </a:tc>
              </a:tr>
              <a:tr h="411480">
                <a:tc>
                  <a:txBody>
                    <a:bodyPr wrap="square"/>
                    <a:lstStyle/>
                    <a:p>
                      <a:r>
                        <a:rPr sz="1500" b="1">
                          <a:solidFill>
                            <a:srgbClr val="1F3864"/>
                          </a:solidFill>
                          <a:latin typeface="Times New Roman"/>
                        </a:rPr>
                        <a:t>Method</a:t>
                      </a:r>
                    </a:p>
                  </a:txBody>
                  <a:tcPr marL="91440" marR="91440" marT="36576" marB="36576" anchor="ctr">
                    <a:solidFill>
                      <a:srgbClr val="EEF4F8"/>
                    </a:solidFill>
                  </a:tcPr>
                </a:tc>
                <a:tc>
                  <a:txBody>
                    <a:bodyPr wrap="square"/>
                    <a:lstStyle/>
                    <a:p>
                      <a:r>
                        <a:rPr sz="1500" b="0">
                          <a:solidFill>
                            <a:srgbClr val="26323F"/>
                          </a:solidFill>
                          <a:latin typeface="Times New Roman"/>
                        </a:rPr>
                        <a:t>Classical ML or transformers alone</a:t>
                      </a:r>
                    </a:p>
                  </a:txBody>
                  <a:tcPr marL="91440" marR="91440" marT="36576" marB="36576" anchor="ctr">
                    <a:solidFill>
                      <a:srgbClr val="EEF4F8"/>
                    </a:solidFill>
                  </a:tcPr>
                </a:tc>
                <a:tc>
                  <a:txBody>
                    <a:bodyPr wrap="square"/>
                    <a:lstStyle/>
                    <a:p>
                      <a:r>
                        <a:rPr sz="1500" b="0">
                          <a:solidFill>
                            <a:srgbClr val="26323F"/>
                          </a:solidFill>
                          <a:latin typeface="Times New Roman"/>
                        </a:rPr>
                        <a:t>Both compared on the same split and labels</a:t>
                      </a:r>
                    </a:p>
                  </a:txBody>
                  <a:tcPr marL="91440" marR="91440" marT="36576" marB="36576" anchor="ctr">
                    <a:solidFill>
                      <a:srgbClr val="EEF4F8"/>
                    </a:solidFill>
                  </a:tcPr>
                </a:tc>
              </a:tr>
              <a:tr h="411480">
                <a:tc>
                  <a:txBody>
                    <a:bodyPr wrap="square"/>
                    <a:lstStyle/>
                    <a:p>
                      <a:r>
                        <a:rPr sz="1500" b="1">
                          <a:solidFill>
                            <a:srgbClr val="1F3864"/>
                          </a:solidFill>
                          <a:latin typeface="Times New Roman"/>
                        </a:rPr>
                        <a:t>Evaluation</a:t>
                      </a:r>
                    </a:p>
                  </a:txBody>
                  <a:tcPr marL="91440" marR="91440" marT="36576" marB="36576" anchor="ctr">
                    <a:solidFill>
                      <a:srgbClr val="FFFFFF"/>
                    </a:solidFill>
                  </a:tcPr>
                </a:tc>
                <a:tc>
                  <a:txBody>
                    <a:bodyPr wrap="square"/>
                    <a:lstStyle/>
                    <a:p>
                      <a:r>
                        <a:rPr sz="1500" b="0">
                          <a:solidFill>
                            <a:srgbClr val="26323F"/>
                          </a:solidFill>
                          <a:latin typeface="Times New Roman"/>
                        </a:rPr>
                        <a:t>Mostly accuracy</a:t>
                      </a:r>
                    </a:p>
                  </a:txBody>
                  <a:tcPr marL="91440" marR="91440" marT="36576" marB="36576" anchor="ctr">
                    <a:solidFill>
                      <a:srgbClr val="FFFFFF"/>
                    </a:solidFill>
                  </a:tcPr>
                </a:tc>
                <a:tc>
                  <a:txBody>
                    <a:bodyPr wrap="square"/>
                    <a:lstStyle/>
                    <a:p>
                      <a:r>
                        <a:rPr sz="1500" b="0">
                          <a:solidFill>
                            <a:srgbClr val="26323F"/>
                          </a:solidFill>
                          <a:latin typeface="Times New Roman"/>
                        </a:rPr>
                        <a:t>Macro precision/recall/F1 plus per-class recall</a:t>
                      </a:r>
                    </a:p>
                  </a:txBody>
                  <a:tcPr marL="91440" marR="91440" marT="36576" marB="36576" anchor="ctr">
                    <a:solidFill>
                      <a:srgbClr val="FFFFFF"/>
                    </a:solidFill>
                  </a:tcPr>
                </a:tc>
              </a:tr>
            </a:tbl>
          </a:graphicData>
        </a:graphic>
      </p:graphicFrame>
      <p:sp>
        <p:nvSpPr>
          <p:cNvPr id="8" name="Gaps card"/>
          <p:cNvSpPr/>
          <p:nvPr/>
        </p:nvSpPr>
        <p:spPr>
          <a:xfrm>
            <a:off x="365760" y="4389120"/>
            <a:ext cx="8229600" cy="19202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aps head"/>
          <p:cNvSpPr txBox="1"/>
          <p:nvPr/>
        </p:nvSpPr>
        <p:spPr>
          <a:xfrm>
            <a:off x="594360" y="4507992"/>
            <a:ext cx="7772400" cy="365760"/>
          </a:xfrm>
          <a:prstGeom prst="rect">
            <a:avLst/>
          </a:prstGeom>
          <a:noFill/>
        </p:spPr>
        <p:txBody>
          <a:bodyPr wrap="square" anchor="t" lIns="0" rIns="0" tIns="0" bIns="0">
            <a:spAutoFit/>
          </a:bodyPr>
          <a:lstStyle/>
          <a:p>
            <a:pPr algn="l"/>
            <a:r>
              <a:rPr sz="1900" b="1">
                <a:solidFill>
                  <a:srgbClr val="1F6F78"/>
                </a:solidFill>
                <a:latin typeface="Times New Roman"/>
              </a:rPr>
              <a:t>Gaps identified</a:t>
            </a:r>
          </a:p>
        </p:txBody>
      </p:sp>
      <p:sp>
        <p:nvSpPr>
          <p:cNvPr id="10" name="Gaps points"/>
          <p:cNvSpPr txBox="1"/>
          <p:nvPr/>
        </p:nvSpPr>
        <p:spPr>
          <a:xfrm>
            <a:off x="594360" y="4956048"/>
            <a:ext cx="7772400" cy="1234440"/>
          </a:xfrm>
          <a:prstGeom prst="rect">
            <a:avLst/>
          </a:prstGeom>
          <a:noFill/>
        </p:spPr>
        <p:txBody>
          <a:bodyPr wrap="square" anchor="t" lIns="0" rIns="0" tIns="0" bIns="0">
            <a:spAutoFit/>
          </a:bodyPr>
          <a:lstStyle/>
          <a:p>
            <a:pPr marL="228600" indent="-228600">
              <a:spcAft>
                <a:spcPts val="500"/>
              </a:spcAft>
              <a:buFont typeface="Arial"/>
              <a:buChar char="•"/>
            </a:pPr>
            <a:r>
              <a:rPr sz="1500">
                <a:solidFill>
                  <a:srgbClr val="26323F"/>
                </a:solidFill>
                <a:latin typeface="Times New Roman"/>
              </a:rPr>
              <a:t>No aspect-level sentiment study of refurbished electronics in India</a:t>
            </a:r>
          </a:p>
          <a:p>
            <a:pPr marL="228600" indent="-228600">
              <a:spcAft>
                <a:spcPts val="500"/>
              </a:spcAft>
              <a:buFont typeface="Arial"/>
              <a:buChar char="•"/>
            </a:pPr>
            <a:r>
              <a:rPr sz="1500">
                <a:solidFill>
                  <a:srgbClr val="26323F"/>
                </a:solidFill>
                <a:latin typeface="Times New Roman"/>
              </a:rPr>
              <a:t>No common aspect taxonomy applied across five Indian marketplaces</a:t>
            </a:r>
          </a:p>
          <a:p>
            <a:pPr marL="228600" indent="-228600">
              <a:spcAft>
                <a:spcPts val="500"/>
              </a:spcAft>
              <a:buFont typeface="Arial"/>
              <a:buChar char="•"/>
            </a:pPr>
            <a:r>
              <a:rPr sz="1500">
                <a:solidFill>
                  <a:srgbClr val="26323F"/>
                </a:solidFill>
                <a:latin typeface="Times New Roman"/>
              </a:rPr>
              <a:t>Classical ML and BERT are rarely compared on the same split for this domain</a:t>
            </a:r>
          </a:p>
          <a:p>
            <a:pPr marL="228600" indent="-228600">
              <a:spcAft>
                <a:spcPts val="500"/>
              </a:spcAft>
              <a:buFont typeface="Arial"/>
              <a:buChar char="•"/>
            </a:pPr>
            <a:r>
              <a:rPr sz="1500">
                <a:solidFill>
                  <a:srgbClr val="26323F"/>
                </a:solidFill>
                <a:latin typeface="Times New Roman"/>
              </a:rPr>
              <a:t>Neutral and mixed reviews are usually dropped; here they are kept and evaluated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Problem Statement</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Problem card"/>
          <p:cNvSpPr/>
          <p:nvPr/>
        </p:nvSpPr>
        <p:spPr>
          <a:xfrm>
            <a:off x="365760" y="1188720"/>
            <a:ext cx="8229600" cy="1371600"/>
          </a:xfrm>
          <a:prstGeom prst="roundRect">
            <a:avLst>
              <a:gd name="adj" fmla="val 8000"/>
            </a:avLst>
          </a:prstGeom>
          <a:solidFill>
            <a:srgbClr val="E6EFF8"/>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blem statement text"/>
          <p:cNvSpPr txBox="1"/>
          <p:nvPr/>
        </p:nvSpPr>
        <p:spPr>
          <a:xfrm>
            <a:off x="640080" y="1280160"/>
            <a:ext cx="7680960" cy="1188720"/>
          </a:xfrm>
          <a:prstGeom prst="rect">
            <a:avLst/>
          </a:prstGeom>
          <a:noFill/>
        </p:spPr>
        <p:txBody>
          <a:bodyPr wrap="square" anchor="ctr" lIns="0" rIns="0" tIns="0" bIns="0">
            <a:spAutoFit/>
          </a:bodyPr>
          <a:lstStyle/>
          <a:p>
            <a:pPr algn="l"/>
            <a:r>
              <a:rPr sz="1800">
                <a:solidFill>
                  <a:srgbClr val="1F3864"/>
                </a:solidFill>
                <a:latin typeface="Times New Roman"/>
              </a:rPr>
              <a:t>Refurbished electronics reviews are mixed, platform-specific and hard to summarise with a single label; an aspect-level, multi-model analysis is needed to show what drives trust and dissatisfaction.</a:t>
            </a:r>
          </a:p>
        </p:txBody>
      </p:sp>
      <p:sp>
        <p:nvSpPr>
          <p:cNvPr id="9" name="Need card 1"/>
          <p:cNvSpPr/>
          <p:nvPr/>
        </p:nvSpPr>
        <p:spPr>
          <a:xfrm>
            <a:off x="365760" y="2743200"/>
            <a:ext cx="2651760" cy="23317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eed head 1"/>
          <p:cNvSpPr txBox="1"/>
          <p:nvPr/>
        </p:nvSpPr>
        <p:spPr>
          <a:xfrm>
            <a:off x="548640" y="2880360"/>
            <a:ext cx="2286000" cy="365760"/>
          </a:xfrm>
          <a:prstGeom prst="rect">
            <a:avLst/>
          </a:prstGeom>
          <a:noFill/>
        </p:spPr>
        <p:txBody>
          <a:bodyPr wrap="square" anchor="t" lIns="0" rIns="0" tIns="0" bIns="0">
            <a:spAutoFit/>
          </a:bodyPr>
          <a:lstStyle/>
          <a:p>
            <a:pPr algn="l"/>
            <a:r>
              <a:rPr sz="1800" b="1">
                <a:solidFill>
                  <a:srgbClr val="1F6F78"/>
                </a:solidFill>
                <a:latin typeface="Times New Roman"/>
              </a:rPr>
              <a:t>Mixed opinions</a:t>
            </a:r>
          </a:p>
        </p:txBody>
      </p:sp>
      <p:sp>
        <p:nvSpPr>
          <p:cNvPr id="11" name="Need text 1"/>
          <p:cNvSpPr txBox="1"/>
          <p:nvPr/>
        </p:nvSpPr>
        <p:spPr>
          <a:xfrm>
            <a:off x="548640" y="3383280"/>
            <a:ext cx="2286000" cy="1645920"/>
          </a:xfrm>
          <a:prstGeom prst="rect">
            <a:avLst/>
          </a:prstGeom>
          <a:noFill/>
        </p:spPr>
        <p:txBody>
          <a:bodyPr wrap="square" anchor="t" lIns="0" rIns="0" tIns="0" bIns="0">
            <a:spAutoFit/>
          </a:bodyPr>
          <a:lstStyle/>
          <a:p>
            <a:pPr algn="l"/>
            <a:r>
              <a:rPr sz="1600">
                <a:solidFill>
                  <a:srgbClr val="26323F"/>
                </a:solidFill>
                <a:latin typeface="Times New Roman"/>
              </a:rPr>
              <a:t>The same review can praise the battery and blame delivery; one label cannot capture this.</a:t>
            </a:r>
          </a:p>
        </p:txBody>
      </p:sp>
      <p:sp>
        <p:nvSpPr>
          <p:cNvPr id="12" name="Need card 2"/>
          <p:cNvSpPr/>
          <p:nvPr/>
        </p:nvSpPr>
        <p:spPr>
          <a:xfrm>
            <a:off x="3154679" y="2743200"/>
            <a:ext cx="2651760" cy="23317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eed head 2"/>
          <p:cNvSpPr txBox="1"/>
          <p:nvPr/>
        </p:nvSpPr>
        <p:spPr>
          <a:xfrm>
            <a:off x="3337560" y="2880360"/>
            <a:ext cx="2286000" cy="365760"/>
          </a:xfrm>
          <a:prstGeom prst="rect">
            <a:avLst/>
          </a:prstGeom>
          <a:noFill/>
        </p:spPr>
        <p:txBody>
          <a:bodyPr wrap="square" anchor="t" lIns="0" rIns="0" tIns="0" bIns="0">
            <a:spAutoFit/>
          </a:bodyPr>
          <a:lstStyle/>
          <a:p>
            <a:pPr algn="l"/>
            <a:r>
              <a:rPr sz="1800" b="1">
                <a:solidFill>
                  <a:srgbClr val="1F6F78"/>
                </a:solidFill>
                <a:latin typeface="Times New Roman"/>
              </a:rPr>
              <a:t>Platforms differ</a:t>
            </a:r>
          </a:p>
        </p:txBody>
      </p:sp>
      <p:sp>
        <p:nvSpPr>
          <p:cNvPr id="14" name="Need text 2"/>
          <p:cNvSpPr txBox="1"/>
          <p:nvPr/>
        </p:nvSpPr>
        <p:spPr>
          <a:xfrm>
            <a:off x="3337560" y="3383280"/>
            <a:ext cx="2286000" cy="1645920"/>
          </a:xfrm>
          <a:prstGeom prst="rect">
            <a:avLst/>
          </a:prstGeom>
          <a:noFill/>
        </p:spPr>
        <p:txBody>
          <a:bodyPr wrap="square" anchor="t" lIns="0" rIns="0" tIns="0" bIns="0">
            <a:spAutoFit/>
          </a:bodyPr>
          <a:lstStyle/>
          <a:p>
            <a:pPr algn="l"/>
            <a:r>
              <a:rPr sz="1600">
                <a:solidFill>
                  <a:srgbClr val="26323F"/>
                </a:solidFill>
                <a:latin typeface="Times New Roman"/>
              </a:rPr>
              <a:t>Cashify, OLX and Budli differ in fulfilment and trust, so sentiment patterns may differ by aspect.</a:t>
            </a:r>
          </a:p>
        </p:txBody>
      </p:sp>
      <p:sp>
        <p:nvSpPr>
          <p:cNvPr id="15" name="Need card 3"/>
          <p:cNvSpPr/>
          <p:nvPr/>
        </p:nvSpPr>
        <p:spPr>
          <a:xfrm>
            <a:off x="5943600" y="2743200"/>
            <a:ext cx="2651760" cy="23317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eed head 3"/>
          <p:cNvSpPr txBox="1"/>
          <p:nvPr/>
        </p:nvSpPr>
        <p:spPr>
          <a:xfrm>
            <a:off x="6126480" y="2880360"/>
            <a:ext cx="2286000" cy="365760"/>
          </a:xfrm>
          <a:prstGeom prst="rect">
            <a:avLst/>
          </a:prstGeom>
          <a:noFill/>
        </p:spPr>
        <p:txBody>
          <a:bodyPr wrap="square" anchor="t" lIns="0" rIns="0" tIns="0" bIns="0">
            <a:spAutoFit/>
          </a:bodyPr>
          <a:lstStyle/>
          <a:p>
            <a:pPr algn="l"/>
            <a:r>
              <a:rPr sz="1800" b="1">
                <a:solidFill>
                  <a:srgbClr val="1F6F78"/>
                </a:solidFill>
                <a:latin typeface="Times New Roman"/>
              </a:rPr>
              <a:t>Class imbalance</a:t>
            </a:r>
          </a:p>
        </p:txBody>
      </p:sp>
      <p:sp>
        <p:nvSpPr>
          <p:cNvPr id="17" name="Need text 3"/>
          <p:cNvSpPr txBox="1"/>
          <p:nvPr/>
        </p:nvSpPr>
        <p:spPr>
          <a:xfrm>
            <a:off x="6126480" y="3383280"/>
            <a:ext cx="2286000" cy="1645920"/>
          </a:xfrm>
          <a:prstGeom prst="rect">
            <a:avLst/>
          </a:prstGeom>
          <a:noFill/>
        </p:spPr>
        <p:txBody>
          <a:bodyPr wrap="square" anchor="t" lIns="0" rIns="0" tIns="0" bIns="0">
            <a:spAutoFit/>
          </a:bodyPr>
          <a:lstStyle/>
          <a:p>
            <a:pPr algn="l"/>
            <a:r>
              <a:rPr sz="1600">
                <a:solidFill>
                  <a:srgbClr val="26323F"/>
                </a:solidFill>
                <a:latin typeface="Times New Roman"/>
              </a:rPr>
              <a:t>Neutral and negative mentions are fewer; macro metrics are needed to avoid biased evaluation.</a:t>
            </a:r>
          </a:p>
        </p:txBody>
      </p:sp>
      <p:sp>
        <p:nvSpPr>
          <p:cNvPr id="18" name="Scope strip"/>
          <p:cNvSpPr/>
          <p:nvPr/>
        </p:nvSpPr>
        <p:spPr>
          <a:xfrm>
            <a:off x="365760" y="5257800"/>
            <a:ext cx="8229600" cy="10058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cope text"/>
          <p:cNvSpPr txBox="1"/>
          <p:nvPr/>
        </p:nvSpPr>
        <p:spPr>
          <a:xfrm>
            <a:off x="594360" y="5303520"/>
            <a:ext cx="7772400" cy="914400"/>
          </a:xfrm>
          <a:prstGeom prst="rect">
            <a:avLst/>
          </a:prstGeom>
          <a:noFill/>
        </p:spPr>
        <p:txBody>
          <a:bodyPr wrap="square" anchor="ctr" lIns="0" rIns="0" tIns="0" bIns="0">
            <a:spAutoFit/>
          </a:bodyPr>
          <a:lstStyle/>
          <a:p>
            <a:pPr algn="l"/>
            <a:r>
              <a:rPr sz="1500" b="1">
                <a:solidFill>
                  <a:srgbClr val="1F3864"/>
                </a:solidFill>
                <a:latin typeface="Times New Roman"/>
              </a:rPr>
              <a:t>Scope: India; five platforms; three product categories; nine aspects; three polarity labels. Demo corpus is synthetic until verified platform reviews are obtained.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Proposed Methodology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Step 1"/>
          <p:cNvSpPr/>
          <p:nvPr/>
        </p:nvSpPr>
        <p:spPr>
          <a:xfrm>
            <a:off x="365760" y="1188720"/>
            <a:ext cx="2468880" cy="7315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1. Review collection</a:t>
            </a:r>
          </a:p>
        </p:txBody>
      </p:sp>
      <p:sp>
        <p:nvSpPr>
          <p:cNvPr id="8" name="Step text 1"/>
          <p:cNvSpPr txBox="1"/>
          <p:nvPr/>
        </p:nvSpPr>
        <p:spPr>
          <a:xfrm>
            <a:off x="411480" y="2029968"/>
            <a:ext cx="2377440" cy="1280160"/>
          </a:xfrm>
          <a:prstGeom prst="rect">
            <a:avLst/>
          </a:prstGeom>
          <a:noFill/>
        </p:spPr>
        <p:txBody>
          <a:bodyPr wrap="square" anchor="t" lIns="0" rIns="0" tIns="0" bIns="0">
            <a:spAutoFit/>
          </a:bodyPr>
          <a:lstStyle/>
          <a:p>
            <a:pPr algn="l"/>
            <a:r>
              <a:rPr sz="1600">
                <a:solidFill>
                  <a:srgbClr val="26323F"/>
                </a:solidFill>
                <a:latin typeface="Times New Roman"/>
              </a:rPr>
              <a:t>Access verified per platform; 2,000-review demo corpus, seed 42</a:t>
            </a:r>
          </a:p>
        </p:txBody>
      </p:sp>
      <p:cxnSp>
        <p:nvCxnSpPr>
          <p:cNvPr id="9" name="Arrow 1"/>
          <p:cNvCxnSpPr/>
          <p:nvPr/>
        </p:nvCxnSpPr>
        <p:spPr>
          <a:xfrm>
            <a:off x="2852928" y="155448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0" name="Step 2"/>
          <p:cNvSpPr/>
          <p:nvPr/>
        </p:nvSpPr>
        <p:spPr>
          <a:xfrm>
            <a:off x="3200400" y="1188720"/>
            <a:ext cx="2468880" cy="7315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2. Cleaning</a:t>
            </a:r>
          </a:p>
        </p:txBody>
      </p:sp>
      <p:sp>
        <p:nvSpPr>
          <p:cNvPr id="11" name="Step text 2"/>
          <p:cNvSpPr txBox="1"/>
          <p:nvPr/>
        </p:nvSpPr>
        <p:spPr>
          <a:xfrm>
            <a:off x="3246120" y="2029968"/>
            <a:ext cx="2377440" cy="1280160"/>
          </a:xfrm>
          <a:prstGeom prst="rect">
            <a:avLst/>
          </a:prstGeom>
          <a:noFill/>
        </p:spPr>
        <p:txBody>
          <a:bodyPr wrap="square" anchor="t" lIns="0" rIns="0" tIns="0" bIns="0">
            <a:spAutoFit/>
          </a:bodyPr>
          <a:lstStyle/>
          <a:p>
            <a:pPr algn="l"/>
            <a:r>
              <a:rPr sz="1600">
                <a:solidFill>
                  <a:srgbClr val="26323F"/>
                </a:solidFill>
                <a:latin typeface="Times New Roman"/>
              </a:rPr>
              <a:t>Lowercasing, punctuation, de-duplication, length filter</a:t>
            </a:r>
          </a:p>
        </p:txBody>
      </p:sp>
      <p:cxnSp>
        <p:nvCxnSpPr>
          <p:cNvPr id="12" name="Arrow 2"/>
          <p:cNvCxnSpPr/>
          <p:nvPr/>
        </p:nvCxnSpPr>
        <p:spPr>
          <a:xfrm>
            <a:off x="5687568" y="155448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3" name="Step 3"/>
          <p:cNvSpPr/>
          <p:nvPr/>
        </p:nvSpPr>
        <p:spPr>
          <a:xfrm>
            <a:off x="6035040" y="1188720"/>
            <a:ext cx="2468880" cy="731520"/>
          </a:xfrm>
          <a:prstGeom prst="round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3. Aspect tagging</a:t>
            </a:r>
          </a:p>
        </p:txBody>
      </p:sp>
      <p:sp>
        <p:nvSpPr>
          <p:cNvPr id="14" name="Step text 3"/>
          <p:cNvSpPr txBox="1"/>
          <p:nvPr/>
        </p:nvSpPr>
        <p:spPr>
          <a:xfrm>
            <a:off x="6080760" y="2029968"/>
            <a:ext cx="2377440" cy="1280160"/>
          </a:xfrm>
          <a:prstGeom prst="rect">
            <a:avLst/>
          </a:prstGeom>
          <a:noFill/>
        </p:spPr>
        <p:txBody>
          <a:bodyPr wrap="square" anchor="t" lIns="0" rIns="0" tIns="0" bIns="0">
            <a:spAutoFit/>
          </a:bodyPr>
          <a:lstStyle/>
          <a:p>
            <a:pPr algn="l"/>
            <a:r>
              <a:rPr sz="1600">
                <a:solidFill>
                  <a:srgbClr val="26323F"/>
                </a:solidFill>
                <a:latin typeface="Times New Roman"/>
              </a:rPr>
              <a:t>Keyword vocabulary over nine aspects; one annotation per mention</a:t>
            </a:r>
          </a:p>
        </p:txBody>
      </p:sp>
      <p:sp>
        <p:nvSpPr>
          <p:cNvPr id="15" name="Step 4"/>
          <p:cNvSpPr/>
          <p:nvPr/>
        </p:nvSpPr>
        <p:spPr>
          <a:xfrm>
            <a:off x="365760" y="3520439"/>
            <a:ext cx="2468880" cy="731520"/>
          </a:xfrm>
          <a:prstGeom prst="round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4. Sentiment labelling</a:t>
            </a:r>
          </a:p>
        </p:txBody>
      </p:sp>
      <p:sp>
        <p:nvSpPr>
          <p:cNvPr id="16" name="Step text 4"/>
          <p:cNvSpPr txBox="1"/>
          <p:nvPr/>
        </p:nvSpPr>
        <p:spPr>
          <a:xfrm>
            <a:off x="411480" y="4361688"/>
            <a:ext cx="2377440" cy="1280160"/>
          </a:xfrm>
          <a:prstGeom prst="rect">
            <a:avLst/>
          </a:prstGeom>
          <a:noFill/>
        </p:spPr>
        <p:txBody>
          <a:bodyPr wrap="square" anchor="t" lIns="0" rIns="0" tIns="0" bIns="0">
            <a:spAutoFit/>
          </a:bodyPr>
          <a:lstStyle/>
          <a:p>
            <a:pPr algn="l"/>
            <a:r>
              <a:rPr sz="1600">
                <a:solidFill>
                  <a:srgbClr val="26323F"/>
                </a:solidFill>
                <a:latin typeface="Times New Roman"/>
              </a:rPr>
              <a:t>Positive / Neutral / Negative; 10% label noise for realism</a:t>
            </a:r>
          </a:p>
        </p:txBody>
      </p:sp>
      <p:cxnSp>
        <p:nvCxnSpPr>
          <p:cNvPr id="17" name="Arrow 4"/>
          <p:cNvCxnSpPr/>
          <p:nvPr/>
        </p:nvCxnSpPr>
        <p:spPr>
          <a:xfrm>
            <a:off x="2852928" y="388620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18" name="Step 5"/>
          <p:cNvSpPr/>
          <p:nvPr/>
        </p:nvSpPr>
        <p:spPr>
          <a:xfrm>
            <a:off x="3200400" y="3520439"/>
            <a:ext cx="2468880" cy="73152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5. Model training</a:t>
            </a:r>
          </a:p>
        </p:txBody>
      </p:sp>
      <p:sp>
        <p:nvSpPr>
          <p:cNvPr id="19" name="Step text 5"/>
          <p:cNvSpPr txBox="1"/>
          <p:nvPr/>
        </p:nvSpPr>
        <p:spPr>
          <a:xfrm>
            <a:off x="3246120" y="4361688"/>
            <a:ext cx="2377440" cy="1280160"/>
          </a:xfrm>
          <a:prstGeom prst="rect">
            <a:avLst/>
          </a:prstGeom>
          <a:noFill/>
        </p:spPr>
        <p:txBody>
          <a:bodyPr wrap="square" anchor="t" lIns="0" rIns="0" tIns="0" bIns="0">
            <a:spAutoFit/>
          </a:bodyPr>
          <a:lstStyle/>
          <a:p>
            <a:pPr algn="l"/>
            <a:r>
              <a:rPr sz="1600">
                <a:solidFill>
                  <a:srgbClr val="26323F"/>
                </a:solidFill>
                <a:latin typeface="Times New Roman"/>
              </a:rPr>
              <a:t>TF-IDF + LR / RF / XGBoost and DistilBERT; 70/15/15 split</a:t>
            </a:r>
          </a:p>
        </p:txBody>
      </p:sp>
      <p:cxnSp>
        <p:nvCxnSpPr>
          <p:cNvPr id="20" name="Arrow 5"/>
          <p:cNvCxnSpPr/>
          <p:nvPr/>
        </p:nvCxnSpPr>
        <p:spPr>
          <a:xfrm>
            <a:off x="5687568" y="3886200"/>
            <a:ext cx="329184" cy="0"/>
          </a:xfrm>
          <a:prstGeom prst="line">
            <a:avLst/>
          </a:prstGeom>
          <a:ln w="31750">
            <a:solidFill>
              <a:srgbClr val="1F3864"/>
            </a:solidFill>
            <a:tailEnd type="triangle"/>
          </a:ln>
        </p:spPr>
        <p:style>
          <a:lnRef idx="2">
            <a:schemeClr val="accent1"/>
          </a:lnRef>
          <a:fillRef idx="0">
            <a:schemeClr val="accent1"/>
          </a:fillRef>
          <a:effectRef idx="1">
            <a:schemeClr val="accent1"/>
          </a:effectRef>
          <a:fontRef idx="minor">
            <a:schemeClr val="tx1"/>
          </a:fontRef>
        </p:style>
      </p:cxnSp>
      <p:sp>
        <p:nvSpPr>
          <p:cNvPr id="21" name="Step 6"/>
          <p:cNvSpPr/>
          <p:nvPr/>
        </p:nvSpPr>
        <p:spPr>
          <a:xfrm>
            <a:off x="6035040" y="3520439"/>
            <a:ext cx="2468880" cy="731520"/>
          </a:xfrm>
          <a:prstGeom prst="roundRect">
            <a:avLst/>
          </a:prstGeom>
          <a:solidFill>
            <a:srgbClr val="B03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Times New Roman"/>
              </a:rPr>
              <a:t>6. Platform comparison</a:t>
            </a:r>
          </a:p>
        </p:txBody>
      </p:sp>
      <p:sp>
        <p:nvSpPr>
          <p:cNvPr id="22" name="Step text 6"/>
          <p:cNvSpPr txBox="1"/>
          <p:nvPr/>
        </p:nvSpPr>
        <p:spPr>
          <a:xfrm>
            <a:off x="6080760" y="4361688"/>
            <a:ext cx="2377440" cy="1280160"/>
          </a:xfrm>
          <a:prstGeom prst="rect">
            <a:avLst/>
          </a:prstGeom>
          <a:noFill/>
        </p:spPr>
        <p:txBody>
          <a:bodyPr wrap="square" anchor="t" lIns="0" rIns="0" tIns="0" bIns="0">
            <a:spAutoFit/>
          </a:bodyPr>
          <a:lstStyle/>
          <a:p>
            <a:pPr algn="l"/>
            <a:r>
              <a:rPr sz="1600">
                <a:solidFill>
                  <a:srgbClr val="26323F"/>
                </a:solidFill>
                <a:latin typeface="Times New Roman"/>
              </a:rPr>
              <a:t>Aspect sentiment shares and net sentiment per platform</a:t>
            </a:r>
          </a:p>
        </p:txBody>
      </p:sp>
      <p:sp>
        <p:nvSpPr>
          <p:cNvPr id="23" name="Stages label"/>
          <p:cNvSpPr txBox="1"/>
          <p:nvPr/>
        </p:nvSpPr>
        <p:spPr>
          <a:xfrm>
            <a:off x="365760" y="5806440"/>
            <a:ext cx="8229600" cy="365760"/>
          </a:xfrm>
          <a:prstGeom prst="rect">
            <a:avLst/>
          </a:prstGeom>
          <a:noFill/>
        </p:spPr>
        <p:txBody>
          <a:bodyPr wrap="square" anchor="t" lIns="0" rIns="0" tIns="0" bIns="0">
            <a:spAutoFit/>
          </a:bodyPr>
          <a:lstStyle/>
          <a:p>
            <a:pPr algn="ctr"/>
            <a:r>
              <a:rPr sz="1400" i="1">
                <a:solidFill>
                  <a:srgbClr val="556575"/>
                </a:solidFill>
                <a:latin typeface="Times New Roman"/>
              </a:rPr>
              <a:t>Stages: Verify &gt; Dataset &gt; Annotate &gt; Model &gt; Evaluate &gt; Compare platforms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Pipeline Overview</a:t>
            </a:r>
          </a:p>
        </p:txBody>
      </p:sp>
      <p:sp>
        <p:nvSpPr>
          <p:cNvPr id="11" name="Step 1 number"/>
          <p:cNvSpPr/>
          <p:nvPr/>
        </p:nvSpPr>
        <p:spPr>
          <a:xfrm>
            <a:off x="457200" y="1243584"/>
            <a:ext cx="457200" cy="457200"/>
          </a:xfrm>
          <a:prstGeom prst="ellipse">
            <a:avLst/>
          </a:prstGeom>
          <a:solidFill>
            <a:srgbClr val="4A7FA7"/>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1</a:t>
            </a:r>
          </a:p>
        </p:txBody>
      </p:sp>
      <p:sp>
        <p:nvSpPr>
          <p:cNvPr id="12" name="Step 1 title"/>
          <p:cNvSpPr/>
          <p:nvPr/>
        </p:nvSpPr>
        <p:spPr>
          <a:xfrm>
            <a:off x="1097280" y="1188720"/>
            <a:ext cx="2514600" cy="566928"/>
          </a:xfrm>
          <a:prstGeom prst="roundRect">
            <a:avLst>
              <a:gd name="adj" fmla="val 14000"/>
            </a:avLst>
          </a:prstGeom>
          <a:solidFill>
            <a:srgbClr val="4A7FA7"/>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Platform verification</a:t>
            </a:r>
          </a:p>
        </p:txBody>
      </p:sp>
      <p:sp>
        <p:nvSpPr>
          <p:cNvPr id="13" name="Step 1 detail"/>
          <p:cNvSpPr/>
          <p:nvPr/>
        </p:nvSpPr>
        <p:spPr>
          <a:xfrm>
            <a:off x="3703320" y="1188720"/>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Cashify · Amazon Renewed · Flipkart · OLX · Budli — no public structured reviews</a:t>
            </a:r>
          </a:p>
        </p:txBody>
      </p:sp>
      <p:cxnSp>
        <p:nvCxnSpPr>
          <p:cNvPr id="14" name="Step 1 arrow"/>
          <p:cNvCxnSpPr/>
          <p:nvPr/>
        </p:nvCxnSpPr>
        <p:spPr>
          <a:xfrm>
            <a:off x="685800" y="1700784"/>
            <a:ext cx="0" cy="201168"/>
          </a:xfrm>
          <a:prstGeom prst="line">
            <a:avLst/>
          </a:prstGeom>
          <a:ln w="22225" cap="rnd">
            <a:solidFill>
              <a:srgbClr val="5C6B7A"/>
            </a:solidFill>
            <a:round/>
            <a:tailEnd type="triangle" w="med" len="med"/>
          </a:ln>
        </p:spPr>
      </p:cxnSp>
      <p:sp>
        <p:nvSpPr>
          <p:cNvPr id="15" name="Step 2 number"/>
          <p:cNvSpPr/>
          <p:nvPr/>
        </p:nvSpPr>
        <p:spPr>
          <a:xfrm>
            <a:off x="457200" y="1901952"/>
            <a:ext cx="457200" cy="457200"/>
          </a:xfrm>
          <a:prstGeom prst="ellipse">
            <a:avLst/>
          </a:prstGeom>
          <a:solidFill>
            <a:srgbClr val="4A7FA7"/>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2</a:t>
            </a:r>
          </a:p>
        </p:txBody>
      </p:sp>
      <p:sp>
        <p:nvSpPr>
          <p:cNvPr id="16" name="Step 2 title"/>
          <p:cNvSpPr/>
          <p:nvPr/>
        </p:nvSpPr>
        <p:spPr>
          <a:xfrm>
            <a:off x="1097280" y="1847088"/>
            <a:ext cx="2514600" cy="566928"/>
          </a:xfrm>
          <a:prstGeom prst="roundRect">
            <a:avLst>
              <a:gd name="adj" fmla="val 14000"/>
            </a:avLst>
          </a:prstGeom>
          <a:solidFill>
            <a:srgbClr val="4A7FA7"/>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Data strategy</a:t>
            </a:r>
          </a:p>
        </p:txBody>
      </p:sp>
      <p:sp>
        <p:nvSpPr>
          <p:cNvPr id="17" name="Step 2 detail"/>
          <p:cNvSpPr/>
          <p:nvPr/>
        </p:nvSpPr>
        <p:spPr>
          <a:xfrm>
            <a:off x="3703320" y="1847088"/>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Synthetic demonstration corpus (labelled) · 2,000 reviews · 5 platforms · 3 categories</a:t>
            </a:r>
          </a:p>
        </p:txBody>
      </p:sp>
      <p:cxnSp>
        <p:nvCxnSpPr>
          <p:cNvPr id="18" name="Step 2 arrow"/>
          <p:cNvCxnSpPr/>
          <p:nvPr/>
        </p:nvCxnSpPr>
        <p:spPr>
          <a:xfrm>
            <a:off x="685800" y="2359152"/>
            <a:ext cx="0" cy="201168"/>
          </a:xfrm>
          <a:prstGeom prst="line">
            <a:avLst/>
          </a:prstGeom>
          <a:ln w="22225" cap="rnd">
            <a:solidFill>
              <a:srgbClr val="5C6B7A"/>
            </a:solidFill>
            <a:round/>
            <a:tailEnd type="triangle" w="med" len="med"/>
          </a:ln>
        </p:spPr>
      </p:cxnSp>
      <p:sp>
        <p:nvSpPr>
          <p:cNvPr id="19" name="Step 3 number"/>
          <p:cNvSpPr/>
          <p:nvPr/>
        </p:nvSpPr>
        <p:spPr>
          <a:xfrm>
            <a:off x="457200" y="2560320"/>
            <a:ext cx="457200" cy="457200"/>
          </a:xfrm>
          <a:prstGeom prst="ellipse">
            <a:avLst/>
          </a:prstGeom>
          <a:solidFill>
            <a:srgbClr val="1E6F78"/>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3</a:t>
            </a:r>
          </a:p>
        </p:txBody>
      </p:sp>
      <p:sp>
        <p:nvSpPr>
          <p:cNvPr id="20" name="Step 3 title"/>
          <p:cNvSpPr/>
          <p:nvPr/>
        </p:nvSpPr>
        <p:spPr>
          <a:xfrm>
            <a:off x="1097280" y="2505456"/>
            <a:ext cx="2514600" cy="566928"/>
          </a:xfrm>
          <a:prstGeom prst="roundRect">
            <a:avLst>
              <a:gd name="adj" fmla="val 14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Aspect annotation</a:t>
            </a:r>
          </a:p>
        </p:txBody>
      </p:sp>
      <p:sp>
        <p:nvSpPr>
          <p:cNvPr id="21" name="Step 3 detail"/>
          <p:cNvSpPr/>
          <p:nvPr/>
        </p:nvSpPr>
        <p:spPr>
          <a:xfrm>
            <a:off x="3703320" y="2505456"/>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9-aspect taxonomy · 3,548 evidence phrases · positive / neutral / negative</a:t>
            </a:r>
          </a:p>
        </p:txBody>
      </p:sp>
      <p:cxnSp>
        <p:nvCxnSpPr>
          <p:cNvPr id="22" name="Step 3 arrow"/>
          <p:cNvCxnSpPr/>
          <p:nvPr/>
        </p:nvCxnSpPr>
        <p:spPr>
          <a:xfrm>
            <a:off x="685800" y="3017520"/>
            <a:ext cx="0" cy="201168"/>
          </a:xfrm>
          <a:prstGeom prst="line">
            <a:avLst/>
          </a:prstGeom>
          <a:ln w="22225" cap="rnd">
            <a:solidFill>
              <a:srgbClr val="5C6B7A"/>
            </a:solidFill>
            <a:round/>
            <a:tailEnd type="triangle" w="med" len="med"/>
          </a:ln>
        </p:spPr>
      </p:cxnSp>
      <p:sp>
        <p:nvSpPr>
          <p:cNvPr id="23" name="Step 4 number"/>
          <p:cNvSpPr/>
          <p:nvPr/>
        </p:nvSpPr>
        <p:spPr>
          <a:xfrm>
            <a:off x="457200" y="3218688"/>
            <a:ext cx="457200" cy="457200"/>
          </a:xfrm>
          <a:prstGeom prst="ellipse">
            <a:avLst/>
          </a:prstGeom>
          <a:solidFill>
            <a:srgbClr val="1E6F78"/>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4</a:t>
            </a:r>
          </a:p>
        </p:txBody>
      </p:sp>
      <p:sp>
        <p:nvSpPr>
          <p:cNvPr id="24" name="Step 4 title"/>
          <p:cNvSpPr/>
          <p:nvPr/>
        </p:nvSpPr>
        <p:spPr>
          <a:xfrm>
            <a:off x="1097280" y="3163824"/>
            <a:ext cx="2514600" cy="566928"/>
          </a:xfrm>
          <a:prstGeom prst="roundRect">
            <a:avLst>
              <a:gd name="adj" fmla="val 14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Review-level split</a:t>
            </a:r>
          </a:p>
        </p:txBody>
      </p:sp>
      <p:sp>
        <p:nvSpPr>
          <p:cNvPr id="25" name="Step 4 detail"/>
          <p:cNvSpPr/>
          <p:nvPr/>
        </p:nvSpPr>
        <p:spPr>
          <a:xfrm>
            <a:off x="3703320" y="3163824"/>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Stratified 70 / 15 / 15 (seed 42) · 2,475 / 536 / 537 — no leakage</a:t>
            </a:r>
          </a:p>
        </p:txBody>
      </p:sp>
      <p:cxnSp>
        <p:nvCxnSpPr>
          <p:cNvPr id="26" name="Step 4 arrow"/>
          <p:cNvCxnSpPr/>
          <p:nvPr/>
        </p:nvCxnSpPr>
        <p:spPr>
          <a:xfrm>
            <a:off x="685800" y="3675888"/>
            <a:ext cx="0" cy="201168"/>
          </a:xfrm>
          <a:prstGeom prst="line">
            <a:avLst/>
          </a:prstGeom>
          <a:ln w="22225" cap="rnd">
            <a:solidFill>
              <a:srgbClr val="5C6B7A"/>
            </a:solidFill>
            <a:round/>
            <a:tailEnd type="triangle" w="med" len="med"/>
          </a:ln>
        </p:spPr>
      </p:cxnSp>
      <p:sp>
        <p:nvSpPr>
          <p:cNvPr id="27" name="Step 5 number"/>
          <p:cNvSpPr/>
          <p:nvPr/>
        </p:nvSpPr>
        <p:spPr>
          <a:xfrm>
            <a:off x="457200" y="3877056"/>
            <a:ext cx="457200" cy="457200"/>
          </a:xfrm>
          <a:prstGeom prst="ellipse">
            <a:avLst/>
          </a:prstGeom>
          <a:solidFill>
            <a:srgbClr val="1F3864"/>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5</a:t>
            </a:r>
          </a:p>
        </p:txBody>
      </p:sp>
      <p:sp>
        <p:nvSpPr>
          <p:cNvPr id="28" name="Step 5 title"/>
          <p:cNvSpPr/>
          <p:nvPr/>
        </p:nvSpPr>
        <p:spPr>
          <a:xfrm>
            <a:off x="1097280" y="3822192"/>
            <a:ext cx="2514600" cy="566928"/>
          </a:xfrm>
          <a:prstGeom prst="roundRect">
            <a:avLst>
              <a:gd name="adj" fmla="val 14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Feature + models</a:t>
            </a:r>
          </a:p>
        </p:txBody>
      </p:sp>
      <p:sp>
        <p:nvSpPr>
          <p:cNvPr id="29" name="Step 5 detail"/>
          <p:cNvSpPr/>
          <p:nvPr/>
        </p:nvSpPr>
        <p:spPr>
          <a:xfrm>
            <a:off x="3703320" y="3822192"/>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TF-IDF (1–2 grams, 20k features) · LR · RF · XGBoost vs DistilBERT (zero-shot + fine-tuned)</a:t>
            </a:r>
          </a:p>
        </p:txBody>
      </p:sp>
      <p:cxnSp>
        <p:nvCxnSpPr>
          <p:cNvPr id="30" name="Step 5 arrow"/>
          <p:cNvCxnSpPr/>
          <p:nvPr/>
        </p:nvCxnSpPr>
        <p:spPr>
          <a:xfrm>
            <a:off x="685800" y="4334256"/>
            <a:ext cx="0" cy="201168"/>
          </a:xfrm>
          <a:prstGeom prst="line">
            <a:avLst/>
          </a:prstGeom>
          <a:ln w="22225" cap="rnd">
            <a:solidFill>
              <a:srgbClr val="5C6B7A"/>
            </a:solidFill>
            <a:round/>
            <a:tailEnd type="triangle" w="med" len="med"/>
          </a:ln>
        </p:spPr>
      </p:cxnSp>
      <p:sp>
        <p:nvSpPr>
          <p:cNvPr id="31" name="Step 6 number"/>
          <p:cNvSpPr/>
          <p:nvPr/>
        </p:nvSpPr>
        <p:spPr>
          <a:xfrm>
            <a:off x="457200" y="4535424"/>
            <a:ext cx="457200" cy="457200"/>
          </a:xfrm>
          <a:prstGeom prst="ellipse">
            <a:avLst/>
          </a:prstGeom>
          <a:solidFill>
            <a:srgbClr val="1F3864"/>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6</a:t>
            </a:r>
          </a:p>
        </p:txBody>
      </p:sp>
      <p:sp>
        <p:nvSpPr>
          <p:cNvPr id="32" name="Step 6 title"/>
          <p:cNvSpPr/>
          <p:nvPr/>
        </p:nvSpPr>
        <p:spPr>
          <a:xfrm>
            <a:off x="1097280" y="4480560"/>
            <a:ext cx="2514600" cy="566928"/>
          </a:xfrm>
          <a:prstGeom prst="roundRect">
            <a:avLst>
              <a:gd name="adj" fmla="val 14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Evaluation</a:t>
            </a:r>
          </a:p>
        </p:txBody>
      </p:sp>
      <p:sp>
        <p:nvSpPr>
          <p:cNvPr id="33" name="Step 6 detail"/>
          <p:cNvSpPr/>
          <p:nvPr/>
        </p:nvSpPr>
        <p:spPr>
          <a:xfrm>
            <a:off x="3703320" y="4480560"/>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Macro P / R / F1 + per-class recall · neutral class is the hard case</a:t>
            </a:r>
          </a:p>
        </p:txBody>
      </p:sp>
      <p:cxnSp>
        <p:nvCxnSpPr>
          <p:cNvPr id="34" name="Step 6 arrow"/>
          <p:cNvCxnSpPr/>
          <p:nvPr/>
        </p:nvCxnSpPr>
        <p:spPr>
          <a:xfrm>
            <a:off x="685800" y="4992624"/>
            <a:ext cx="0" cy="201168"/>
          </a:xfrm>
          <a:prstGeom prst="line">
            <a:avLst/>
          </a:prstGeom>
          <a:ln w="22225" cap="rnd">
            <a:solidFill>
              <a:srgbClr val="5C6B7A"/>
            </a:solidFill>
            <a:round/>
            <a:tailEnd type="triangle" w="med" len="med"/>
          </a:ln>
        </p:spPr>
      </p:cxnSp>
      <p:sp>
        <p:nvSpPr>
          <p:cNvPr id="35" name="Step 7 number"/>
          <p:cNvSpPr/>
          <p:nvPr/>
        </p:nvSpPr>
        <p:spPr>
          <a:xfrm>
            <a:off x="457200" y="5193792"/>
            <a:ext cx="457200" cy="457200"/>
          </a:xfrm>
          <a:prstGeom prst="ellipse">
            <a:avLst/>
          </a:prstGeom>
          <a:solidFill>
            <a:srgbClr val="B0385A"/>
          </a:solidFill>
          <a:ln>
            <a:noFill/>
          </a:ln>
          <a:effectLst>
            <a:outerShdw blurRad="50800" dist="25400" dir="5400000" algn="t" rotWithShape="0">
              <a:srgbClr val="000000">
                <a:alpha val="22000"/>
              </a:srgbClr>
            </a:outerShdw>
          </a:effectLst>
        </p:spPr>
        <p:txBody>
          <a:bodyPr wrap="square" lIns="0" tIns="0" rIns="0" bIns="0" anchor="ctr" rtlCol="0">
            <a:noAutofit/>
          </a:bodyPr>
          <a:lstStyle/>
          <a:p>
            <a:pPr algn="ctr">
              <a:spcBef>
                <a:spcPts val="0"/>
              </a:spcBef>
              <a:spcAft>
                <a:spcPts val="0"/>
              </a:spcAft>
            </a:pPr>
            <a:r>
              <a:rPr lang="en-US" sz="1600" b="1" i="0" dirty="0">
                <a:solidFill>
                  <a:srgbClr val="FFFFFF"/>
                </a:solidFill>
                <a:latin typeface="Times New Roman"/>
                <a:cs typeface="Times New Roman"/>
              </a:rPr>
              <a:t>7</a:t>
            </a:r>
          </a:p>
        </p:txBody>
      </p:sp>
      <p:sp>
        <p:nvSpPr>
          <p:cNvPr id="36" name="Step 7 title"/>
          <p:cNvSpPr/>
          <p:nvPr/>
        </p:nvSpPr>
        <p:spPr>
          <a:xfrm>
            <a:off x="1097280" y="5138928"/>
            <a:ext cx="2514600" cy="566928"/>
          </a:xfrm>
          <a:prstGeom prst="roundRect">
            <a:avLst>
              <a:gd name="adj" fmla="val 14000"/>
            </a:avLst>
          </a:prstGeom>
          <a:solidFill>
            <a:srgbClr val="B0385A"/>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Real-review validation</a:t>
            </a:r>
          </a:p>
        </p:txBody>
      </p:sp>
      <p:sp>
        <p:nvSpPr>
          <p:cNvPr id="37" name="Step 7 detail"/>
          <p:cNvSpPr/>
          <p:nvPr/>
        </p:nvSpPr>
        <p:spPr>
          <a:xfrm>
            <a:off x="3703320" y="5138928"/>
            <a:ext cx="4983480" cy="566928"/>
          </a:xfrm>
          <a:prstGeom prst="roundRect">
            <a:avLst>
              <a:gd name="adj" fmla="val 14000"/>
            </a:avLst>
          </a:prstGeom>
          <a:solidFill>
            <a:srgbClr val="FFFFFF"/>
          </a:solidFill>
          <a:ln w="12700">
            <a:solidFill>
              <a:srgbClr val="9DB7C9"/>
            </a:solidFill>
          </a:ln>
          <a:effectLst>
            <a:outerShdw blurRad="50800" dist="25400" dir="5400000" algn="t" rotWithShape="0">
              <a:srgbClr val="000000">
                <a:alpha val="22000"/>
              </a:srgbClr>
            </a:outerShdw>
          </a:effectLst>
        </p:spPr>
        <p:txBody>
          <a:bodyPr wrap="square" lIns="128016" tIns="27432" rIns="91440" bIns="27432" anchor="ctr" rtlCol="0">
            <a:noAutofit/>
          </a:bodyPr>
          <a:lstStyle/>
          <a:p>
            <a:pPr algn="l">
              <a:spcBef>
                <a:spcPts val="0"/>
              </a:spcBef>
              <a:spcAft>
                <a:spcPts val="0"/>
              </a:spcAft>
            </a:pPr>
            <a:r>
              <a:rPr lang="en-US" sz="1300" b="0" i="0" dirty="0">
                <a:solidFill>
                  <a:srgbClr val="26323F"/>
                </a:solidFill>
                <a:latin typeface="Times New Roman"/>
                <a:cs typeface="Times New Roman"/>
              </a:rPr>
              <a:t>2,000 real Amazon reviews (MARC) · 75.6% agreement with star ratings</a:t>
            </a:r>
          </a:p>
        </p:txBody>
      </p:sp>
      <p:sp>
        <p:nvSpPr>
          <p:cNvPr id="38" name="Reproducibility note"/>
          <p:cNvSpPr/>
          <p:nvPr/>
        </p:nvSpPr>
        <p:spPr>
          <a:xfrm>
            <a:off x="1097280" y="5861304"/>
            <a:ext cx="7589520" cy="365760"/>
          </a:xfrm>
          <a:prstGeom prst="roundRect">
            <a:avLst>
              <a:gd name="adj" fmla="val 50000"/>
            </a:avLst>
          </a:prstGeom>
          <a:solidFill>
            <a:srgbClr val="FFFFFF"/>
          </a:solidFill>
          <a:ln w="12700">
            <a:solidFill>
              <a:srgbClr val="9DB7C9"/>
            </a:solidFill>
          </a:ln>
          <a:effectLst/>
        </p:spPr>
        <p:txBody>
          <a:bodyPr wrap="square" lIns="73152" tIns="36576" rIns="73152" bIns="36576" anchor="ctr" rtlCol="0">
            <a:noAutofit/>
          </a:bodyPr>
          <a:lstStyle/>
          <a:p>
            <a:pPr algn="ctr">
              <a:spcBef>
                <a:spcPts val="0"/>
              </a:spcBef>
              <a:spcAft>
                <a:spcPts val="0"/>
              </a:spcAft>
            </a:pPr>
            <a:r>
              <a:rPr lang="en-US" sz="1300" b="0" i="1" dirty="0">
                <a:solidFill>
                  <a:srgbClr val="1F3864"/>
                </a:solidFill>
                <a:latin typeface="Times New Roman"/>
                <a:cs typeface="Times New Roman"/>
              </a:rPr>
              <a:t>Every step is reproducible with the scripts in research/scripts/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Dataset</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Dataset stat 1"/>
          <p:cNvSpPr/>
          <p:nvPr/>
        </p:nvSpPr>
        <p:spPr>
          <a:xfrm>
            <a:off x="365760" y="1188720"/>
            <a:ext cx="2651760" cy="10515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ataset stat value 1"/>
          <p:cNvSpPr txBox="1"/>
          <p:nvPr/>
        </p:nvSpPr>
        <p:spPr>
          <a:xfrm>
            <a:off x="457200" y="1234440"/>
            <a:ext cx="1097280" cy="960120"/>
          </a:xfrm>
          <a:prstGeom prst="rect">
            <a:avLst/>
          </a:prstGeom>
          <a:noFill/>
        </p:spPr>
        <p:txBody>
          <a:bodyPr wrap="square" anchor="ctr" lIns="0" rIns="0" tIns="0" bIns="0">
            <a:spAutoFit/>
          </a:bodyPr>
          <a:lstStyle/>
          <a:p>
            <a:pPr algn="ctr"/>
            <a:r>
              <a:rPr sz="3200" b="1">
                <a:solidFill>
                  <a:srgbClr val="1F3864"/>
                </a:solidFill>
                <a:latin typeface="Times New Roman"/>
              </a:rPr>
              <a:t>2,000</a:t>
            </a:r>
          </a:p>
        </p:txBody>
      </p:sp>
      <p:sp>
        <p:nvSpPr>
          <p:cNvPr id="9" name="Dataset stat label 1"/>
          <p:cNvSpPr txBox="1"/>
          <p:nvPr/>
        </p:nvSpPr>
        <p:spPr>
          <a:xfrm>
            <a:off x="1554480" y="1234440"/>
            <a:ext cx="1371600" cy="960120"/>
          </a:xfrm>
          <a:prstGeom prst="rect">
            <a:avLst/>
          </a:prstGeom>
          <a:noFill/>
        </p:spPr>
        <p:txBody>
          <a:bodyPr wrap="square" anchor="ctr" lIns="0" rIns="0" tIns="0" bIns="0">
            <a:spAutoFit/>
          </a:bodyPr>
          <a:lstStyle/>
          <a:p>
            <a:pPr algn="l"/>
            <a:r>
              <a:rPr sz="1500">
                <a:solidFill>
                  <a:srgbClr val="26323F"/>
                </a:solidFill>
                <a:latin typeface="Times New Roman"/>
              </a:rPr>
              <a:t>total reviews (demo)</a:t>
            </a:r>
          </a:p>
        </p:txBody>
      </p:sp>
      <p:sp>
        <p:nvSpPr>
          <p:cNvPr id="10" name="Dataset stat 2"/>
          <p:cNvSpPr/>
          <p:nvPr/>
        </p:nvSpPr>
        <p:spPr>
          <a:xfrm>
            <a:off x="3200400" y="1188720"/>
            <a:ext cx="2651760" cy="10515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ataset stat value 2"/>
          <p:cNvSpPr txBox="1"/>
          <p:nvPr/>
        </p:nvSpPr>
        <p:spPr>
          <a:xfrm>
            <a:off x="3291840" y="1234440"/>
            <a:ext cx="1097280" cy="960120"/>
          </a:xfrm>
          <a:prstGeom prst="rect">
            <a:avLst/>
          </a:prstGeom>
          <a:noFill/>
        </p:spPr>
        <p:txBody>
          <a:bodyPr wrap="square" anchor="ctr" lIns="0" rIns="0" tIns="0" bIns="0">
            <a:spAutoFit/>
          </a:bodyPr>
          <a:lstStyle/>
          <a:p>
            <a:pPr algn="ctr"/>
            <a:r>
              <a:rPr sz="3200" b="1">
                <a:solidFill>
                  <a:srgbClr val="1F6F78"/>
                </a:solidFill>
                <a:latin typeface="Times New Roman"/>
              </a:rPr>
              <a:t>3,548</a:t>
            </a:r>
          </a:p>
        </p:txBody>
      </p:sp>
      <p:sp>
        <p:nvSpPr>
          <p:cNvPr id="12" name="Dataset stat label 2"/>
          <p:cNvSpPr txBox="1"/>
          <p:nvPr/>
        </p:nvSpPr>
        <p:spPr>
          <a:xfrm>
            <a:off x="4389120" y="1234440"/>
            <a:ext cx="1371600" cy="960120"/>
          </a:xfrm>
          <a:prstGeom prst="rect">
            <a:avLst/>
          </a:prstGeom>
          <a:noFill/>
        </p:spPr>
        <p:txBody>
          <a:bodyPr wrap="square" anchor="ctr" lIns="0" rIns="0" tIns="0" bIns="0">
            <a:spAutoFit/>
          </a:bodyPr>
          <a:lstStyle/>
          <a:p>
            <a:pPr algn="l"/>
            <a:r>
              <a:rPr sz="1500">
                <a:solidFill>
                  <a:srgbClr val="26323F"/>
                </a:solidFill>
                <a:latin typeface="Times New Roman"/>
              </a:rPr>
              <a:t>aspect annotations</a:t>
            </a:r>
          </a:p>
        </p:txBody>
      </p:sp>
      <p:sp>
        <p:nvSpPr>
          <p:cNvPr id="13" name="Dataset stat 3"/>
          <p:cNvSpPr/>
          <p:nvPr/>
        </p:nvSpPr>
        <p:spPr>
          <a:xfrm>
            <a:off x="6035040" y="1188720"/>
            <a:ext cx="2651760" cy="10515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ataset stat value 3"/>
          <p:cNvSpPr txBox="1"/>
          <p:nvPr/>
        </p:nvSpPr>
        <p:spPr>
          <a:xfrm>
            <a:off x="6126480" y="1234440"/>
            <a:ext cx="1097280" cy="960120"/>
          </a:xfrm>
          <a:prstGeom prst="rect">
            <a:avLst/>
          </a:prstGeom>
          <a:noFill/>
        </p:spPr>
        <p:txBody>
          <a:bodyPr wrap="square" anchor="ctr" lIns="0" rIns="0" tIns="0" bIns="0">
            <a:spAutoFit/>
          </a:bodyPr>
          <a:lstStyle/>
          <a:p>
            <a:pPr algn="ctr"/>
            <a:r>
              <a:rPr sz="3200" b="1">
                <a:solidFill>
                  <a:srgbClr val="B03A5B"/>
                </a:solidFill>
                <a:latin typeface="Times New Roman"/>
              </a:rPr>
              <a:t>5</a:t>
            </a:r>
          </a:p>
        </p:txBody>
      </p:sp>
      <p:sp>
        <p:nvSpPr>
          <p:cNvPr id="15" name="Dataset stat label 3"/>
          <p:cNvSpPr txBox="1"/>
          <p:nvPr/>
        </p:nvSpPr>
        <p:spPr>
          <a:xfrm>
            <a:off x="7223760" y="1234440"/>
            <a:ext cx="1371600" cy="960120"/>
          </a:xfrm>
          <a:prstGeom prst="rect">
            <a:avLst/>
          </a:prstGeom>
          <a:noFill/>
        </p:spPr>
        <p:txBody>
          <a:bodyPr wrap="square" anchor="ctr" lIns="0" rIns="0" tIns="0" bIns="0">
            <a:spAutoFit/>
          </a:bodyPr>
          <a:lstStyle/>
          <a:p>
            <a:pPr algn="l"/>
            <a:r>
              <a:rPr sz="1500">
                <a:solidFill>
                  <a:srgbClr val="26323F"/>
                </a:solidFill>
                <a:latin typeface="Times New Roman"/>
              </a:rPr>
              <a:t>platforms, 3 categories</a:t>
            </a:r>
          </a:p>
        </p:txBody>
      </p:sp>
      <p:sp>
        <p:nvSpPr>
          <p:cNvPr id="16" name="Class chart card"/>
          <p:cNvSpPr/>
          <p:nvPr/>
        </p:nvSpPr>
        <p:spPr>
          <a:xfrm>
            <a:off x="365760" y="2423160"/>
            <a:ext cx="4023360" cy="37947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Class distribution chart"/>
          <p:cNvGraphicFramePr>
            <a:graphicFrameLocks noGrp="1"/>
          </p:cNvGraphicFramePr>
          <p:nvPr/>
        </p:nvGraphicFramePr>
        <p:xfrm>
          <a:off x="457200" y="2514600"/>
          <a:ext cx="3840480" cy="3611880"/>
        </p:xfrm>
        <a:graphic>
          <a:graphicData uri="http://schemas.openxmlformats.org/drawingml/2006/chart">
            <c:chart xmlns:c="http://schemas.openxmlformats.org/drawingml/2006/chart" r:id="rId3"/>
          </a:graphicData>
        </a:graphic>
      </p:graphicFrame>
      <p:sp>
        <p:nvSpPr>
          <p:cNvPr id="18" name="Dataset details card"/>
          <p:cNvSpPr/>
          <p:nvPr/>
        </p:nvSpPr>
        <p:spPr>
          <a:xfrm>
            <a:off x="4572000" y="2423160"/>
            <a:ext cx="4023360" cy="37947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ataset details"/>
          <p:cNvSpPr txBox="1"/>
          <p:nvPr/>
        </p:nvSpPr>
        <p:spPr>
          <a:xfrm>
            <a:off x="4800600" y="2606040"/>
            <a:ext cx="3611880" cy="3566160"/>
          </a:xfrm>
          <a:prstGeom prst="rect">
            <a:avLst/>
          </a:prstGeom>
          <a:noFill/>
        </p:spPr>
        <p:txBody>
          <a:bodyPr wrap="square" anchor="t" lIns="0" rIns="0" tIns="0" bIns="0">
            <a:spAutoFit/>
          </a:bodyPr>
          <a:lstStyle/>
          <a:p>
            <a:pPr marL="228600" indent="-228600">
              <a:spcAft>
                <a:spcPts val="500"/>
              </a:spcAft>
              <a:buFont typeface="Arial"/>
              <a:buChar char="•"/>
            </a:pPr>
            <a:r>
              <a:rPr sz="1500" b="1">
                <a:solidFill>
                  <a:srgbClr val="1F3864"/>
                </a:solidFill>
                <a:latin typeface="Times New Roman"/>
              </a:rPr>
              <a:t>Source: synthetic demo corpus (generate_dataset.py v2, seed 42), built after verifying platform review access; real collection pending</a:t>
            </a:r>
          </a:p>
          <a:p>
            <a:pPr marL="228600" indent="-228600">
              <a:spcAft>
                <a:spcPts val="500"/>
              </a:spcAft>
              <a:buFont typeface="Arial"/>
              <a:buChar char="•"/>
            </a:pPr>
            <a:r>
              <a:rPr sz="1500" b="1">
                <a:solidFill>
                  <a:srgbClr val="1F3864"/>
                </a:solidFill>
                <a:latin typeface="Times New Roman"/>
              </a:rPr>
              <a:t>Categories: Smartphone 989, Laptop 595, DSLR / Camera 416</a:t>
            </a:r>
          </a:p>
          <a:p>
            <a:pPr marL="228600" indent="-228600">
              <a:spcAft>
                <a:spcPts val="500"/>
              </a:spcAft>
              <a:buFont typeface="Arial"/>
              <a:buChar char="•"/>
            </a:pPr>
            <a:r>
              <a:rPr sz="1500" b="1">
                <a:solidFill>
                  <a:srgbClr val="1F3864"/>
                </a:solidFill>
                <a:latin typeface="Times New Roman"/>
              </a:rPr>
              <a:t>Fields: review text, marketplace, category, aspect, evidence phrase, sentiment</a:t>
            </a:r>
          </a:p>
          <a:p>
            <a:pPr marL="228600" indent="-228600">
              <a:spcAft>
                <a:spcPts val="500"/>
              </a:spcAft>
              <a:buFont typeface="Arial"/>
              <a:buChar char="•"/>
            </a:pPr>
            <a:r>
              <a:rPr sz="1500" b="1">
                <a:solidFill>
                  <a:srgbClr val="1F3864"/>
                </a:solidFill>
                <a:latin typeface="Times New Roman"/>
              </a:rPr>
              <a:t>Labels: Positive 1,691 (47.7%), Negative 1,120 (31.6%), Neutral 737 (20.8%)</a:t>
            </a:r>
          </a:p>
          <a:p>
            <a:pPr marL="228600" indent="-228600">
              <a:spcAft>
                <a:spcPts val="500"/>
              </a:spcAft>
              <a:buFont typeface="Arial"/>
              <a:buChar char="•"/>
            </a:pPr>
            <a:r>
              <a:rPr sz="1500" b="1">
                <a:solidFill>
                  <a:srgbClr val="1F3864"/>
                </a:solidFill>
                <a:latin typeface="Times New Roman"/>
              </a:rPr>
              <a:t>Split: train 2,475 / validation 536 / test 537 (review-level, seed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Pre-processing</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Technique card 1"/>
          <p:cNvSpPr/>
          <p:nvPr/>
        </p:nvSpPr>
        <p:spPr>
          <a:xfrm>
            <a:off x="365760" y="1188720"/>
            <a:ext cx="26517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chnique head 1"/>
          <p:cNvSpPr txBox="1"/>
          <p:nvPr/>
        </p:nvSpPr>
        <p:spPr>
          <a:xfrm>
            <a:off x="548640" y="1325880"/>
            <a:ext cx="2286000" cy="411480"/>
          </a:xfrm>
          <a:prstGeom prst="rect">
            <a:avLst/>
          </a:prstGeom>
          <a:noFill/>
        </p:spPr>
        <p:txBody>
          <a:bodyPr wrap="square" anchor="t" lIns="0" rIns="0" tIns="0" bIns="0">
            <a:spAutoFit/>
          </a:bodyPr>
          <a:lstStyle/>
          <a:p>
            <a:pPr algn="l"/>
            <a:r>
              <a:rPr sz="1900" b="1">
                <a:solidFill>
                  <a:srgbClr val="1F6F78"/>
                </a:solidFill>
                <a:latin typeface="Times New Roman"/>
              </a:rPr>
              <a:t>Cleaning</a:t>
            </a:r>
          </a:p>
        </p:txBody>
      </p:sp>
      <p:sp>
        <p:nvSpPr>
          <p:cNvPr id="9" name="Technique points 1"/>
          <p:cNvSpPr txBox="1"/>
          <p:nvPr/>
        </p:nvSpPr>
        <p:spPr>
          <a:xfrm>
            <a:off x="548640" y="1874519"/>
            <a:ext cx="2331720" cy="3429000"/>
          </a:xfrm>
          <a:prstGeom prst="rect">
            <a:avLst/>
          </a:prstGeom>
          <a:noFill/>
        </p:spPr>
        <p:txBody>
          <a:bodyPr wrap="square" anchor="t" lIns="0" rIns="0" tIns="0" bIns="0">
            <a:spAutoFit/>
          </a:bodyPr>
          <a:lstStyle/>
          <a:p>
            <a:pPr marL="228600" indent="-228600">
              <a:spcAft>
                <a:spcPts val="600"/>
              </a:spcAft>
              <a:buFont typeface="Arial"/>
              <a:buChar char="•"/>
            </a:pPr>
            <a:r>
              <a:rPr sz="1500">
                <a:solidFill>
                  <a:srgbClr val="26323F"/>
                </a:solidFill>
                <a:latin typeface="Times New Roman"/>
              </a:rPr>
              <a:t>Lowercasing and punctuation normalisation</a:t>
            </a:r>
          </a:p>
          <a:p>
            <a:pPr marL="228600" indent="-228600">
              <a:spcAft>
                <a:spcPts val="600"/>
              </a:spcAft>
              <a:buFont typeface="Arial"/>
              <a:buChar char="•"/>
            </a:pPr>
            <a:r>
              <a:rPr sz="1500">
                <a:solidFill>
                  <a:srgbClr val="26323F"/>
                </a:solidFill>
                <a:latin typeface="Times New Roman"/>
              </a:rPr>
              <a:t>Remove duplicates and near-empty reviews</a:t>
            </a:r>
          </a:p>
          <a:p>
            <a:pPr marL="228600" indent="-228600">
              <a:spcAft>
                <a:spcPts val="600"/>
              </a:spcAft>
              <a:buFont typeface="Arial"/>
              <a:buChar char="•"/>
            </a:pPr>
            <a:r>
              <a:rPr sz="1500">
                <a:solidFill>
                  <a:srgbClr val="26323F"/>
                </a:solidFill>
                <a:latin typeface="Times New Roman"/>
              </a:rPr>
              <a:t>Keep negation ('not good') and contrast ('but') markers</a:t>
            </a:r>
          </a:p>
          <a:p>
            <a:pPr marL="228600" indent="-228600">
              <a:spcAft>
                <a:spcPts val="600"/>
              </a:spcAft>
              <a:buFont typeface="Arial"/>
              <a:buChar char="•"/>
            </a:pPr>
            <a:r>
              <a:rPr sz="1500">
                <a:solidFill>
                  <a:srgbClr val="26323F"/>
                </a:solidFill>
                <a:latin typeface="Times New Roman"/>
              </a:rPr>
              <a:t>Filter very short, uninformative texts</a:t>
            </a:r>
          </a:p>
        </p:txBody>
      </p:sp>
      <p:sp>
        <p:nvSpPr>
          <p:cNvPr id="10" name="Technique card 2"/>
          <p:cNvSpPr/>
          <p:nvPr/>
        </p:nvSpPr>
        <p:spPr>
          <a:xfrm>
            <a:off x="3154679" y="1188720"/>
            <a:ext cx="26517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chnique head 2"/>
          <p:cNvSpPr txBox="1"/>
          <p:nvPr/>
        </p:nvSpPr>
        <p:spPr>
          <a:xfrm>
            <a:off x="3337560" y="1325880"/>
            <a:ext cx="2286000" cy="411480"/>
          </a:xfrm>
          <a:prstGeom prst="rect">
            <a:avLst/>
          </a:prstGeom>
          <a:noFill/>
        </p:spPr>
        <p:txBody>
          <a:bodyPr wrap="square" anchor="t" lIns="0" rIns="0" tIns="0" bIns="0">
            <a:spAutoFit/>
          </a:bodyPr>
          <a:lstStyle/>
          <a:p>
            <a:pPr algn="l"/>
            <a:r>
              <a:rPr sz="1900" b="1">
                <a:solidFill>
                  <a:srgbClr val="1F3864"/>
                </a:solidFill>
                <a:latin typeface="Times New Roman"/>
              </a:rPr>
              <a:t>Aspect tagging</a:t>
            </a:r>
          </a:p>
        </p:txBody>
      </p:sp>
      <p:sp>
        <p:nvSpPr>
          <p:cNvPr id="12" name="Technique points 2"/>
          <p:cNvSpPr txBox="1"/>
          <p:nvPr/>
        </p:nvSpPr>
        <p:spPr>
          <a:xfrm>
            <a:off x="3337560" y="1874519"/>
            <a:ext cx="2331720" cy="3429000"/>
          </a:xfrm>
          <a:prstGeom prst="rect">
            <a:avLst/>
          </a:prstGeom>
          <a:noFill/>
        </p:spPr>
        <p:txBody>
          <a:bodyPr wrap="square" anchor="t" lIns="0" rIns="0" tIns="0" bIns="0">
            <a:spAutoFit/>
          </a:bodyPr>
          <a:lstStyle/>
          <a:p>
            <a:pPr marL="228600" indent="-228600">
              <a:spcAft>
                <a:spcPts val="600"/>
              </a:spcAft>
              <a:buFont typeface="Arial"/>
              <a:buChar char="•"/>
            </a:pPr>
            <a:r>
              <a:rPr sz="1500">
                <a:solidFill>
                  <a:srgbClr val="26323F"/>
                </a:solidFill>
                <a:latin typeface="Times New Roman"/>
              </a:rPr>
              <a:t>Product condition, Battery health, Performance</a:t>
            </a:r>
          </a:p>
          <a:p>
            <a:pPr marL="228600" indent="-228600">
              <a:spcAft>
                <a:spcPts val="600"/>
              </a:spcAft>
              <a:buFont typeface="Arial"/>
              <a:buChar char="•"/>
            </a:pPr>
            <a:r>
              <a:rPr sz="1500">
                <a:solidFill>
                  <a:srgbClr val="26323F"/>
                </a:solidFill>
                <a:latin typeface="Times New Roman"/>
              </a:rPr>
              <a:t>Price and value, Packaging and delivery</a:t>
            </a:r>
          </a:p>
          <a:p>
            <a:pPr marL="228600" indent="-228600">
              <a:spcAft>
                <a:spcPts val="600"/>
              </a:spcAft>
              <a:buFont typeface="Arial"/>
              <a:buChar char="•"/>
            </a:pPr>
            <a:r>
              <a:rPr sz="1500">
                <a:solidFill>
                  <a:srgbClr val="26323F"/>
                </a:solidFill>
                <a:latin typeface="Times New Roman"/>
              </a:rPr>
              <a:t>Repair and refurbishment quality</a:t>
            </a:r>
          </a:p>
          <a:p>
            <a:pPr marL="228600" indent="-228600">
              <a:spcAft>
                <a:spcPts val="600"/>
              </a:spcAft>
              <a:buFont typeface="Arial"/>
              <a:buChar char="•"/>
            </a:pPr>
            <a:r>
              <a:rPr sz="1500">
                <a:solidFill>
                  <a:srgbClr val="26323F"/>
                </a:solidFill>
                <a:latin typeface="Times New Roman"/>
              </a:rPr>
              <a:t>Seller and customer service</a:t>
            </a:r>
          </a:p>
          <a:p>
            <a:pPr marL="228600" indent="-228600">
              <a:spcAft>
                <a:spcPts val="600"/>
              </a:spcAft>
              <a:buFont typeface="Arial"/>
              <a:buChar char="•"/>
            </a:pPr>
            <a:r>
              <a:rPr sz="1500">
                <a:solidFill>
                  <a:srgbClr val="26323F"/>
                </a:solidFill>
                <a:latin typeface="Times New Roman"/>
              </a:rPr>
              <a:t>Returns and refunds, Trust and authenticity</a:t>
            </a:r>
          </a:p>
          <a:p>
            <a:pPr marL="228600" indent="-228600">
              <a:spcAft>
                <a:spcPts val="600"/>
              </a:spcAft>
              <a:buFont typeface="Arial"/>
              <a:buChar char="•"/>
            </a:pPr>
            <a:r>
              <a:rPr sz="1500">
                <a:solidFill>
                  <a:srgbClr val="26323F"/>
                </a:solidFill>
                <a:latin typeface="Times New Roman"/>
              </a:rPr>
              <a:t>One annotation per mention, evidence phrase stored</a:t>
            </a:r>
          </a:p>
        </p:txBody>
      </p:sp>
      <p:sp>
        <p:nvSpPr>
          <p:cNvPr id="13" name="Technique card 3"/>
          <p:cNvSpPr/>
          <p:nvPr/>
        </p:nvSpPr>
        <p:spPr>
          <a:xfrm>
            <a:off x="5943600" y="1188720"/>
            <a:ext cx="2651760" cy="416052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chnique head 3"/>
          <p:cNvSpPr txBox="1"/>
          <p:nvPr/>
        </p:nvSpPr>
        <p:spPr>
          <a:xfrm>
            <a:off x="6126480" y="1325880"/>
            <a:ext cx="2286000" cy="411480"/>
          </a:xfrm>
          <a:prstGeom prst="rect">
            <a:avLst/>
          </a:prstGeom>
          <a:noFill/>
        </p:spPr>
        <p:txBody>
          <a:bodyPr wrap="square" anchor="t" lIns="0" rIns="0" tIns="0" bIns="0">
            <a:spAutoFit/>
          </a:bodyPr>
          <a:lstStyle/>
          <a:p>
            <a:pPr algn="l"/>
            <a:r>
              <a:rPr sz="1900" b="1">
                <a:solidFill>
                  <a:srgbClr val="B03A5B"/>
                </a:solidFill>
                <a:latin typeface="Times New Roman"/>
              </a:rPr>
              <a:t>Labels and split</a:t>
            </a:r>
          </a:p>
        </p:txBody>
      </p:sp>
      <p:sp>
        <p:nvSpPr>
          <p:cNvPr id="15" name="Technique points 3"/>
          <p:cNvSpPr txBox="1"/>
          <p:nvPr/>
        </p:nvSpPr>
        <p:spPr>
          <a:xfrm>
            <a:off x="6126480" y="1874519"/>
            <a:ext cx="2331720" cy="3429000"/>
          </a:xfrm>
          <a:prstGeom prst="rect">
            <a:avLst/>
          </a:prstGeom>
          <a:noFill/>
        </p:spPr>
        <p:txBody>
          <a:bodyPr wrap="square" anchor="t" lIns="0" rIns="0" tIns="0" bIns="0">
            <a:spAutoFit/>
          </a:bodyPr>
          <a:lstStyle/>
          <a:p>
            <a:pPr marL="228600" indent="-228600">
              <a:spcAft>
                <a:spcPts val="600"/>
              </a:spcAft>
              <a:buFont typeface="Arial"/>
              <a:buChar char="•"/>
            </a:pPr>
            <a:r>
              <a:rPr sz="1500">
                <a:solidFill>
                  <a:srgbClr val="26323F"/>
                </a:solidFill>
                <a:latin typeface="Times New Roman"/>
              </a:rPr>
              <a:t>Three labels: Positive / Neutral / Negative</a:t>
            </a:r>
          </a:p>
          <a:p>
            <a:pPr marL="228600" indent="-228600">
              <a:spcAft>
                <a:spcPts val="600"/>
              </a:spcAft>
              <a:buFont typeface="Arial"/>
              <a:buChar char="•"/>
            </a:pPr>
            <a:r>
              <a:rPr sz="1500">
                <a:solidFill>
                  <a:srgbClr val="26323F"/>
                </a:solidFill>
                <a:latin typeface="Times New Roman"/>
              </a:rPr>
              <a:t>Review-level stratified 70/15/15, seed 42</a:t>
            </a:r>
          </a:p>
          <a:p>
            <a:pPr marL="228600" indent="-228600">
              <a:spcAft>
                <a:spcPts val="600"/>
              </a:spcAft>
              <a:buFont typeface="Arial"/>
              <a:buChar char="•"/>
            </a:pPr>
            <a:r>
              <a:rPr sz="1500">
                <a:solidFill>
                  <a:srgbClr val="26323F"/>
                </a:solidFill>
                <a:latin typeface="Times New Roman"/>
              </a:rPr>
              <a:t>Same held-out test set used for every model</a:t>
            </a:r>
          </a:p>
          <a:p>
            <a:pPr marL="228600" indent="-228600">
              <a:spcAft>
                <a:spcPts val="600"/>
              </a:spcAft>
              <a:buFont typeface="Arial"/>
              <a:buChar char="•"/>
            </a:pPr>
            <a:r>
              <a:rPr sz="1500">
                <a:solidFill>
                  <a:srgbClr val="26323F"/>
                </a:solidFill>
                <a:latin typeface="Times New Roman"/>
              </a:rPr>
              <a:t>10% label noise simulates annotator disagreement</a:t>
            </a:r>
          </a:p>
        </p:txBody>
      </p:sp>
      <p:sp>
        <p:nvSpPr>
          <p:cNvPr id="16" name="Test preprocessing strip"/>
          <p:cNvSpPr/>
          <p:nvPr/>
        </p:nvSpPr>
        <p:spPr>
          <a:xfrm>
            <a:off x="365760" y="5532120"/>
            <a:ext cx="8229600" cy="77724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st preprocessing text"/>
          <p:cNvSpPr txBox="1"/>
          <p:nvPr/>
        </p:nvSpPr>
        <p:spPr>
          <a:xfrm>
            <a:off x="594360" y="5577840"/>
            <a:ext cx="7772400" cy="685800"/>
          </a:xfrm>
          <a:prstGeom prst="rect">
            <a:avLst/>
          </a:prstGeom>
          <a:noFill/>
        </p:spPr>
        <p:txBody>
          <a:bodyPr wrap="square" anchor="ctr" lIns="0" rIns="0" tIns="0" bIns="0">
            <a:spAutoFit/>
          </a:bodyPr>
          <a:lstStyle/>
          <a:p>
            <a:pPr algn="l"/>
            <a:r>
              <a:rPr sz="1500" b="1">
                <a:solidFill>
                  <a:srgbClr val="1F3864"/>
                </a:solidFill>
                <a:latin typeface="Times New Roman"/>
              </a:rPr>
              <a:t>Negation and contrast words are kept through cleaning, since 'good battery but cracked screen' must survive to the aspect stage.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Methodology: Models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CNN card"/>
          <p:cNvSpPr/>
          <p:nvPr/>
        </p:nvSpPr>
        <p:spPr>
          <a:xfrm>
            <a:off x="365760" y="1188720"/>
            <a:ext cx="4023360" cy="251460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NN card head"/>
          <p:cNvSpPr txBox="1"/>
          <p:nvPr/>
        </p:nvSpPr>
        <p:spPr>
          <a:xfrm>
            <a:off x="594360" y="1353312"/>
            <a:ext cx="3566160" cy="411480"/>
          </a:xfrm>
          <a:prstGeom prst="rect">
            <a:avLst/>
          </a:prstGeom>
          <a:noFill/>
        </p:spPr>
        <p:txBody>
          <a:bodyPr wrap="square" anchor="t" lIns="0" rIns="0" tIns="0" bIns="0">
            <a:spAutoFit/>
          </a:bodyPr>
          <a:lstStyle/>
          <a:p>
            <a:pPr algn="l"/>
            <a:r>
              <a:rPr sz="1800" b="1">
                <a:solidFill>
                  <a:srgbClr val="1F3864"/>
                </a:solidFill>
                <a:latin typeface="Times New Roman"/>
              </a:rPr>
              <a:t>TF-IDF classical models</a:t>
            </a:r>
          </a:p>
        </p:txBody>
      </p:sp>
      <p:sp>
        <p:nvSpPr>
          <p:cNvPr id="9" name="CNN points"/>
          <p:cNvSpPr txBox="1"/>
          <p:nvPr/>
        </p:nvSpPr>
        <p:spPr>
          <a:xfrm>
            <a:off x="594360" y="1737360"/>
            <a:ext cx="3611880" cy="1920240"/>
          </a:xfrm>
          <a:prstGeom prst="rect">
            <a:avLst/>
          </a:prstGeom>
          <a:noFill/>
        </p:spPr>
        <p:txBody>
          <a:bodyPr wrap="square" anchor="t" lIns="0" rIns="0" tIns="0" bIns="0">
            <a:spAutoFit/>
          </a:bodyPr>
          <a:lstStyle/>
          <a:p>
            <a:pPr marL="228600" indent="-228600">
              <a:spcAft>
                <a:spcPts val="200"/>
              </a:spcAft>
              <a:buFont typeface="Arial"/>
              <a:buChar char="•"/>
            </a:pPr>
            <a:r>
              <a:rPr sz="1500" b="1">
                <a:solidFill>
                  <a:srgbClr val="1F3864"/>
                </a:solidFill>
                <a:latin typeface="Times New Roman"/>
              </a:rPr>
              <a:t>TF-IDF n-gram features over annotation text</a:t>
            </a:r>
          </a:p>
          <a:p>
            <a:pPr marL="228600" indent="-228600">
              <a:spcAft>
                <a:spcPts val="200"/>
              </a:spcAft>
              <a:buFont typeface="Arial"/>
              <a:buChar char="•"/>
            </a:pPr>
            <a:r>
              <a:rPr sz="1500" b="1">
                <a:solidFill>
                  <a:srgbClr val="1F3864"/>
                </a:solidFill>
                <a:latin typeface="Times New Roman"/>
              </a:rPr>
              <a:t>Logistic Regression with balanced class weights</a:t>
            </a:r>
          </a:p>
          <a:p>
            <a:pPr marL="228600" indent="-228600">
              <a:spcAft>
                <a:spcPts val="200"/>
              </a:spcAft>
              <a:buFont typeface="Arial"/>
              <a:buChar char="•"/>
            </a:pPr>
            <a:r>
              <a:rPr sz="1500" b="1">
                <a:solidFill>
                  <a:srgbClr val="1F3864"/>
                </a:solidFill>
                <a:latin typeface="Times New Roman"/>
              </a:rPr>
              <a:t>Random Forest and XGBoost on the same features</a:t>
            </a:r>
          </a:p>
          <a:p>
            <a:pPr marL="228600" indent="-228600">
              <a:spcAft>
                <a:spcPts val="200"/>
              </a:spcAft>
              <a:buFont typeface="Arial"/>
              <a:buChar char="•"/>
            </a:pPr>
            <a:r>
              <a:rPr sz="1500" b="1">
                <a:solidFill>
                  <a:srgbClr val="1F3864"/>
                </a:solidFill>
                <a:latin typeface="Times New Roman"/>
              </a:rPr>
              <a:t>Fast, interpretable baselines</a:t>
            </a:r>
          </a:p>
        </p:txBody>
      </p:sp>
      <p:sp>
        <p:nvSpPr>
          <p:cNvPr id="10" name="TL card"/>
          <p:cNvSpPr/>
          <p:nvPr/>
        </p:nvSpPr>
        <p:spPr>
          <a:xfrm>
            <a:off x="4572000" y="1188720"/>
            <a:ext cx="4023360" cy="251460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L card head"/>
          <p:cNvSpPr txBox="1"/>
          <p:nvPr/>
        </p:nvSpPr>
        <p:spPr>
          <a:xfrm>
            <a:off x="4800600" y="1353312"/>
            <a:ext cx="3566160" cy="411480"/>
          </a:xfrm>
          <a:prstGeom prst="rect">
            <a:avLst/>
          </a:prstGeom>
          <a:noFill/>
        </p:spPr>
        <p:txBody>
          <a:bodyPr wrap="square" anchor="t" lIns="0" rIns="0" tIns="0" bIns="0">
            <a:spAutoFit/>
          </a:bodyPr>
          <a:lstStyle/>
          <a:p>
            <a:pPr algn="l"/>
            <a:r>
              <a:rPr sz="1800" b="1">
                <a:solidFill>
                  <a:srgbClr val="1F6F78"/>
                </a:solidFill>
                <a:latin typeface="Times New Roman"/>
              </a:rPr>
              <a:t>BERT fine-tuning</a:t>
            </a:r>
          </a:p>
        </p:txBody>
      </p:sp>
      <p:sp>
        <p:nvSpPr>
          <p:cNvPr id="12" name="TL points"/>
          <p:cNvSpPr txBox="1"/>
          <p:nvPr/>
        </p:nvSpPr>
        <p:spPr>
          <a:xfrm>
            <a:off x="4800600" y="1737360"/>
            <a:ext cx="3611880" cy="1920240"/>
          </a:xfrm>
          <a:prstGeom prst="rect">
            <a:avLst/>
          </a:prstGeom>
          <a:noFill/>
        </p:spPr>
        <p:txBody>
          <a:bodyPr wrap="square" anchor="t" lIns="0" rIns="0" tIns="0" bIns="0">
            <a:spAutoFit/>
          </a:bodyPr>
          <a:lstStyle/>
          <a:p>
            <a:pPr marL="228600" indent="-228600">
              <a:spcAft>
                <a:spcPts val="300"/>
              </a:spcAft>
              <a:buFont typeface="Arial"/>
              <a:buChar char="•"/>
            </a:pPr>
            <a:r>
              <a:rPr sz="1500">
                <a:solidFill>
                  <a:srgbClr val="26323F"/>
                </a:solidFill>
                <a:latin typeface="Times New Roman"/>
              </a:rPr>
              <a:t>distilbert-base-uncased with a 3-class head</a:t>
            </a:r>
          </a:p>
          <a:p>
            <a:pPr marL="228600" indent="-228600">
              <a:spcAft>
                <a:spcPts val="300"/>
              </a:spcAft>
              <a:buFont typeface="Arial"/>
              <a:buChar char="•"/>
            </a:pPr>
            <a:r>
              <a:rPr sz="1500">
                <a:solidFill>
                  <a:srgbClr val="26323F"/>
                </a:solidFill>
                <a:latin typeface="Times New Roman"/>
              </a:rPr>
              <a:t>Trained on the training partition only</a:t>
            </a:r>
          </a:p>
          <a:p>
            <a:pPr marL="228600" indent="-228600">
              <a:spcAft>
                <a:spcPts val="300"/>
              </a:spcAft>
              <a:buFont typeface="Arial"/>
              <a:buChar char="•"/>
            </a:pPr>
            <a:r>
              <a:rPr sz="1500">
                <a:solidFill>
                  <a:srgbClr val="26323F"/>
                </a:solidFill>
                <a:latin typeface="Times New Roman"/>
              </a:rPr>
              <a:t>Best epoch on validation; tested once</a:t>
            </a:r>
          </a:p>
          <a:p>
            <a:pPr marL="228600" indent="-228600">
              <a:spcAft>
                <a:spcPts val="300"/>
              </a:spcAft>
              <a:buFont typeface="Arial"/>
              <a:buChar char="•"/>
            </a:pPr>
            <a:r>
              <a:rPr sz="1500">
                <a:solidFill>
                  <a:srgbClr val="26323F"/>
                </a:solidFill>
                <a:latin typeface="Times New Roman"/>
              </a:rPr>
              <a:t>CPU, batch 16, max length 128, lr 2e-5, seed 42</a:t>
            </a:r>
          </a:p>
        </p:txBody>
      </p:sp>
      <p:graphicFrame>
        <p:nvGraphicFramePr>
          <p:cNvPr id="13" name="Models table"/>
          <p:cNvGraphicFramePr>
            <a:graphicFrameLocks noGrp="1"/>
          </p:cNvGraphicFramePr>
          <p:nvPr/>
        </p:nvGraphicFramePr>
        <p:xfrm>
          <a:off x="365760" y="3886200"/>
          <a:ext cx="8229600" cy="2286000"/>
        </p:xfrm>
        <a:graphic>
          <a:graphicData uri="http://schemas.openxmlformats.org/drawingml/2006/table">
            <a:tbl>
              <a:tblPr firstRow="1" bandRow="0">
                <a:tableStyleId>{5C22544A-7EE6-4342-B048-85BDC9FD1C3A}</a:tableStyleId>
              </a:tblPr>
              <a:tblGrid>
                <a:gridCol w="1828800"/>
                <a:gridCol w="3291840"/>
                <a:gridCol w="1554480"/>
                <a:gridCol w="1554480"/>
              </a:tblGrid>
              <a:tr h="457200">
                <a:tc>
                  <a:txBody>
                    <a:bodyPr wrap="square"/>
                    <a:lstStyle/>
                    <a:p>
                      <a:r>
                        <a:rPr sz="1400" b="1">
                          <a:solidFill>
                            <a:srgbClr val="FFFFFF"/>
                          </a:solidFill>
                          <a:latin typeface="Times New Roman"/>
                        </a:rPr>
                        <a:t>Model</a:t>
                      </a:r>
                    </a:p>
                  </a:txBody>
                  <a:tcPr marL="91440" marR="91440" marT="36576" marB="36576" anchor="ctr">
                    <a:solidFill>
                      <a:srgbClr val="1F3864"/>
                    </a:solidFill>
                  </a:tcPr>
                </a:tc>
                <a:tc>
                  <a:txBody>
                    <a:bodyPr wrap="square"/>
                    <a:lstStyle/>
                    <a:p>
                      <a:r>
                        <a:rPr sz="1400" b="1">
                          <a:solidFill>
                            <a:srgbClr val="FFFFFF"/>
                          </a:solidFill>
                          <a:latin typeface="Times New Roman"/>
                        </a:rPr>
                        <a:t>Key idea</a:t>
                      </a:r>
                    </a:p>
                  </a:txBody>
                  <a:tcPr marL="91440" marR="91440" marT="36576" marB="36576" anchor="ctr">
                    <a:solidFill>
                      <a:srgbClr val="1F3864"/>
                    </a:solidFill>
                  </a:tcPr>
                </a:tc>
                <a:tc>
                  <a:txBody>
                    <a:bodyPr wrap="square"/>
                    <a:lstStyle/>
                    <a:p>
                      <a:r>
                        <a:rPr sz="1400" b="1">
                          <a:solidFill>
                            <a:srgbClr val="FFFFFF"/>
                          </a:solidFill>
                          <a:latin typeface="Times New Roman"/>
                        </a:rPr>
                        <a:t>Features</a:t>
                      </a:r>
                    </a:p>
                  </a:txBody>
                  <a:tcPr marL="91440" marR="91440" marT="36576" marB="36576" anchor="ctr">
                    <a:solidFill>
                      <a:srgbClr val="1F3864"/>
                    </a:solidFill>
                  </a:tcPr>
                </a:tc>
                <a:tc>
                  <a:txBody>
                    <a:bodyPr wrap="square"/>
                    <a:lstStyle/>
                    <a:p>
                      <a:r>
                        <a:rPr sz="1400" b="1">
                          <a:solidFill>
                            <a:srgbClr val="FFFFFF"/>
                          </a:solidFill>
                          <a:latin typeface="Times New Roman"/>
                        </a:rPr>
                        <a:t>Notes</a:t>
                      </a:r>
                    </a:p>
                  </a:txBody>
                  <a:tcPr marL="91440" marR="91440" marT="36576" marB="36576" anchor="ctr">
                    <a:solidFill>
                      <a:srgbClr val="1F3864"/>
                    </a:solidFill>
                  </a:tcPr>
                </a:tc>
              </a:tr>
              <a:tr h="457200">
                <a:tc>
                  <a:txBody>
                    <a:bodyPr wrap="square"/>
                    <a:lstStyle/>
                    <a:p>
                      <a:r>
                        <a:rPr sz="1400" b="1">
                          <a:solidFill>
                            <a:srgbClr val="1F3864"/>
                          </a:solidFill>
                          <a:latin typeface="Times New Roman"/>
                        </a:rPr>
                        <a:t>Logistic Regression</a:t>
                      </a:r>
                    </a:p>
                  </a:txBody>
                  <a:tcPr marL="91440" marR="91440" marT="36576" marB="36576" anchor="ctr">
                    <a:solidFill>
                      <a:srgbClr val="FFFFFF"/>
                    </a:solidFill>
                  </a:tcPr>
                </a:tc>
                <a:tc>
                  <a:txBody>
                    <a:bodyPr wrap="square"/>
                    <a:lstStyle/>
                    <a:p>
                      <a:r>
                        <a:rPr sz="1400" b="0">
                          <a:solidFill>
                            <a:srgbClr val="26323F"/>
                          </a:solidFill>
                          <a:latin typeface="Times New Roman"/>
                        </a:rPr>
                        <a:t>Linear margin classifier</a:t>
                      </a:r>
                    </a:p>
                  </a:txBody>
                  <a:tcPr marL="91440" marR="91440" marT="36576" marB="36576" anchor="ctr">
                    <a:solidFill>
                      <a:srgbClr val="FFFFFF"/>
                    </a:solidFill>
                  </a:tcPr>
                </a:tc>
                <a:tc>
                  <a:txBody>
                    <a:bodyPr wrap="square"/>
                    <a:lstStyle/>
                    <a:p>
                      <a:r>
                        <a:rPr sz="1400" b="0">
                          <a:solidFill>
                            <a:srgbClr val="26323F"/>
                          </a:solidFill>
                          <a:latin typeface="Times New Roman"/>
                        </a:rPr>
                        <a:t>TF-IDF n-grams</a:t>
                      </a:r>
                    </a:p>
                  </a:txBody>
                  <a:tcPr marL="91440" marR="91440" marT="36576" marB="36576" anchor="ctr">
                    <a:solidFill>
                      <a:srgbClr val="FFFFFF"/>
                    </a:solidFill>
                  </a:tcPr>
                </a:tc>
                <a:tc>
                  <a:txBody>
                    <a:bodyPr wrap="square"/>
                    <a:lstStyle/>
                    <a:p>
                      <a:r>
                        <a:rPr sz="1400" b="0">
                          <a:solidFill>
                            <a:srgbClr val="26323F"/>
                          </a:solidFill>
                          <a:latin typeface="Times New Roman"/>
                        </a:rPr>
                        <a:t>Balanced class weights</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Random Forest</a:t>
                      </a:r>
                    </a:p>
                  </a:txBody>
                  <a:tcPr marL="91440" marR="91440" marT="36576" marB="36576" anchor="ctr">
                    <a:solidFill>
                      <a:srgbClr val="EEF4F8"/>
                    </a:solidFill>
                  </a:tcPr>
                </a:tc>
                <a:tc>
                  <a:txBody>
                    <a:bodyPr wrap="square"/>
                    <a:lstStyle/>
                    <a:p>
                      <a:r>
                        <a:rPr sz="1400" b="0">
                          <a:solidFill>
                            <a:srgbClr val="26323F"/>
                          </a:solidFill>
                          <a:latin typeface="Times New Roman"/>
                        </a:rPr>
                        <a:t>Bagged decision trees</a:t>
                      </a:r>
                    </a:p>
                  </a:txBody>
                  <a:tcPr marL="91440" marR="91440" marT="36576" marB="36576" anchor="ctr">
                    <a:solidFill>
                      <a:srgbClr val="EEF4F8"/>
                    </a:solidFill>
                  </a:tcPr>
                </a:tc>
                <a:tc>
                  <a:txBody>
                    <a:bodyPr wrap="square"/>
                    <a:lstStyle/>
                    <a:p>
                      <a:r>
                        <a:rPr sz="1400" b="0">
                          <a:solidFill>
                            <a:srgbClr val="26323F"/>
                          </a:solidFill>
                          <a:latin typeface="Times New Roman"/>
                        </a:rPr>
                        <a:t>TF-IDF n-grams</a:t>
                      </a:r>
                    </a:p>
                  </a:txBody>
                  <a:tcPr marL="91440" marR="91440" marT="36576" marB="36576" anchor="ctr">
                    <a:solidFill>
                      <a:srgbClr val="EEF4F8"/>
                    </a:solidFill>
                  </a:tcPr>
                </a:tc>
                <a:tc>
                  <a:txBody>
                    <a:bodyPr wrap="square"/>
                    <a:lstStyle/>
                    <a:p>
                      <a:r>
                        <a:rPr sz="1400" b="0">
                          <a:solidFill>
                            <a:srgbClr val="26323F"/>
                          </a:solidFill>
                          <a:latin typeface="Times New Roman"/>
                        </a:rPr>
                        <a:t>Robust to feature noise</a:t>
                      </a:r>
                    </a:p>
                  </a:txBody>
                  <a:tcPr marL="91440" marR="91440" marT="36576" marB="36576" anchor="ctr">
                    <a:solidFill>
                      <a:srgbClr val="EEF4F8"/>
                    </a:solidFill>
                  </a:tcPr>
                </a:tc>
              </a:tr>
              <a:tr h="457200">
                <a:tc>
                  <a:txBody>
                    <a:bodyPr wrap="square"/>
                    <a:lstStyle/>
                    <a:p>
                      <a:r>
                        <a:rPr sz="1400" b="1">
                          <a:solidFill>
                            <a:srgbClr val="1F3864"/>
                          </a:solidFill>
                          <a:latin typeface="Times New Roman"/>
                        </a:rPr>
                        <a:t>XGBoost</a:t>
                      </a:r>
                    </a:p>
                  </a:txBody>
                  <a:tcPr marL="91440" marR="91440" marT="36576" marB="36576" anchor="ctr">
                    <a:solidFill>
                      <a:srgbClr val="FFFFFF"/>
                    </a:solidFill>
                  </a:tcPr>
                </a:tc>
                <a:tc>
                  <a:txBody>
                    <a:bodyPr wrap="square"/>
                    <a:lstStyle/>
                    <a:p>
                      <a:r>
                        <a:rPr sz="1400" b="0">
                          <a:solidFill>
                            <a:srgbClr val="26323F"/>
                          </a:solidFill>
                          <a:latin typeface="Times New Roman"/>
                        </a:rPr>
                        <a:t>Gradient-boosted trees</a:t>
                      </a:r>
                    </a:p>
                  </a:txBody>
                  <a:tcPr marL="91440" marR="91440" marT="36576" marB="36576" anchor="ctr">
                    <a:solidFill>
                      <a:srgbClr val="FFFFFF"/>
                    </a:solidFill>
                  </a:tcPr>
                </a:tc>
                <a:tc>
                  <a:txBody>
                    <a:bodyPr wrap="square"/>
                    <a:lstStyle/>
                    <a:p>
                      <a:r>
                        <a:rPr sz="1400" b="0">
                          <a:solidFill>
                            <a:srgbClr val="26323F"/>
                          </a:solidFill>
                          <a:latin typeface="Times New Roman"/>
                        </a:rPr>
                        <a:t>TF-IDF n-grams</a:t>
                      </a:r>
                    </a:p>
                  </a:txBody>
                  <a:tcPr marL="91440" marR="91440" marT="36576" marB="36576" anchor="ctr">
                    <a:solidFill>
                      <a:srgbClr val="FFFFFF"/>
                    </a:solidFill>
                  </a:tcPr>
                </a:tc>
                <a:tc>
                  <a:txBody>
                    <a:bodyPr wrap="square"/>
                    <a:lstStyle/>
                    <a:p>
                      <a:r>
                        <a:rPr sz="1400" b="0">
                          <a:solidFill>
                            <a:srgbClr val="26323F"/>
                          </a:solidFill>
                          <a:latin typeface="Times New Roman"/>
                        </a:rPr>
                        <a:t>Regularised boosting</a:t>
                      </a:r>
                    </a:p>
                  </a:txBody>
                  <a:tcPr marL="91440" marR="91440" marT="36576" marB="36576" anchor="ctr">
                    <a:solidFill>
                      <a:srgbClr val="FFFFFF"/>
                    </a:solidFill>
                  </a:tcPr>
                </a:tc>
              </a:tr>
              <a:tr h="457200">
                <a:tc>
                  <a:txBody>
                    <a:bodyPr wrap="square"/>
                    <a:lstStyle/>
                    <a:p>
                      <a:r>
                        <a:rPr sz="1400" b="1">
                          <a:solidFill>
                            <a:srgbClr val="1F3864"/>
                          </a:solidFill>
                          <a:latin typeface="Times New Roman"/>
                        </a:rPr>
                        <a:t>BERT (fine-tuned DistilBERT)</a:t>
                      </a:r>
                    </a:p>
                  </a:txBody>
                  <a:tcPr marL="91440" marR="91440" marT="36576" marB="36576" anchor="ctr">
                    <a:solidFill>
                      <a:srgbClr val="EEF4F8"/>
                    </a:solidFill>
                  </a:tcPr>
                </a:tc>
                <a:tc>
                  <a:txBody>
                    <a:bodyPr wrap="square"/>
                    <a:lstStyle/>
                    <a:p>
                      <a:r>
                        <a:rPr sz="1400" b="0">
                          <a:solidFill>
                            <a:srgbClr val="26323F"/>
                          </a:solidFill>
                          <a:latin typeface="Times New Roman"/>
                        </a:rPr>
                        <a:t>Contextual transformer encoder</a:t>
                      </a:r>
                    </a:p>
                  </a:txBody>
                  <a:tcPr marL="91440" marR="91440" marT="36576" marB="36576" anchor="ctr">
                    <a:solidFill>
                      <a:srgbClr val="EEF4F8"/>
                    </a:solidFill>
                  </a:tcPr>
                </a:tc>
                <a:tc>
                  <a:txBody>
                    <a:bodyPr wrap="square"/>
                    <a:lstStyle/>
                    <a:p>
                      <a:r>
                        <a:rPr sz="1400" b="0">
                          <a:solidFill>
                            <a:srgbClr val="26323F"/>
                          </a:solidFill>
                          <a:latin typeface="Times New Roman"/>
                        </a:rPr>
                        <a:t>Subword embeddings</a:t>
                      </a:r>
                    </a:p>
                  </a:txBody>
                  <a:tcPr marL="91440" marR="91440" marT="36576" marB="36576" anchor="ctr">
                    <a:solidFill>
                      <a:srgbClr val="EEF4F8"/>
                    </a:solidFill>
                  </a:tcPr>
                </a:tc>
                <a:tc>
                  <a:txBody>
                    <a:bodyPr wrap="square"/>
                    <a:lstStyle/>
                    <a:p>
                      <a:r>
                        <a:rPr sz="1400" b="0">
                          <a:solidFill>
                            <a:srgbClr val="26323F"/>
                          </a:solidFill>
                          <a:latin typeface="Times New Roman"/>
                        </a:rPr>
                        <a:t>1 epoch on CPU; best-epoch selection on validation</a:t>
                      </a:r>
                    </a:p>
                  </a:txBody>
                  <a:tcPr marL="91440" marR="91440" marT="36576" marB="36576" anchor="ctr">
                    <a:solidFill>
                      <a:srgbClr val="EEF4F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Technology Stack</a:t>
            </a:r>
          </a:p>
        </p:txBody>
      </p:sp>
      <p:sp>
        <p:nvSpPr>
          <p:cNvPr id="11" name="Layer 1 label"/>
          <p:cNvSpPr/>
          <p:nvPr/>
        </p:nvSpPr>
        <p:spPr>
          <a:xfrm>
            <a:off x="365760" y="1188720"/>
            <a:ext cx="2148840" cy="1051560"/>
          </a:xfrm>
          <a:prstGeom prst="roundRect">
            <a:avLst>
              <a:gd name="adj" fmla="val 9000"/>
            </a:avLst>
          </a:prstGeom>
          <a:solidFill>
            <a:srgbClr val="4A7FA7"/>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600" b="1" i="0" dirty="0">
                <a:solidFill>
                  <a:srgbClr val="FFFFFF"/>
                </a:solidFill>
                <a:latin typeface="Times New Roman"/>
                <a:cs typeface="Times New Roman"/>
              </a:rPr>
              <a:t>USER INTERFACE</a:t>
            </a:r>
          </a:p>
          <a:p>
            <a:pPr algn="ctr">
              <a:spcBef>
                <a:spcPts val="0"/>
              </a:spcBef>
              <a:spcAft>
                <a:spcPts val="0"/>
              </a:spcAft>
            </a:pPr>
            <a:r>
              <a:rPr lang="en-US" sz="1100" b="0" i="0" dirty="0">
                <a:solidFill>
                  <a:srgbClr val="FFFFFF"/>
                </a:solidFill>
                <a:latin typeface="Times New Roman"/>
                <a:cs typeface="Times New Roman"/>
              </a:rPr>
              <a:t>Streamlit web app · 8 interactive tabs</a:t>
            </a:r>
          </a:p>
        </p:txBody>
      </p:sp>
      <p:sp>
        <p:nvSpPr>
          <p:cNvPr id="12" name="Layer 1 panel"/>
          <p:cNvSpPr/>
          <p:nvPr/>
        </p:nvSpPr>
        <p:spPr>
          <a:xfrm>
            <a:off x="2606040" y="1188720"/>
            <a:ext cx="6080760" cy="1051560"/>
          </a:xfrm>
          <a:prstGeom prst="roundRect">
            <a:avLst>
              <a:gd name="adj" fmla="val 9000"/>
            </a:avLst>
          </a:prstGeom>
          <a:solidFill>
            <a:srgbClr val="FFFFFF"/>
          </a:solidFill>
          <a:ln w="19050">
            <a:solidFill>
              <a:srgbClr val="4A7FA7"/>
            </a:solid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13" name="Layer 1 item 1"/>
          <p:cNvSpPr/>
          <p:nvPr/>
        </p:nvSpPr>
        <p:spPr>
          <a:xfrm>
            <a:off x="2697480" y="1289304"/>
            <a:ext cx="2903220" cy="850392"/>
          </a:xfrm>
          <a:prstGeom prst="roundRect">
            <a:avLst>
              <a:gd name="adj" fmla="val 12000"/>
            </a:avLst>
          </a:prstGeom>
          <a:solidFill>
            <a:srgbClr val="E8F0F6"/>
          </a:solidFill>
          <a:ln w="15875">
            <a:solidFill>
              <a:srgbClr val="4A7FA7"/>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4A7FA7"/>
                </a:solidFill>
                <a:latin typeface="Times New Roman"/>
                <a:cs typeface="Times New Roman"/>
              </a:rPr>
              <a:t>Overview</a:t>
            </a:r>
          </a:p>
          <a:p>
            <a:pPr algn="ctr">
              <a:spcBef>
                <a:spcPts val="0"/>
              </a:spcBef>
              <a:spcAft>
                <a:spcPts val="0"/>
              </a:spcAft>
            </a:pPr>
            <a:r>
              <a:rPr lang="en-US" sz="1100" b="0" i="0" dirty="0">
                <a:solidFill>
                  <a:srgbClr val="556575"/>
                </a:solidFill>
                <a:latin typeface="Times New Roman"/>
                <a:cs typeface="Times New Roman"/>
              </a:rPr>
              <a:t>Upload Reviews · Review Analyzer · Analytics Dashboard</a:t>
            </a:r>
          </a:p>
        </p:txBody>
      </p:sp>
      <p:sp>
        <p:nvSpPr>
          <p:cNvPr id="14" name="Layer 1 item 2"/>
          <p:cNvSpPr/>
          <p:nvPr/>
        </p:nvSpPr>
        <p:spPr>
          <a:xfrm>
            <a:off x="5692140" y="1289304"/>
            <a:ext cx="2903220" cy="850392"/>
          </a:xfrm>
          <a:prstGeom prst="roundRect">
            <a:avLst>
              <a:gd name="adj" fmla="val 12000"/>
            </a:avLst>
          </a:prstGeom>
          <a:solidFill>
            <a:srgbClr val="E8F0F6"/>
          </a:solidFill>
          <a:ln w="15875">
            <a:solidFill>
              <a:srgbClr val="4A7FA7"/>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4A7FA7"/>
                </a:solidFill>
                <a:latin typeface="Times New Roman"/>
                <a:cs typeface="Times New Roman"/>
              </a:rPr>
              <a:t>Compare Platforms</a:t>
            </a:r>
          </a:p>
          <a:p>
            <a:pPr algn="ctr">
              <a:spcBef>
                <a:spcPts val="0"/>
              </a:spcBef>
              <a:spcAft>
                <a:spcPts val="0"/>
              </a:spcAft>
            </a:pPr>
            <a:r>
              <a:rPr lang="en-US" sz="1100" b="0" i="0" dirty="0">
                <a:solidFill>
                  <a:srgbClr val="556575"/>
                </a:solidFill>
                <a:latin typeface="Times New Roman"/>
                <a:cs typeface="Times New Roman"/>
              </a:rPr>
              <a:t>Best Place to Buy · Explain Recommendation · Methodology</a:t>
            </a:r>
          </a:p>
        </p:txBody>
      </p:sp>
      <p:cxnSp>
        <p:nvCxnSpPr>
          <p:cNvPr id="15" name="Layer 1 arrow"/>
          <p:cNvCxnSpPr/>
          <p:nvPr/>
        </p:nvCxnSpPr>
        <p:spPr>
          <a:xfrm>
            <a:off x="1440180" y="2258568"/>
            <a:ext cx="0" cy="219456"/>
          </a:xfrm>
          <a:prstGeom prst="line">
            <a:avLst/>
          </a:prstGeom>
          <a:ln w="28575" cap="rnd">
            <a:solidFill>
              <a:srgbClr val="5C6B7A"/>
            </a:solidFill>
            <a:round/>
            <a:tailEnd type="triangle" w="med" len="med"/>
          </a:ln>
        </p:spPr>
      </p:cxnSp>
      <p:sp>
        <p:nvSpPr>
          <p:cNvPr id="16" name="Layer 2 label"/>
          <p:cNvSpPr/>
          <p:nvPr/>
        </p:nvSpPr>
        <p:spPr>
          <a:xfrm>
            <a:off x="365760" y="2496312"/>
            <a:ext cx="2148840" cy="1051560"/>
          </a:xfrm>
          <a:prstGeom prst="roundRect">
            <a:avLst>
              <a:gd name="adj" fmla="val 9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600" b="1" i="0" dirty="0">
                <a:solidFill>
                  <a:srgbClr val="FFFFFF"/>
                </a:solidFill>
                <a:latin typeface="Times New Roman"/>
                <a:cs typeface="Times New Roman"/>
              </a:rPr>
              <a:t>ANALYSIS ENGINE</a:t>
            </a:r>
          </a:p>
          <a:p>
            <a:pPr algn="ctr">
              <a:spcBef>
                <a:spcPts val="0"/>
              </a:spcBef>
              <a:spcAft>
                <a:spcPts val="0"/>
              </a:spcAft>
            </a:pPr>
            <a:r>
              <a:rPr lang="en-US" sz="1100" b="0" i="0" dirty="0">
                <a:solidFill>
                  <a:srgbClr val="FFFFFF"/>
                </a:solidFill>
                <a:latin typeface="Times New Roman"/>
                <a:cs typeface="Times New Roman"/>
              </a:rPr>
              <a:t>src/absa.py · src/recommendation.py</a:t>
            </a:r>
          </a:p>
        </p:txBody>
      </p:sp>
      <p:sp>
        <p:nvSpPr>
          <p:cNvPr id="17" name="Layer 2 panel"/>
          <p:cNvSpPr/>
          <p:nvPr/>
        </p:nvSpPr>
        <p:spPr>
          <a:xfrm>
            <a:off x="2606040" y="2496312"/>
            <a:ext cx="6080760" cy="1051560"/>
          </a:xfrm>
          <a:prstGeom prst="roundRect">
            <a:avLst>
              <a:gd name="adj" fmla="val 9000"/>
            </a:avLst>
          </a:prstGeom>
          <a:solidFill>
            <a:srgbClr val="FFFFFF"/>
          </a:solidFill>
          <a:ln w="19050">
            <a:solidFill>
              <a:srgbClr val="1E6F78"/>
            </a:solid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18" name="Layer 2 item 1"/>
          <p:cNvSpPr/>
          <p:nvPr/>
        </p:nvSpPr>
        <p:spPr>
          <a:xfrm>
            <a:off x="2697480" y="2596896"/>
            <a:ext cx="2903220" cy="850392"/>
          </a:xfrm>
          <a:prstGeom prst="roundRect">
            <a:avLst>
              <a:gd name="adj" fmla="val 12000"/>
            </a:avLst>
          </a:prstGeom>
          <a:solidFill>
            <a:srgbClr val="E6F1F2"/>
          </a:solidFill>
          <a:ln w="15875">
            <a:solidFill>
              <a:srgbClr val="1E6F78"/>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1E6F78"/>
                </a:solidFill>
                <a:latin typeface="Times New Roman"/>
                <a:cs typeface="Times New Roman"/>
              </a:rPr>
              <a:t>Keyword aspect detection</a:t>
            </a:r>
          </a:p>
          <a:p>
            <a:pPr algn="ctr">
              <a:spcBef>
                <a:spcPts val="0"/>
              </a:spcBef>
              <a:spcAft>
                <a:spcPts val="0"/>
              </a:spcAft>
            </a:pPr>
            <a:r>
              <a:rPr lang="en-US" sz="1100" b="0" i="0" dirty="0">
                <a:solidFill>
                  <a:srgbClr val="556575"/>
                </a:solidFill>
                <a:latin typeface="Times New Roman"/>
                <a:cs typeface="Times New Roman"/>
              </a:rPr>
              <a:t>13 aspects · 3 categories · whole-review sentiment</a:t>
            </a:r>
          </a:p>
        </p:txBody>
      </p:sp>
      <p:sp>
        <p:nvSpPr>
          <p:cNvPr id="19" name="Layer 2 item 2"/>
          <p:cNvSpPr/>
          <p:nvPr/>
        </p:nvSpPr>
        <p:spPr>
          <a:xfrm>
            <a:off x="5692140" y="2596896"/>
            <a:ext cx="2903220" cy="850392"/>
          </a:xfrm>
          <a:prstGeom prst="roundRect">
            <a:avLst>
              <a:gd name="adj" fmla="val 12000"/>
            </a:avLst>
          </a:prstGeom>
          <a:solidFill>
            <a:srgbClr val="E6F1F2"/>
          </a:solidFill>
          <a:ln w="15875">
            <a:solidFill>
              <a:srgbClr val="1E6F78"/>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1E6F78"/>
                </a:solidFill>
                <a:latin typeface="Times New Roman"/>
                <a:cs typeface="Times New Roman"/>
              </a:rPr>
              <a:t>BERT sentiment model</a:t>
            </a:r>
          </a:p>
          <a:p>
            <a:pPr algn="ctr">
              <a:spcBef>
                <a:spcPts val="0"/>
              </a:spcBef>
              <a:spcAft>
                <a:spcPts val="0"/>
              </a:spcAft>
            </a:pPr>
            <a:r>
              <a:rPr lang="en-US" sz="1100" b="0" i="0" dirty="0">
                <a:solidFill>
                  <a:srgbClr val="556575"/>
                </a:solidFill>
                <a:latin typeface="Times New Roman"/>
                <a:cs typeface="Times New Roman"/>
              </a:rPr>
              <a:t>Lexicon fallback · 6 weighted sub-scores · HIGH / MEDIUM / LOW confidence</a:t>
            </a:r>
          </a:p>
        </p:txBody>
      </p:sp>
      <p:cxnSp>
        <p:nvCxnSpPr>
          <p:cNvPr id="20" name="Layer 2 arrow"/>
          <p:cNvCxnSpPr/>
          <p:nvPr/>
        </p:nvCxnSpPr>
        <p:spPr>
          <a:xfrm>
            <a:off x="1440180" y="3566160"/>
            <a:ext cx="0" cy="219456"/>
          </a:xfrm>
          <a:prstGeom prst="line">
            <a:avLst/>
          </a:prstGeom>
          <a:ln w="28575" cap="rnd">
            <a:solidFill>
              <a:srgbClr val="5C6B7A"/>
            </a:solidFill>
            <a:round/>
            <a:tailEnd type="triangle" w="med" len="med"/>
          </a:ln>
        </p:spPr>
      </p:cxnSp>
      <p:sp>
        <p:nvSpPr>
          <p:cNvPr id="21" name="Layer 3 label"/>
          <p:cNvSpPr/>
          <p:nvPr/>
        </p:nvSpPr>
        <p:spPr>
          <a:xfrm>
            <a:off x="365760" y="3803904"/>
            <a:ext cx="2148840" cy="1051560"/>
          </a:xfrm>
          <a:prstGeom prst="roundRect">
            <a:avLst>
              <a:gd name="adj" fmla="val 9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600" b="1" i="0" dirty="0">
                <a:solidFill>
                  <a:srgbClr val="FFFFFF"/>
                </a:solidFill>
                <a:latin typeface="Times New Roman"/>
                <a:cs typeface="Times New Roman"/>
              </a:rPr>
              <a:t>MODELS</a:t>
            </a:r>
          </a:p>
          <a:p>
            <a:pPr algn="ctr">
              <a:spcBef>
                <a:spcPts val="0"/>
              </a:spcBef>
              <a:spcAft>
                <a:spcPts val="0"/>
              </a:spcAft>
            </a:pPr>
            <a:r>
              <a:rPr lang="en-US" sz="1100" b="0" i="0" dirty="0">
                <a:solidFill>
                  <a:srgbClr val="FFFFFF"/>
                </a:solidFill>
                <a:latin typeface="Times New Roman"/>
                <a:cs typeface="Times New Roman"/>
              </a:rPr>
              <a:t>Hugging Face transformers · PyTorch</a:t>
            </a:r>
          </a:p>
        </p:txBody>
      </p:sp>
      <p:sp>
        <p:nvSpPr>
          <p:cNvPr id="22" name="Layer 3 panel"/>
          <p:cNvSpPr/>
          <p:nvPr/>
        </p:nvSpPr>
        <p:spPr>
          <a:xfrm>
            <a:off x="2606040" y="3803904"/>
            <a:ext cx="6080760" cy="1051560"/>
          </a:xfrm>
          <a:prstGeom prst="roundRect">
            <a:avLst>
              <a:gd name="adj" fmla="val 9000"/>
            </a:avLst>
          </a:prstGeom>
          <a:solidFill>
            <a:srgbClr val="FFFFFF"/>
          </a:solidFill>
          <a:ln w="19050">
            <a:solidFill>
              <a:srgbClr val="1F3864"/>
            </a:solid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23" name="Layer 3 item 1"/>
          <p:cNvSpPr/>
          <p:nvPr/>
        </p:nvSpPr>
        <p:spPr>
          <a:xfrm>
            <a:off x="2697480" y="3904488"/>
            <a:ext cx="2198077" cy="850392"/>
          </a:xfrm>
          <a:prstGeom prst="roundRect">
            <a:avLst>
              <a:gd name="adj" fmla="val 12000"/>
            </a:avLst>
          </a:prstGeom>
          <a:solidFill>
            <a:srgbClr val="E8ECF4"/>
          </a:solidFill>
          <a:ln w="15875">
            <a:solidFill>
              <a:srgbClr val="1F3864"/>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1F3864"/>
                </a:solidFill>
                <a:latin typeface="Times New Roman"/>
                <a:cs typeface="Times New Roman"/>
              </a:rPr>
              <a:t>cardiffnlp/twitter-roberta-base-sentiment-latest</a:t>
            </a:r>
          </a:p>
          <a:p>
            <a:pPr algn="ctr">
              <a:spcBef>
                <a:spcPts val="0"/>
              </a:spcBef>
              <a:spcAft>
                <a:spcPts val="0"/>
              </a:spcAft>
            </a:pPr>
            <a:r>
              <a:rPr lang="en-US" sz="1100" b="0" i="0" dirty="0">
                <a:solidFill>
                  <a:srgbClr val="556575"/>
                </a:solidFill>
                <a:latin typeface="Times New Roman"/>
                <a:cs typeface="Times New Roman"/>
              </a:rPr>
              <a:t>zero-shot sentiment</a:t>
            </a:r>
          </a:p>
        </p:txBody>
      </p:sp>
      <p:sp>
        <p:nvSpPr>
          <p:cNvPr id="24" name="Layer 3 item 2"/>
          <p:cNvSpPr/>
          <p:nvPr/>
        </p:nvSpPr>
        <p:spPr>
          <a:xfrm>
            <a:off x="4986997" y="3904488"/>
            <a:ext cx="1406769" cy="850392"/>
          </a:xfrm>
          <a:prstGeom prst="roundRect">
            <a:avLst>
              <a:gd name="adj" fmla="val 12000"/>
            </a:avLst>
          </a:prstGeom>
          <a:solidFill>
            <a:srgbClr val="E8ECF4"/>
          </a:solidFill>
          <a:ln w="15875">
            <a:solidFill>
              <a:srgbClr val="1F3864"/>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1F3864"/>
                </a:solidFill>
                <a:latin typeface="Times New Roman"/>
                <a:cs typeface="Times New Roman"/>
              </a:rPr>
              <a:t>distilbert-base-uncased</a:t>
            </a:r>
          </a:p>
          <a:p>
            <a:pPr algn="ctr">
              <a:spcBef>
                <a:spcPts val="0"/>
              </a:spcBef>
              <a:spcAft>
                <a:spcPts val="0"/>
              </a:spcAft>
            </a:pPr>
            <a:r>
              <a:rPr lang="en-US" sz="1100" b="0" i="0" dirty="0">
                <a:solidFill>
                  <a:srgbClr val="556575"/>
                </a:solidFill>
                <a:latin typeface="Times New Roman"/>
                <a:cs typeface="Times New Roman"/>
              </a:rPr>
              <a:t>fine-tuned (1 epoch)</a:t>
            </a:r>
          </a:p>
        </p:txBody>
      </p:sp>
      <p:sp>
        <p:nvSpPr>
          <p:cNvPr id="25" name="Layer 3 item 3"/>
          <p:cNvSpPr/>
          <p:nvPr/>
        </p:nvSpPr>
        <p:spPr>
          <a:xfrm>
            <a:off x="6485206" y="3904488"/>
            <a:ext cx="2110154" cy="850392"/>
          </a:xfrm>
          <a:prstGeom prst="roundRect">
            <a:avLst>
              <a:gd name="adj" fmla="val 12000"/>
            </a:avLst>
          </a:prstGeom>
          <a:solidFill>
            <a:srgbClr val="E8ECF4"/>
          </a:solidFill>
          <a:ln w="15875">
            <a:solidFill>
              <a:srgbClr val="1F3864"/>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1F3864"/>
                </a:solidFill>
                <a:latin typeface="Times New Roman"/>
                <a:cs typeface="Times New Roman"/>
              </a:rPr>
              <a:t>TF-IDF + Logistic Regression / Random Forest / XGBoost</a:t>
            </a:r>
          </a:p>
          <a:p>
            <a:pPr algn="ctr">
              <a:spcBef>
                <a:spcPts val="0"/>
              </a:spcBef>
              <a:spcAft>
                <a:spcPts val="0"/>
              </a:spcAft>
            </a:pPr>
            <a:r>
              <a:rPr lang="en-US" sz="1100" b="0" i="0" dirty="0">
                <a:solidFill>
                  <a:srgbClr val="556575"/>
                </a:solidFill>
                <a:latin typeface="Times New Roman"/>
                <a:cs typeface="Times New Roman"/>
              </a:rPr>
              <a:t>classical baselines</a:t>
            </a:r>
          </a:p>
        </p:txBody>
      </p:sp>
      <p:cxnSp>
        <p:nvCxnSpPr>
          <p:cNvPr id="26" name="Layer 3 arrow"/>
          <p:cNvCxnSpPr/>
          <p:nvPr/>
        </p:nvCxnSpPr>
        <p:spPr>
          <a:xfrm>
            <a:off x="1440180" y="4873752"/>
            <a:ext cx="0" cy="219456"/>
          </a:xfrm>
          <a:prstGeom prst="line">
            <a:avLst/>
          </a:prstGeom>
          <a:ln w="28575" cap="rnd">
            <a:solidFill>
              <a:srgbClr val="5C6B7A"/>
            </a:solidFill>
            <a:round/>
            <a:tailEnd type="triangle" w="med" len="med"/>
          </a:ln>
        </p:spPr>
      </p:cxnSp>
      <p:sp>
        <p:nvSpPr>
          <p:cNvPr id="27" name="Layer 4 label"/>
          <p:cNvSpPr/>
          <p:nvPr/>
        </p:nvSpPr>
        <p:spPr>
          <a:xfrm>
            <a:off x="365760" y="5111496"/>
            <a:ext cx="2148840" cy="1051560"/>
          </a:xfrm>
          <a:prstGeom prst="roundRect">
            <a:avLst>
              <a:gd name="adj" fmla="val 9000"/>
            </a:avLst>
          </a:prstGeom>
          <a:solidFill>
            <a:srgbClr val="B0385A"/>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600" b="1" i="0" dirty="0">
                <a:solidFill>
                  <a:srgbClr val="FFFFFF"/>
                </a:solidFill>
                <a:latin typeface="Times New Roman"/>
                <a:cs typeface="Times New Roman"/>
              </a:rPr>
              <a:t>DATA &amp; TOOLING</a:t>
            </a:r>
          </a:p>
          <a:p>
            <a:pPr algn="ctr">
              <a:spcBef>
                <a:spcPts val="0"/>
              </a:spcBef>
              <a:spcAft>
                <a:spcPts val="0"/>
              </a:spcAft>
            </a:pPr>
            <a:r>
              <a:rPr lang="en-US" sz="1100" b="0" i="0" dirty="0">
                <a:solidFill>
                  <a:srgbClr val="FFFFFF"/>
                </a:solidFill>
                <a:latin typeface="Times New Roman"/>
                <a:cs typeface="Times New Roman"/>
              </a:rPr>
              <a:t>pandas · matplotlib · scikit-learn</a:t>
            </a:r>
          </a:p>
        </p:txBody>
      </p:sp>
      <p:sp>
        <p:nvSpPr>
          <p:cNvPr id="28" name="Layer 4 panel"/>
          <p:cNvSpPr/>
          <p:nvPr/>
        </p:nvSpPr>
        <p:spPr>
          <a:xfrm>
            <a:off x="2606040" y="5111496"/>
            <a:ext cx="6080760" cy="1051560"/>
          </a:xfrm>
          <a:prstGeom prst="roundRect">
            <a:avLst>
              <a:gd name="adj" fmla="val 9000"/>
            </a:avLst>
          </a:prstGeom>
          <a:solidFill>
            <a:srgbClr val="FFFFFF"/>
          </a:solidFill>
          <a:ln w="19050">
            <a:solidFill>
              <a:srgbClr val="B0385A"/>
            </a:solidFill>
          </a:ln>
          <a:effectLst>
            <a:outerShdw blurRad="50800" dist="25400" dir="5400000" algn="t" rotWithShape="0">
              <a:srgbClr val="000000">
                <a:alpha val="22000"/>
              </a:srgbClr>
            </a:outerShdw>
          </a:effectLst>
        </p:spPr>
        <p:txBody>
          <a:bodyPr wrap="square" lIns="73152" tIns="36576" rIns="73152" bIns="36576" anchor="ctr" rtlCol="0">
            <a:noAutofit/>
          </a:bodyPr>
          <a:lstStyle/>
          <a:p>
            <a:endParaRPr lang="en-US"/>
          </a:p>
        </p:txBody>
      </p:sp>
      <p:sp>
        <p:nvSpPr>
          <p:cNvPr id="29" name="Layer 4 item 1"/>
          <p:cNvSpPr/>
          <p:nvPr/>
        </p:nvSpPr>
        <p:spPr>
          <a:xfrm>
            <a:off x="2697480" y="5212080"/>
            <a:ext cx="2143125" cy="850392"/>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B0385A"/>
                </a:solidFill>
                <a:latin typeface="Times New Roman"/>
                <a:cs typeface="Times New Roman"/>
              </a:rPr>
              <a:t>reviews.csv (synthetic demo, clearly labelled)</a:t>
            </a:r>
          </a:p>
          <a:p>
            <a:pPr algn="ctr">
              <a:spcBef>
                <a:spcPts val="0"/>
              </a:spcBef>
              <a:spcAft>
                <a:spcPts val="0"/>
              </a:spcAft>
            </a:pPr>
            <a:r>
              <a:rPr lang="en-US" sz="1100" b="0" i="0" dirty="0">
                <a:solidFill>
                  <a:srgbClr val="556575"/>
                </a:solidFill>
                <a:latin typeface="Times New Roman"/>
                <a:cs typeface="Times New Roman"/>
              </a:rPr>
              <a:t>aspect_annotations.csv</a:t>
            </a:r>
          </a:p>
        </p:txBody>
      </p:sp>
      <p:sp>
        <p:nvSpPr>
          <p:cNvPr id="30" name="Layer 4 item 2"/>
          <p:cNvSpPr/>
          <p:nvPr/>
        </p:nvSpPr>
        <p:spPr>
          <a:xfrm>
            <a:off x="4932045" y="5212080"/>
            <a:ext cx="1785938" cy="850392"/>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B0385A"/>
                </a:solidFill>
                <a:latin typeface="Times New Roman"/>
                <a:cs typeface="Times New Roman"/>
              </a:rPr>
              <a:t>MARC real Amazon reviews</a:t>
            </a:r>
          </a:p>
          <a:p>
            <a:pPr algn="ctr">
              <a:spcBef>
                <a:spcPts val="0"/>
              </a:spcBef>
              <a:spcAft>
                <a:spcPts val="0"/>
              </a:spcAft>
            </a:pPr>
            <a:r>
              <a:rPr lang="en-US" sz="1100" b="0" i="0" dirty="0">
                <a:solidFill>
                  <a:srgbClr val="556575"/>
                </a:solidFill>
                <a:latin typeface="Times New Roman"/>
                <a:cs typeface="Times New Roman"/>
              </a:rPr>
              <a:t>pipeline validation</a:t>
            </a:r>
          </a:p>
        </p:txBody>
      </p:sp>
      <p:sp>
        <p:nvSpPr>
          <p:cNvPr id="31" name="Layer 4 item 3"/>
          <p:cNvSpPr/>
          <p:nvPr/>
        </p:nvSpPr>
        <p:spPr>
          <a:xfrm>
            <a:off x="6809422" y="5212080"/>
            <a:ext cx="1785938" cy="850392"/>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200" b="1" i="0" dirty="0">
                <a:solidFill>
                  <a:srgbClr val="B0385A"/>
                </a:solidFill>
                <a:latin typeface="Times New Roman"/>
                <a:cs typeface="Times New Roman"/>
              </a:rPr>
              <a:t>GitHub CI-friendly repo</a:t>
            </a:r>
          </a:p>
          <a:p>
            <a:pPr algn="ctr">
              <a:spcBef>
                <a:spcPts val="0"/>
              </a:spcBef>
              <a:spcAft>
                <a:spcPts val="0"/>
              </a:spcAft>
            </a:pPr>
            <a:r>
              <a:rPr lang="en-US" sz="1100" b="0" i="0" dirty="0">
                <a:solidFill>
                  <a:srgbClr val="556575"/>
                </a:solidFill>
                <a:latin typeface="Times New Roman"/>
                <a:cs typeface="Times New Roman"/>
              </a:rPr>
              <a:t>.venv + scripts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Result and Discussion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Chart card"/>
          <p:cNvSpPr/>
          <p:nvPr/>
        </p:nvSpPr>
        <p:spPr>
          <a:xfrm>
            <a:off x="365760" y="1188720"/>
            <a:ext cx="4389120" cy="3520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Accuracy chart"/>
          <p:cNvGraphicFramePr>
            <a:graphicFrameLocks noGrp="1"/>
          </p:cNvGraphicFramePr>
          <p:nvPr/>
        </p:nvGraphicFramePr>
        <p:xfrm>
          <a:off x="457200" y="1280160"/>
          <a:ext cx="4206240" cy="3337560"/>
        </p:xfrm>
        <a:graphic>
          <a:graphicData uri="http://schemas.openxmlformats.org/drawingml/2006/chart">
            <c:chart xmlns:c="http://schemas.openxmlformats.org/drawingml/2006/chart" r:id="rId3"/>
          </a:graphicData>
        </a:graphic>
      </p:graphicFrame>
      <p:sp>
        <p:nvSpPr>
          <p:cNvPr id="9" name="Observations card"/>
          <p:cNvSpPr/>
          <p:nvPr/>
        </p:nvSpPr>
        <p:spPr>
          <a:xfrm>
            <a:off x="4937760" y="1188720"/>
            <a:ext cx="3657600" cy="352044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bservations head"/>
          <p:cNvSpPr txBox="1"/>
          <p:nvPr/>
        </p:nvSpPr>
        <p:spPr>
          <a:xfrm>
            <a:off x="5166360" y="1325880"/>
            <a:ext cx="3200400" cy="365760"/>
          </a:xfrm>
          <a:prstGeom prst="rect">
            <a:avLst/>
          </a:prstGeom>
          <a:noFill/>
        </p:spPr>
        <p:txBody>
          <a:bodyPr wrap="square" anchor="t" lIns="0" rIns="0" tIns="0" bIns="0">
            <a:spAutoFit/>
          </a:bodyPr>
          <a:lstStyle/>
          <a:p>
            <a:pPr algn="l"/>
            <a:r>
              <a:rPr sz="1900" b="1">
                <a:solidFill>
                  <a:srgbClr val="1F6F78"/>
                </a:solidFill>
                <a:latin typeface="Times New Roman"/>
              </a:rPr>
              <a:t>Observations</a:t>
            </a:r>
          </a:p>
        </p:txBody>
      </p:sp>
      <p:sp>
        <p:nvSpPr>
          <p:cNvPr id="11" name="Observations points"/>
          <p:cNvSpPr txBox="1"/>
          <p:nvPr/>
        </p:nvSpPr>
        <p:spPr>
          <a:xfrm>
            <a:off x="5166360" y="1828800"/>
            <a:ext cx="3246120" cy="2834640"/>
          </a:xfrm>
          <a:prstGeom prst="rect">
            <a:avLst/>
          </a:prstGeom>
          <a:noFill/>
        </p:spPr>
        <p:txBody>
          <a:bodyPr wrap="square" anchor="t" lIns="0" rIns="0" tIns="0" bIns="0">
            <a:spAutoFit/>
          </a:bodyPr>
          <a:lstStyle/>
          <a:p>
            <a:pPr marL="228600" indent="-228600">
              <a:spcAft>
                <a:spcPts val="600"/>
              </a:spcAft>
              <a:buFont typeface="Arial"/>
              <a:buChar char="•"/>
            </a:pPr>
            <a:r>
              <a:rPr sz="1600">
                <a:solidFill>
                  <a:srgbClr val="26323F"/>
                </a:solidFill>
                <a:latin typeface="Times New Roman"/>
              </a:rPr>
              <a:t>Logistic Regression highest: 90.69% accuracy, 0.8937 F1</a:t>
            </a:r>
          </a:p>
          <a:p>
            <a:pPr marL="228600" indent="-228600">
              <a:spcAft>
                <a:spcPts val="600"/>
              </a:spcAft>
              <a:buFont typeface="Arial"/>
              <a:buChar char="•"/>
            </a:pPr>
            <a:r>
              <a:rPr sz="1600">
                <a:solidFill>
                  <a:srgbClr val="26323F"/>
                </a:solidFill>
                <a:latin typeface="Times New Roman"/>
              </a:rPr>
              <a:t>Fine-tuned BERT second: 89.57% accuracy, 0.8784 F1</a:t>
            </a:r>
          </a:p>
          <a:p>
            <a:pPr marL="228600" indent="-228600">
              <a:spcAft>
                <a:spcPts val="600"/>
              </a:spcAft>
              <a:buFont typeface="Arial"/>
              <a:buChar char="•"/>
            </a:pPr>
            <a:r>
              <a:rPr sz="1600">
                <a:solidFill>
                  <a:srgbClr val="26323F"/>
                </a:solidFill>
                <a:latin typeface="Times New Roman"/>
              </a:rPr>
              <a:t>Random Forest and XGBoost close: about 87%, 0.85 F1</a:t>
            </a:r>
          </a:p>
          <a:p>
            <a:pPr marL="228600" indent="-228600">
              <a:spcAft>
                <a:spcPts val="600"/>
              </a:spcAft>
              <a:buFont typeface="Arial"/>
              <a:buChar char="•"/>
            </a:pPr>
            <a:r>
              <a:rPr sz="1600">
                <a:solidFill>
                  <a:srgbClr val="26323F"/>
                </a:solidFill>
                <a:latin typeface="Times New Roman"/>
              </a:rPr>
              <a:t>Neutral recall lowest for every model (0.70-0.75)</a:t>
            </a:r>
          </a:p>
          <a:p>
            <a:pPr marL="228600" indent="-228600">
              <a:spcAft>
                <a:spcPts val="600"/>
              </a:spcAft>
              <a:buFont typeface="Arial"/>
              <a:buChar char="•"/>
            </a:pPr>
            <a:r>
              <a:rPr sz="1600">
                <a:solidFill>
                  <a:srgbClr val="26323F"/>
                </a:solidFill>
                <a:latin typeface="Times New Roman"/>
              </a:rPr>
              <a:t>BERT did not beat the best classical model here</a:t>
            </a:r>
          </a:p>
        </p:txBody>
      </p:sp>
      <p:sp>
        <p:nvSpPr>
          <p:cNvPr id="12" name="Iterations card"/>
          <p:cNvSpPr/>
          <p:nvPr/>
        </p:nvSpPr>
        <p:spPr>
          <a:xfrm>
            <a:off x="365760" y="4892040"/>
            <a:ext cx="8229600" cy="137160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terations head"/>
          <p:cNvSpPr txBox="1"/>
          <p:nvPr/>
        </p:nvSpPr>
        <p:spPr>
          <a:xfrm>
            <a:off x="594360" y="4983480"/>
            <a:ext cx="7772400" cy="365760"/>
          </a:xfrm>
          <a:prstGeom prst="rect">
            <a:avLst/>
          </a:prstGeom>
          <a:noFill/>
        </p:spPr>
        <p:txBody>
          <a:bodyPr wrap="square" anchor="t" lIns="0" rIns="0" tIns="0" bIns="0">
            <a:spAutoFit/>
          </a:bodyPr>
          <a:lstStyle/>
          <a:p>
            <a:pPr algn="l"/>
            <a:r>
              <a:rPr sz="1700" b="1">
                <a:solidFill>
                  <a:srgbClr val="1F3864"/>
                </a:solidFill>
                <a:latin typeface="Times New Roman"/>
              </a:rPr>
              <a:t>Training and evaluation</a:t>
            </a:r>
          </a:p>
        </p:txBody>
      </p:sp>
      <p:sp>
        <p:nvSpPr>
          <p:cNvPr id="14" name="Iterations points"/>
          <p:cNvSpPr txBox="1"/>
          <p:nvPr/>
        </p:nvSpPr>
        <p:spPr>
          <a:xfrm>
            <a:off x="594360" y="5394960"/>
            <a:ext cx="7772400" cy="822960"/>
          </a:xfrm>
          <a:prstGeom prst="rect">
            <a:avLst/>
          </a:prstGeom>
          <a:noFill/>
        </p:spPr>
        <p:txBody>
          <a:bodyPr wrap="square" anchor="t" lIns="0" rIns="0" tIns="0" bIns="0">
            <a:spAutoFit/>
          </a:bodyPr>
          <a:lstStyle/>
          <a:p>
            <a:pPr marL="228600" indent="-228600">
              <a:spcAft>
                <a:spcPts val="300"/>
              </a:spcAft>
              <a:buFont typeface="Arial"/>
              <a:buChar char="•"/>
            </a:pPr>
            <a:r>
              <a:rPr sz="1500">
                <a:solidFill>
                  <a:srgbClr val="26323F"/>
                </a:solidFill>
                <a:latin typeface="Times New Roman"/>
              </a:rPr>
              <a:t>All models: same review-level stratified split (seed 42), evaluated once on the same held-out test set | Macro precision / recall / F1 reported to handle class imbalance | CPU-only 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Result: Aspect and Platform Analysis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9" name="Prediction card"/>
          <p:cNvSpPr/>
          <p:nvPr/>
        </p:nvSpPr>
        <p:spPr>
          <a:xfrm>
            <a:off x="4754880" y="1188720"/>
            <a:ext cx="3840480" cy="2616432"/>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ediction points"/>
          <p:cNvSpPr txBox="1"/>
          <p:nvPr/>
        </p:nvSpPr>
        <p:spPr>
          <a:xfrm>
            <a:off x="4937760" y="1325880"/>
            <a:ext cx="3520440" cy="2342112"/>
          </a:xfrm>
          <a:prstGeom prst="rect">
            <a:avLst/>
          </a:prstGeom>
          <a:noFill/>
        </p:spPr>
        <p:txBody>
          <a:bodyPr wrap="square" anchor="ctr" lIns="0" rIns="0" tIns="0" bIns="0">
            <a:spAutoFit/>
          </a:bodyPr>
          <a:lstStyle/>
          <a:p>
            <a:pPr marL="228600" indent="-228600">
              <a:spcAft>
                <a:spcPts val="400"/>
              </a:spcAft>
              <a:buFont typeface="Arial"/>
              <a:buChar char="•"/>
            </a:pPr>
            <a:r>
              <a:rPr sz="1500">
                <a:solidFill>
                  <a:srgbClr val="26323F"/>
                </a:solidFill>
                <a:latin typeface="Times New Roman"/>
              </a:rPr>
              <a:t>Returns and refunds: highest negative share on most platforms</a:t>
            </a:r>
          </a:p>
          <a:p>
            <a:pPr marL="228600" indent="-228600">
              <a:spcAft>
                <a:spcPts val="400"/>
              </a:spcAft>
              <a:buFont typeface="Arial"/>
              <a:buChar char="•"/>
            </a:pPr>
            <a:r>
              <a:rPr sz="1500">
                <a:solidFill>
                  <a:srgbClr val="26323F"/>
                </a:solidFill>
                <a:latin typeface="Times New Roman"/>
              </a:rPr>
              <a:t>OLX lowest on seller service (-8.1) and trust (-4.3) in demo data</a:t>
            </a:r>
          </a:p>
          <a:p>
            <a:pPr marL="228600" indent="-228600">
              <a:spcAft>
                <a:spcPts val="400"/>
              </a:spcAft>
              <a:buFont typeface="Arial"/>
              <a:buChar char="•"/>
            </a:pPr>
            <a:r>
              <a:rPr sz="1500">
                <a:solidFill>
                  <a:srgbClr val="26323F"/>
                </a:solidFill>
                <a:latin typeface="Times New Roman"/>
              </a:rPr>
              <a:t>Cashify leads seller and customer service (+46.6)</a:t>
            </a:r>
          </a:p>
          <a:p>
            <a:pPr marL="228600" indent="-228600">
              <a:spcAft>
                <a:spcPts val="400"/>
              </a:spcAft>
              <a:buFont typeface="Arial"/>
              <a:buChar char="•"/>
            </a:pPr>
            <a:r>
              <a:rPr sz="1500">
                <a:solidFill>
                  <a:srgbClr val="26323F"/>
                </a:solidFill>
                <a:latin typeface="Times New Roman"/>
              </a:rPr>
              <a:t>Demo-data patterns; re-check on verified real reviews</a:t>
            </a:r>
          </a:p>
        </p:txBody>
      </p:sp>
      <p:graphicFrame>
        <p:nvGraphicFramePr>
          <p:cNvPr id="11" name="Metrics table"/>
          <p:cNvGraphicFramePr>
            <a:graphicFrameLocks noGrp="1"/>
          </p:cNvGraphicFramePr>
          <p:nvPr/>
        </p:nvGraphicFramePr>
        <p:xfrm>
          <a:off x="365760" y="3931920"/>
          <a:ext cx="8229600" cy="2304288"/>
        </p:xfrm>
        <a:graphic>
          <a:graphicData uri="http://schemas.openxmlformats.org/drawingml/2006/table">
            <a:tbl>
              <a:tblPr firstRow="1" bandRow="0">
                <a:tableStyleId>{5C22544A-7EE6-4342-B048-85BDC9FD1C3A}</a:tableStyleId>
              </a:tblPr>
              <a:tblGrid>
                <a:gridCol w="2377440"/>
                <a:gridCol w="5852160"/>
              </a:tblGrid>
              <a:tr h="384048">
                <a:tc>
                  <a:txBody>
                    <a:bodyPr wrap="square"/>
                    <a:lstStyle/>
                    <a:p>
                      <a:r>
                        <a:rPr sz="1400" b="1">
                          <a:solidFill>
                            <a:srgbClr val="FFFFFF"/>
                          </a:solidFill>
                          <a:latin typeface="Times New Roman"/>
                        </a:rPr>
                        <a:t>Metric</a:t>
                      </a:r>
                    </a:p>
                  </a:txBody>
                  <a:tcPr marL="91440" marR="91440" marT="36576" marB="36576" anchor="ctr">
                    <a:solidFill>
                      <a:srgbClr val="1F3864"/>
                    </a:solidFill>
                  </a:tcPr>
                </a:tc>
                <a:tc>
                  <a:txBody>
                    <a:bodyPr wrap="square"/>
                    <a:lstStyle/>
                    <a:p>
                      <a:r>
                        <a:rPr sz="1400" b="1">
                          <a:solidFill>
                            <a:srgbClr val="FFFFFF"/>
                          </a:solidFill>
                          <a:latin typeface="Times New Roman"/>
                        </a:rPr>
                        <a:t>What it tells us</a:t>
                      </a:r>
                    </a:p>
                  </a:txBody>
                  <a:tcPr marL="91440" marR="91440" marT="36576" marB="36576" anchor="ctr">
                    <a:solidFill>
                      <a:srgbClr val="1F3864"/>
                    </a:solidFill>
                  </a:tcPr>
                </a:tc>
              </a:tr>
              <a:tr h="384048">
                <a:tc>
                  <a:txBody>
                    <a:bodyPr wrap="square"/>
                    <a:lstStyle/>
                    <a:p>
                      <a:r>
                        <a:rPr sz="1400" b="1">
                          <a:solidFill>
                            <a:srgbClr val="1F3864"/>
                          </a:solidFill>
                          <a:latin typeface="Times New Roman"/>
                        </a:rPr>
                        <a:t>Accuracy</a:t>
                      </a:r>
                    </a:p>
                  </a:txBody>
                  <a:tcPr marL="91440" marR="91440" marT="36576" marB="36576" anchor="ctr">
                    <a:solidFill>
                      <a:srgbClr val="FFFFFF"/>
                    </a:solidFill>
                  </a:tcPr>
                </a:tc>
                <a:tc>
                  <a:txBody>
                    <a:bodyPr wrap="square"/>
                    <a:lstStyle/>
                    <a:p>
                      <a:r>
                        <a:rPr sz="1400" b="0">
                          <a:solidFill>
                            <a:srgbClr val="26323F"/>
                          </a:solidFill>
                          <a:latin typeface="Times New Roman"/>
                        </a:rPr>
                        <a:t>Overall share of correct predictions on the test set</a:t>
                      </a:r>
                    </a:p>
                  </a:txBody>
                  <a:tcPr marL="91440" marR="91440" marT="36576" marB="36576" anchor="ctr">
                    <a:solidFill>
                      <a:srgbClr val="FFFFFF"/>
                    </a:solidFill>
                  </a:tcPr>
                </a:tc>
              </a:tr>
              <a:tr h="384048">
                <a:tc>
                  <a:txBody>
                    <a:bodyPr wrap="square"/>
                    <a:lstStyle/>
                    <a:p>
                      <a:r>
                        <a:rPr sz="1400" b="1">
                          <a:solidFill>
                            <a:srgbClr val="1F3864"/>
                          </a:solidFill>
                          <a:latin typeface="Times New Roman"/>
                        </a:rPr>
                        <a:t>Precision</a:t>
                      </a:r>
                    </a:p>
                  </a:txBody>
                  <a:tcPr marL="91440" marR="91440" marT="36576" marB="36576" anchor="ctr">
                    <a:solidFill>
                      <a:srgbClr val="EEF4F8"/>
                    </a:solidFill>
                  </a:tcPr>
                </a:tc>
                <a:tc>
                  <a:txBody>
                    <a:bodyPr wrap="square"/>
                    <a:lstStyle/>
                    <a:p>
                      <a:r>
                        <a:rPr sz="1400" b="0">
                          <a:solidFill>
                            <a:srgbClr val="26323F"/>
                          </a:solidFill>
                          <a:latin typeface="Times New Roman"/>
                        </a:rPr>
                        <a:t>When a label is predicted, how often it is right (fewer false alarms)</a:t>
                      </a:r>
                    </a:p>
                  </a:txBody>
                  <a:tcPr marL="91440" marR="91440" marT="36576" marB="36576" anchor="ctr">
                    <a:solidFill>
                      <a:srgbClr val="EEF4F8"/>
                    </a:solidFill>
                  </a:tcPr>
                </a:tc>
              </a:tr>
              <a:tr h="384048">
                <a:tc>
                  <a:txBody>
                    <a:bodyPr wrap="square"/>
                    <a:lstStyle/>
                    <a:p>
                      <a:r>
                        <a:rPr sz="1400" b="1">
                          <a:solidFill>
                            <a:srgbClr val="1F3864"/>
                          </a:solidFill>
                          <a:latin typeface="Times New Roman"/>
                        </a:rPr>
                        <a:t>Recall</a:t>
                      </a:r>
                    </a:p>
                  </a:txBody>
                  <a:tcPr marL="91440" marR="91440" marT="36576" marB="36576" anchor="ctr">
                    <a:solidFill>
                      <a:srgbClr val="FFFFFF"/>
                    </a:solidFill>
                  </a:tcPr>
                </a:tc>
                <a:tc>
                  <a:txBody>
                    <a:bodyPr wrap="square"/>
                    <a:lstStyle/>
                    <a:p>
                      <a:r>
                        <a:rPr sz="1400" b="0">
                          <a:solidFill>
                            <a:srgbClr val="26323F"/>
                          </a:solidFill>
                          <a:latin typeface="Times New Roman"/>
                        </a:rPr>
                        <a:t>How many examples of each class are found; critical for negative complaints</a:t>
                      </a:r>
                    </a:p>
                  </a:txBody>
                  <a:tcPr marL="91440" marR="91440" marT="36576" marB="36576" anchor="ctr">
                    <a:solidFill>
                      <a:srgbClr val="FFFFFF"/>
                    </a:solidFill>
                  </a:tcPr>
                </a:tc>
              </a:tr>
              <a:tr h="384048">
                <a:tc>
                  <a:txBody>
                    <a:bodyPr wrap="square"/>
                    <a:lstStyle/>
                    <a:p>
                      <a:r>
                        <a:rPr sz="1400" b="1">
                          <a:solidFill>
                            <a:srgbClr val="1F3864"/>
                          </a:solidFill>
                          <a:latin typeface="Times New Roman"/>
                        </a:rPr>
                        <a:t>Macro F1</a:t>
                      </a:r>
                    </a:p>
                  </a:txBody>
                  <a:tcPr marL="91440" marR="91440" marT="36576" marB="36576" anchor="ctr">
                    <a:solidFill>
                      <a:srgbClr val="EEF4F8"/>
                    </a:solidFill>
                  </a:tcPr>
                </a:tc>
                <a:tc>
                  <a:txBody>
                    <a:bodyPr wrap="square"/>
                    <a:lstStyle/>
                    <a:p>
                      <a:r>
                        <a:rPr sz="1400" b="0">
                          <a:solidFill>
                            <a:srgbClr val="26323F"/>
                          </a:solidFill>
                          <a:latin typeface="Times New Roman"/>
                        </a:rPr>
                        <a:t>Harmonic mean of precision and recall, averaged over the three classes</a:t>
                      </a:r>
                    </a:p>
                  </a:txBody>
                  <a:tcPr marL="91440" marR="91440" marT="36576" marB="36576" anchor="ctr">
                    <a:solidFill>
                      <a:srgbClr val="EEF4F8"/>
                    </a:solidFill>
                  </a:tcPr>
                </a:tc>
              </a:tr>
              <a:tr h="384048">
                <a:tc>
                  <a:txBody>
                    <a:bodyPr wrap="square"/>
                    <a:lstStyle/>
                    <a:p>
                      <a:r>
                        <a:rPr sz="1400" b="1">
                          <a:solidFill>
                            <a:srgbClr val="1F3864"/>
                          </a:solidFill>
                          <a:latin typeface="Times New Roman"/>
                        </a:rPr>
                        <a:t>Confusion matrix</a:t>
                      </a:r>
                    </a:p>
                  </a:txBody>
                  <a:tcPr marL="91440" marR="91440" marT="36576" marB="36576" anchor="ctr">
                    <a:solidFill>
                      <a:srgbClr val="FFFFFF"/>
                    </a:solidFill>
                  </a:tcPr>
                </a:tc>
                <a:tc>
                  <a:txBody>
                    <a:bodyPr wrap="square"/>
                    <a:lstStyle/>
                    <a:p>
                      <a:r>
                        <a:rPr sz="1400" b="0">
                          <a:solidFill>
                            <a:srgbClr val="26323F"/>
                          </a:solidFill>
                          <a:latin typeface="Times New Roman"/>
                        </a:rPr>
                        <a:t>Shows which classes are confused - here neutral is most often missed</a:t>
                      </a:r>
                    </a:p>
                  </a:txBody>
                  <a:tcPr marL="91440" marR="91440" marT="36576" marB="36576" anchor="ctr">
                    <a:solidFill>
                      <a:srgbClr val="FFFFFF"/>
                    </a:solidFill>
                  </a:tcPr>
                </a:tc>
              </a:tr>
            </a:tbl>
          </a:graphicData>
        </a:graphic>
      </p:graphicFrame>
      <p:pic>
        <p:nvPicPr>
          <p:cNvPr id="40" name="Heatmap" descr="Heatmap of net sentiment by aspect and platform (synthetic demo corpus)"/>
          <p:cNvPicPr>
            <a:picLocks noChangeAspect="1"/>
          </p:cNvPicPr>
          <p:nvPr/>
        </p:nvPicPr>
        <p:blipFill>
          <a:blip r:embed="rId90"/>
          <a:stretch>
            <a:fillRect/>
          </a:stretch>
        </p:blipFill>
        <p:spPr>
          <a:xfrm>
            <a:off x="320040" y="1188720"/>
            <a:ext cx="4297680" cy="2616432"/>
          </a:xfrm>
          <a:prstGeom prst="roundRect">
            <a:avLst>
              <a:gd name="adj" fmla="val 3000"/>
            </a:avLst>
          </a:prstGeom>
          <a:ln w="12700">
            <a:solidFill>
              <a:srgbClr val="9DB7C9"/>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System Design: App Workflow</a:t>
            </a:r>
          </a:p>
        </p:txBody>
      </p:sp>
      <p:sp>
        <p:nvSpPr>
          <p:cNvPr id="11" name="Flow 1"/>
          <p:cNvSpPr/>
          <p:nvPr/>
        </p:nvSpPr>
        <p:spPr>
          <a:xfrm>
            <a:off x="457200" y="1188720"/>
            <a:ext cx="1783080" cy="1005840"/>
          </a:xfrm>
          <a:prstGeom prst="roundRect">
            <a:avLst>
              <a:gd name="adj" fmla="val 12000"/>
            </a:avLst>
          </a:prstGeom>
          <a:solidFill>
            <a:srgbClr val="4A7FA7"/>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400" b="1" i="0" dirty="0">
                <a:solidFill>
                  <a:srgbClr val="FFFFFF"/>
                </a:solidFill>
                <a:latin typeface="Times New Roman"/>
                <a:cs typeface="Times New Roman"/>
              </a:rPr>
              <a:t>User uploads review CSV</a:t>
            </a:r>
          </a:p>
          <a:p>
            <a:pPr algn="ctr">
              <a:spcBef>
                <a:spcPts val="0"/>
              </a:spcBef>
              <a:spcAft>
                <a:spcPts val="0"/>
              </a:spcAft>
            </a:pPr>
            <a:r>
              <a:rPr lang="en-US" sz="1100" b="0" i="0" dirty="0">
                <a:solidFill>
                  <a:srgbClr val="FFFFFF"/>
                </a:solidFill>
                <a:latin typeface="Times New Roman"/>
                <a:cs typeface="Times New Roman"/>
              </a:rPr>
              <a:t>or bundled demo dataset</a:t>
            </a:r>
          </a:p>
        </p:txBody>
      </p:sp>
      <p:cxnSp>
        <p:nvCxnSpPr>
          <p:cNvPr id="12" name="Flow arrow 1"/>
          <p:cNvCxnSpPr/>
          <p:nvPr/>
        </p:nvCxnSpPr>
        <p:spPr>
          <a:xfrm>
            <a:off x="2276856" y="1691640"/>
            <a:ext cx="292608" cy="0"/>
          </a:xfrm>
          <a:prstGeom prst="line">
            <a:avLst/>
          </a:prstGeom>
          <a:ln w="25400" cap="rnd">
            <a:solidFill>
              <a:srgbClr val="5C6B7A"/>
            </a:solidFill>
            <a:round/>
            <a:tailEnd type="triangle" w="med" len="med"/>
          </a:ln>
        </p:spPr>
      </p:cxnSp>
      <p:sp>
        <p:nvSpPr>
          <p:cNvPr id="13" name="Flow 2"/>
          <p:cNvSpPr/>
          <p:nvPr/>
        </p:nvSpPr>
        <p:spPr>
          <a:xfrm>
            <a:off x="2606040" y="1188720"/>
            <a:ext cx="1783080" cy="1005840"/>
          </a:xfrm>
          <a:prstGeom prst="roundRect">
            <a:avLst>
              <a:gd name="adj" fmla="val 12000"/>
            </a:avLst>
          </a:prstGeom>
          <a:solidFill>
            <a:srgbClr val="4A7FA7"/>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400" b="1" i="0" dirty="0">
                <a:solidFill>
                  <a:srgbClr val="FFFFFF"/>
                </a:solidFill>
                <a:latin typeface="Times New Roman"/>
                <a:cs typeface="Times New Roman"/>
              </a:rPr>
              <a:t>Pre-processing</a:t>
            </a:r>
          </a:p>
          <a:p>
            <a:pPr algn="ctr">
              <a:spcBef>
                <a:spcPts val="0"/>
              </a:spcBef>
              <a:spcAft>
                <a:spcPts val="0"/>
              </a:spcAft>
            </a:pPr>
            <a:r>
              <a:rPr lang="en-US" sz="1100" b="0" i="0" dirty="0">
                <a:solidFill>
                  <a:srgbClr val="FFFFFF"/>
                </a:solidFill>
                <a:latin typeface="Times New Roman"/>
                <a:cs typeface="Times New Roman"/>
              </a:rPr>
              <a:t>clean_reviews() · validate columns</a:t>
            </a:r>
          </a:p>
        </p:txBody>
      </p:sp>
      <p:cxnSp>
        <p:nvCxnSpPr>
          <p:cNvPr id="14" name="Flow arrow 2"/>
          <p:cNvCxnSpPr/>
          <p:nvPr/>
        </p:nvCxnSpPr>
        <p:spPr>
          <a:xfrm>
            <a:off x="4425696" y="1691640"/>
            <a:ext cx="292608" cy="0"/>
          </a:xfrm>
          <a:prstGeom prst="line">
            <a:avLst/>
          </a:prstGeom>
          <a:ln w="25400" cap="rnd">
            <a:solidFill>
              <a:srgbClr val="5C6B7A"/>
            </a:solidFill>
            <a:round/>
            <a:tailEnd type="triangle" w="med" len="med"/>
          </a:ln>
        </p:spPr>
      </p:cxnSp>
      <p:sp>
        <p:nvSpPr>
          <p:cNvPr id="15" name="Flow 3"/>
          <p:cNvSpPr/>
          <p:nvPr/>
        </p:nvSpPr>
        <p:spPr>
          <a:xfrm>
            <a:off x="4754880" y="1188720"/>
            <a:ext cx="1783080" cy="1005840"/>
          </a:xfrm>
          <a:prstGeom prst="roundRect">
            <a:avLst>
              <a:gd name="adj" fmla="val 12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400" b="1" i="0" dirty="0">
                <a:solidFill>
                  <a:srgbClr val="FFFFFF"/>
                </a:solidFill>
                <a:latin typeface="Times New Roman"/>
                <a:cs typeface="Times New Roman"/>
              </a:rPr>
              <a:t>Aspect extraction</a:t>
            </a:r>
          </a:p>
          <a:p>
            <a:pPr algn="ctr">
              <a:spcBef>
                <a:spcPts val="0"/>
              </a:spcBef>
              <a:spcAft>
                <a:spcPts val="0"/>
              </a:spcAft>
            </a:pPr>
            <a:r>
              <a:rPr lang="en-US" sz="1100" b="0" i="0" dirty="0">
                <a:solidFill>
                  <a:srgbClr val="FFFFFF"/>
                </a:solidFill>
                <a:latin typeface="Times New Roman"/>
                <a:cs typeface="Times New Roman"/>
              </a:rPr>
              <a:t>keyword vocabulary · 13 aspects</a:t>
            </a:r>
          </a:p>
        </p:txBody>
      </p:sp>
      <p:cxnSp>
        <p:nvCxnSpPr>
          <p:cNvPr id="16" name="Flow arrow 3"/>
          <p:cNvCxnSpPr/>
          <p:nvPr/>
        </p:nvCxnSpPr>
        <p:spPr>
          <a:xfrm>
            <a:off x="6574536" y="1691640"/>
            <a:ext cx="292608" cy="0"/>
          </a:xfrm>
          <a:prstGeom prst="line">
            <a:avLst/>
          </a:prstGeom>
          <a:ln w="25400" cap="rnd">
            <a:solidFill>
              <a:srgbClr val="5C6B7A"/>
            </a:solidFill>
            <a:round/>
            <a:tailEnd type="triangle" w="med" len="med"/>
          </a:ln>
        </p:spPr>
      </p:cxnSp>
      <p:sp>
        <p:nvSpPr>
          <p:cNvPr id="17" name="Flow 4"/>
          <p:cNvSpPr/>
          <p:nvPr/>
        </p:nvSpPr>
        <p:spPr>
          <a:xfrm>
            <a:off x="6903720" y="1188720"/>
            <a:ext cx="1783080" cy="1005840"/>
          </a:xfrm>
          <a:prstGeom prst="roundRect">
            <a:avLst>
              <a:gd name="adj" fmla="val 12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400" b="1" i="0" dirty="0">
                <a:solidFill>
                  <a:srgbClr val="FFFFFF"/>
                </a:solidFill>
                <a:latin typeface="Times New Roman"/>
                <a:cs typeface="Times New Roman"/>
              </a:rPr>
              <a:t>Sentiment model</a:t>
            </a:r>
          </a:p>
          <a:p>
            <a:pPr algn="ctr">
              <a:spcBef>
                <a:spcPts val="0"/>
              </a:spcBef>
              <a:spcAft>
                <a:spcPts val="0"/>
              </a:spcAft>
            </a:pPr>
            <a:r>
              <a:rPr lang="en-US" sz="1100" b="0" i="0" dirty="0">
                <a:solidFill>
                  <a:srgbClr val="FFFFFF"/>
                </a:solidFill>
                <a:latin typeface="Times New Roman"/>
                <a:cs typeface="Times New Roman"/>
              </a:rPr>
              <a:t>BERT / fallback</a:t>
            </a:r>
          </a:p>
        </p:txBody>
      </p:sp>
      <p:cxnSp>
        <p:nvCxnSpPr>
          <p:cNvPr id="18" name="To results (down)"/>
          <p:cNvCxnSpPr/>
          <p:nvPr/>
        </p:nvCxnSpPr>
        <p:spPr>
          <a:xfrm>
            <a:off x="7795260" y="2212848"/>
            <a:ext cx="0" cy="873252"/>
          </a:xfrm>
          <a:prstGeom prst="line">
            <a:avLst/>
          </a:prstGeom>
          <a:ln w="25400" cap="rnd">
            <a:solidFill>
              <a:srgbClr val="5C6B7A"/>
            </a:solidFill>
            <a:round/>
          </a:ln>
        </p:spPr>
      </p:cxnSp>
      <p:sp>
        <p:nvSpPr>
          <p:cNvPr id="19" name="ABSA results table"/>
          <p:cNvSpPr/>
          <p:nvPr/>
        </p:nvSpPr>
        <p:spPr>
          <a:xfrm>
            <a:off x="2286000" y="2697480"/>
            <a:ext cx="4572000" cy="777240"/>
          </a:xfrm>
          <a:prstGeom prst="roundRect">
            <a:avLst>
              <a:gd name="adj" fmla="val 12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ABSA results table</a:t>
            </a:r>
          </a:p>
          <a:p>
            <a:pPr algn="ctr">
              <a:spcBef>
                <a:spcPts val="0"/>
              </a:spcBef>
              <a:spcAft>
                <a:spcPts val="0"/>
              </a:spcAft>
            </a:pPr>
            <a:r>
              <a:rPr lang="en-US" sz="1150" b="0" i="0" dirty="0">
                <a:solidFill>
                  <a:srgbClr val="FFFFFF"/>
                </a:solidFill>
                <a:latin typeface="Times New Roman"/>
                <a:cs typeface="Times New Roman"/>
              </a:rPr>
              <a:t>review × aspect × sentiment × confidence</a:t>
            </a:r>
          </a:p>
        </p:txBody>
      </p:sp>
      <p:cxnSp>
        <p:nvCxnSpPr>
          <p:cNvPr id="20" name="To results (left)"/>
          <p:cNvCxnSpPr/>
          <p:nvPr/>
        </p:nvCxnSpPr>
        <p:spPr>
          <a:xfrm flipH="1">
            <a:off x="6894576" y="3086100"/>
            <a:ext cx="900684" cy="0"/>
          </a:xfrm>
          <a:prstGeom prst="line">
            <a:avLst/>
          </a:prstGeom>
          <a:ln w="25400" cap="rnd">
            <a:solidFill>
              <a:srgbClr val="5C6B7A"/>
            </a:solidFill>
            <a:round/>
            <a:tailEnd type="triangle" w="med" len="med"/>
          </a:ln>
        </p:spPr>
      </p:cxnSp>
      <p:cxnSp>
        <p:nvCxnSpPr>
          <p:cNvPr id="21" name="Branch stem"/>
          <p:cNvCxnSpPr/>
          <p:nvPr/>
        </p:nvCxnSpPr>
        <p:spPr>
          <a:xfrm>
            <a:off x="4572000" y="3493008"/>
            <a:ext cx="0" cy="256032"/>
          </a:xfrm>
          <a:prstGeom prst="line">
            <a:avLst/>
          </a:prstGeom>
          <a:ln w="25400" cap="rnd">
            <a:solidFill>
              <a:srgbClr val="5C6B7A"/>
            </a:solidFill>
            <a:round/>
          </a:ln>
        </p:spPr>
      </p:cxnSp>
      <p:cxnSp>
        <p:nvCxnSpPr>
          <p:cNvPr id="22" name="Branch bar"/>
          <p:cNvCxnSpPr/>
          <p:nvPr/>
        </p:nvCxnSpPr>
        <p:spPr>
          <a:xfrm>
            <a:off x="1783080" y="3749040"/>
            <a:ext cx="4251960" cy="0"/>
          </a:xfrm>
          <a:prstGeom prst="line">
            <a:avLst/>
          </a:prstGeom>
          <a:ln w="25400" cap="rnd">
            <a:solidFill>
              <a:srgbClr val="5C6B7A"/>
            </a:solidFill>
            <a:round/>
          </a:ln>
        </p:spPr>
      </p:cxnSp>
      <p:cxnSp>
        <p:nvCxnSpPr>
          <p:cNvPr id="23" name="Branch left"/>
          <p:cNvCxnSpPr/>
          <p:nvPr/>
        </p:nvCxnSpPr>
        <p:spPr>
          <a:xfrm>
            <a:off x="1783080" y="3749040"/>
            <a:ext cx="0" cy="274320"/>
          </a:xfrm>
          <a:prstGeom prst="line">
            <a:avLst/>
          </a:prstGeom>
          <a:ln w="25400" cap="rnd">
            <a:solidFill>
              <a:srgbClr val="5C6B7A"/>
            </a:solidFill>
            <a:round/>
            <a:tailEnd type="triangle" w="med" len="med"/>
          </a:ln>
        </p:spPr>
      </p:cxnSp>
      <p:cxnSp>
        <p:nvCxnSpPr>
          <p:cNvPr id="24" name="Branch right"/>
          <p:cNvCxnSpPr/>
          <p:nvPr/>
        </p:nvCxnSpPr>
        <p:spPr>
          <a:xfrm>
            <a:off x="6035040" y="3749040"/>
            <a:ext cx="0" cy="274320"/>
          </a:xfrm>
          <a:prstGeom prst="line">
            <a:avLst/>
          </a:prstGeom>
          <a:ln w="25400" cap="rnd">
            <a:solidFill>
              <a:srgbClr val="5C6B7A"/>
            </a:solidFill>
            <a:round/>
            <a:tailEnd type="triangle" w="med" len="med"/>
          </a:ln>
        </p:spPr>
      </p:cxnSp>
      <p:sp>
        <p:nvSpPr>
          <p:cNvPr id="25" name="Analytics lane"/>
          <p:cNvSpPr/>
          <p:nvPr/>
        </p:nvSpPr>
        <p:spPr>
          <a:xfrm>
            <a:off x="457200" y="4023360"/>
            <a:ext cx="2651760" cy="1097280"/>
          </a:xfrm>
          <a:prstGeom prst="roundRect">
            <a:avLst>
              <a:gd name="adj" fmla="val 7000"/>
            </a:avLst>
          </a:prstGeom>
          <a:solidFill>
            <a:srgbClr val="FFFFFF"/>
          </a:solidFill>
          <a:ln w="12700">
            <a:solidFill>
              <a:srgbClr val="9DB7C9"/>
            </a:solidFill>
          </a:ln>
          <a:effectLst/>
        </p:spPr>
        <p:txBody>
          <a:bodyPr wrap="square" lIns="73152" tIns="36576" rIns="73152" bIns="36576" anchor="ctr" rtlCol="0">
            <a:noAutofit/>
          </a:bodyPr>
          <a:lstStyle/>
          <a:p>
            <a:endParaRPr lang="en-US"/>
          </a:p>
        </p:txBody>
      </p:sp>
      <p:sp>
        <p:nvSpPr>
          <p:cNvPr id="26" name="Analytics Dashboard"/>
          <p:cNvSpPr/>
          <p:nvPr/>
        </p:nvSpPr>
        <p:spPr>
          <a:xfrm>
            <a:off x="594360" y="4133088"/>
            <a:ext cx="2377440" cy="877824"/>
          </a:xfrm>
          <a:prstGeom prst="roundRect">
            <a:avLst>
              <a:gd name="adj" fmla="val 12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400" b="1" i="0" dirty="0">
                <a:solidFill>
                  <a:srgbClr val="FFFFFF"/>
                </a:solidFill>
                <a:latin typeface="Times New Roman"/>
                <a:cs typeface="Times New Roman"/>
              </a:rPr>
              <a:t>Analytics Dashboard</a:t>
            </a:r>
          </a:p>
          <a:p>
            <a:pPr algn="ctr">
              <a:spcBef>
                <a:spcPts val="0"/>
              </a:spcBef>
              <a:spcAft>
                <a:spcPts val="0"/>
              </a:spcAft>
            </a:pPr>
            <a:r>
              <a:rPr lang="en-US" sz="1100" b="0" i="0" dirty="0">
                <a:solidFill>
                  <a:srgbClr val="FFFFFF"/>
                </a:solidFill>
                <a:latin typeface="Times New Roman"/>
                <a:cs typeface="Times New Roman"/>
              </a:rPr>
              <a:t>sentiment by aspect / platform / category</a:t>
            </a:r>
          </a:p>
        </p:txBody>
      </p:sp>
      <p:sp>
        <p:nvSpPr>
          <p:cNvPr id="27" name="Recommendation lane"/>
          <p:cNvSpPr/>
          <p:nvPr/>
        </p:nvSpPr>
        <p:spPr>
          <a:xfrm>
            <a:off x="3383280" y="4023360"/>
            <a:ext cx="5303520" cy="2103120"/>
          </a:xfrm>
          <a:prstGeom prst="roundRect">
            <a:avLst>
              <a:gd name="adj" fmla="val 5000"/>
            </a:avLst>
          </a:prstGeom>
          <a:solidFill>
            <a:srgbClr val="FFFFFF"/>
          </a:solidFill>
          <a:ln w="12700">
            <a:solidFill>
              <a:srgbClr val="9DB7C9"/>
            </a:solidFill>
          </a:ln>
          <a:effectLst/>
        </p:spPr>
        <p:txBody>
          <a:bodyPr wrap="square" lIns="73152" tIns="36576" rIns="73152" bIns="36576" anchor="ctr" rtlCol="0">
            <a:noAutofit/>
          </a:bodyPr>
          <a:lstStyle/>
          <a:p>
            <a:endParaRPr lang="en-US"/>
          </a:p>
        </p:txBody>
      </p:sp>
      <p:sp>
        <p:nvSpPr>
          <p:cNvPr id="28" name="Recommendation Engine"/>
          <p:cNvSpPr/>
          <p:nvPr/>
        </p:nvSpPr>
        <p:spPr>
          <a:xfrm>
            <a:off x="3520440" y="4133088"/>
            <a:ext cx="5029200" cy="822960"/>
          </a:xfrm>
          <a:prstGeom prst="roundRect">
            <a:avLst>
              <a:gd name="adj" fmla="val 12000"/>
            </a:avLst>
          </a:prstGeom>
          <a:solidFill>
            <a:srgbClr val="B0385A"/>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Recommendation Engine</a:t>
            </a:r>
          </a:p>
          <a:p>
            <a:pPr algn="ctr">
              <a:spcBef>
                <a:spcPts val="0"/>
              </a:spcBef>
              <a:spcAft>
                <a:spcPts val="0"/>
              </a:spcAft>
            </a:pPr>
            <a:r>
              <a:rPr lang="en-US" sz="1100" b="0" i="0" dirty="0">
                <a:solidFill>
                  <a:srgbClr val="FFFFFF"/>
                </a:solidFill>
                <a:latin typeface="Times New Roman"/>
                <a:cs typeface="Times New Roman"/>
              </a:rPr>
              <a:t>6 weighted sub-scores (0–10) per platform · HIGH / MED / LOW confidence</a:t>
            </a:r>
          </a:p>
        </p:txBody>
      </p:sp>
      <p:cxnSp>
        <p:nvCxnSpPr>
          <p:cNvPr id="29" name="Rec stem"/>
          <p:cNvCxnSpPr/>
          <p:nvPr/>
        </p:nvCxnSpPr>
        <p:spPr>
          <a:xfrm>
            <a:off x="6035040" y="4974336"/>
            <a:ext cx="0" cy="164592"/>
          </a:xfrm>
          <a:prstGeom prst="line">
            <a:avLst/>
          </a:prstGeom>
          <a:ln w="25400" cap="rnd">
            <a:solidFill>
              <a:srgbClr val="5C6B7A"/>
            </a:solidFill>
            <a:round/>
          </a:ln>
        </p:spPr>
      </p:cxnSp>
      <p:cxnSp>
        <p:nvCxnSpPr>
          <p:cNvPr id="30" name="Rec bar"/>
          <p:cNvCxnSpPr/>
          <p:nvPr/>
        </p:nvCxnSpPr>
        <p:spPr>
          <a:xfrm>
            <a:off x="4343400" y="5138928"/>
            <a:ext cx="3474720" cy="0"/>
          </a:xfrm>
          <a:prstGeom prst="line">
            <a:avLst/>
          </a:prstGeom>
          <a:ln w="25400" cap="rnd">
            <a:solidFill>
              <a:srgbClr val="5C6B7A"/>
            </a:solidFill>
            <a:round/>
          </a:ln>
        </p:spPr>
      </p:cxnSp>
      <p:cxnSp>
        <p:nvCxnSpPr>
          <p:cNvPr id="31" name="Rec arrow 1"/>
          <p:cNvCxnSpPr/>
          <p:nvPr/>
        </p:nvCxnSpPr>
        <p:spPr>
          <a:xfrm>
            <a:off x="4343400" y="5138928"/>
            <a:ext cx="0" cy="164592"/>
          </a:xfrm>
          <a:prstGeom prst="line">
            <a:avLst/>
          </a:prstGeom>
          <a:ln w="25400" cap="rnd">
            <a:solidFill>
              <a:srgbClr val="5C6B7A"/>
            </a:solidFill>
            <a:round/>
            <a:tailEnd type="triangle" w="med" len="med"/>
          </a:ln>
        </p:spPr>
      </p:cxnSp>
      <p:sp>
        <p:nvSpPr>
          <p:cNvPr id="32" name="Output 1"/>
          <p:cNvSpPr/>
          <p:nvPr/>
        </p:nvSpPr>
        <p:spPr>
          <a:xfrm>
            <a:off x="3566160" y="5303520"/>
            <a:ext cx="1554480" cy="658368"/>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250" b="1" i="0" dirty="0">
                <a:solidFill>
                  <a:srgbClr val="B0385A"/>
                </a:solidFill>
                <a:latin typeface="Times New Roman"/>
                <a:cs typeface="Times New Roman"/>
              </a:rPr>
              <a:t>Compare Platforms</a:t>
            </a:r>
          </a:p>
        </p:txBody>
      </p:sp>
      <p:cxnSp>
        <p:nvCxnSpPr>
          <p:cNvPr id="33" name="Rec arrow 2"/>
          <p:cNvCxnSpPr/>
          <p:nvPr/>
        </p:nvCxnSpPr>
        <p:spPr>
          <a:xfrm>
            <a:off x="6080760" y="5138928"/>
            <a:ext cx="0" cy="164592"/>
          </a:xfrm>
          <a:prstGeom prst="line">
            <a:avLst/>
          </a:prstGeom>
          <a:ln w="25400" cap="rnd">
            <a:solidFill>
              <a:srgbClr val="5C6B7A"/>
            </a:solidFill>
            <a:round/>
            <a:tailEnd type="triangle" w="med" len="med"/>
          </a:ln>
        </p:spPr>
      </p:cxnSp>
      <p:sp>
        <p:nvSpPr>
          <p:cNvPr id="34" name="Output 2"/>
          <p:cNvSpPr/>
          <p:nvPr/>
        </p:nvSpPr>
        <p:spPr>
          <a:xfrm>
            <a:off x="5303520" y="5303520"/>
            <a:ext cx="1554480" cy="658368"/>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250" b="1" i="0" dirty="0">
                <a:solidFill>
                  <a:srgbClr val="B0385A"/>
                </a:solidFill>
                <a:latin typeface="Times New Roman"/>
                <a:cs typeface="Times New Roman"/>
              </a:rPr>
              <a:t>Best Place to Buy</a:t>
            </a:r>
          </a:p>
        </p:txBody>
      </p:sp>
      <p:cxnSp>
        <p:nvCxnSpPr>
          <p:cNvPr id="35" name="Rec arrow 3"/>
          <p:cNvCxnSpPr/>
          <p:nvPr/>
        </p:nvCxnSpPr>
        <p:spPr>
          <a:xfrm>
            <a:off x="7818120" y="5138928"/>
            <a:ext cx="0" cy="164592"/>
          </a:xfrm>
          <a:prstGeom prst="line">
            <a:avLst/>
          </a:prstGeom>
          <a:ln w="25400" cap="rnd">
            <a:solidFill>
              <a:srgbClr val="5C6B7A"/>
            </a:solidFill>
            <a:round/>
            <a:tailEnd type="triangle" w="med" len="med"/>
          </a:ln>
        </p:spPr>
      </p:cxnSp>
      <p:sp>
        <p:nvSpPr>
          <p:cNvPr id="36" name="Output 3"/>
          <p:cNvSpPr/>
          <p:nvPr/>
        </p:nvSpPr>
        <p:spPr>
          <a:xfrm>
            <a:off x="7040880" y="5303520"/>
            <a:ext cx="1554480" cy="658368"/>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250" b="1" i="0" dirty="0">
                <a:solidFill>
                  <a:srgbClr val="B0385A"/>
                </a:solidFill>
                <a:latin typeface="Times New Roman"/>
                <a:cs typeface="Times New Roman"/>
              </a:rPr>
              <a:t>Explain Recommendation</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Recommendation Engine</a:t>
            </a:r>
          </a:p>
        </p:txBody>
      </p:sp>
      <p:sp>
        <p:nvSpPr>
          <p:cNvPr id="11" name="ABSA results"/>
          <p:cNvSpPr/>
          <p:nvPr/>
        </p:nvSpPr>
        <p:spPr>
          <a:xfrm>
            <a:off x="2743200" y="1188720"/>
            <a:ext cx="3657600" cy="777240"/>
          </a:xfrm>
          <a:prstGeom prst="roundRect">
            <a:avLst>
              <a:gd name="adj" fmla="val 12000"/>
            </a:avLst>
          </a:prstGeom>
          <a:solidFill>
            <a:srgbClr val="1E6F78"/>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ABSA results</a:t>
            </a:r>
          </a:p>
          <a:p>
            <a:pPr algn="ctr">
              <a:spcBef>
                <a:spcPts val="0"/>
              </a:spcBef>
              <a:spcAft>
                <a:spcPts val="0"/>
              </a:spcAft>
            </a:pPr>
            <a:r>
              <a:rPr lang="en-US" sz="1150" b="0" i="0" dirty="0">
                <a:solidFill>
                  <a:srgbClr val="FFFFFF"/>
                </a:solidFill>
                <a:latin typeface="Times New Roman"/>
                <a:cs typeface="Times New Roman"/>
              </a:rPr>
              <a:t>aspect × sentiment counts per platform × product</a:t>
            </a:r>
          </a:p>
        </p:txBody>
      </p:sp>
      <p:cxnSp>
        <p:nvCxnSpPr>
          <p:cNvPr id="12" name="Arrow 1"/>
          <p:cNvCxnSpPr/>
          <p:nvPr/>
        </p:nvCxnSpPr>
        <p:spPr>
          <a:xfrm>
            <a:off x="4572000" y="1984248"/>
            <a:ext cx="0" cy="237744"/>
          </a:xfrm>
          <a:prstGeom prst="line">
            <a:avLst/>
          </a:prstGeom>
          <a:ln w="25400" cap="rnd">
            <a:solidFill>
              <a:srgbClr val="5C6B7A"/>
            </a:solidFill>
            <a:round/>
            <a:tailEnd type="triangle" w="med" len="med"/>
          </a:ln>
        </p:spPr>
      </p:cxnSp>
      <p:sp>
        <p:nvSpPr>
          <p:cNvPr id="13" name="Sub-score 1"/>
          <p:cNvSpPr/>
          <p:nvPr/>
        </p:nvSpPr>
        <p:spPr>
          <a:xfrm>
            <a:off x="457200" y="2240280"/>
            <a:ext cx="1280160" cy="822960"/>
          </a:xfrm>
          <a:prstGeom prst="roundRect">
            <a:avLst>
              <a:gd name="adj" fmla="val 12000"/>
            </a:avLst>
          </a:prstGeom>
          <a:solidFill>
            <a:srgbClr val="1F3864"/>
          </a:solidFill>
          <a:ln>
            <a:noFill/>
          </a:ln>
          <a:effectLst>
            <a:outerShdw blurRad="50800" dist="25400" dir="5400000" algn="t" rotWithShape="0">
              <a:srgbClr val="000000">
                <a:alpha val="22000"/>
              </a:srgbClr>
            </a:outerShdw>
          </a:effectLst>
        </p:spPr>
        <p:txBody>
          <a:bodyPr wrap="square" lIns="45720" tIns="27432" rIns="45720" bIns="27432" anchor="ctr" rtlCol="0">
            <a:noAutofit/>
          </a:bodyPr>
          <a:lstStyle/>
          <a:p>
            <a:pPr algn="ctr">
              <a:spcBef>
                <a:spcPts val="0"/>
              </a:spcBef>
              <a:spcAft>
                <a:spcPts val="0"/>
              </a:spcAft>
            </a:pPr>
            <a:r>
              <a:rPr lang="en-US" sz="1250" b="1" i="0" dirty="0">
                <a:solidFill>
                  <a:srgbClr val="FFFFFF"/>
                </a:solidFill>
                <a:latin typeface="Times New Roman"/>
                <a:cs typeface="Times New Roman"/>
              </a:rPr>
              <a:t>Sentiment</a:t>
            </a:r>
          </a:p>
          <a:p>
            <a:pPr algn="ctr">
              <a:spcBef>
                <a:spcPts val="0"/>
              </a:spcBef>
              <a:spcAft>
                <a:spcPts val="0"/>
              </a:spcAft>
            </a:pPr>
            <a:r>
              <a:rPr lang="en-US" sz="1200" b="0" i="0" dirty="0">
                <a:solidFill>
                  <a:srgbClr val="FFFFFF"/>
                </a:solidFill>
                <a:latin typeface="Times New Roman"/>
                <a:cs typeface="Times New Roman"/>
              </a:rPr>
              <a:t>weight 0.25</a:t>
            </a:r>
          </a:p>
        </p:txBody>
      </p:sp>
      <p:sp>
        <p:nvSpPr>
          <p:cNvPr id="14" name="Sub-score 2"/>
          <p:cNvSpPr/>
          <p:nvPr/>
        </p:nvSpPr>
        <p:spPr>
          <a:xfrm>
            <a:off x="1847088" y="2240280"/>
            <a:ext cx="1280160" cy="822960"/>
          </a:xfrm>
          <a:prstGeom prst="roundRect">
            <a:avLst>
              <a:gd name="adj" fmla="val 12000"/>
            </a:avLst>
          </a:prstGeom>
          <a:solidFill>
            <a:srgbClr val="1F3864"/>
          </a:solidFill>
          <a:ln>
            <a:noFill/>
          </a:ln>
          <a:effectLst>
            <a:outerShdw blurRad="50800" dist="25400" dir="5400000" algn="t" rotWithShape="0">
              <a:srgbClr val="000000">
                <a:alpha val="22000"/>
              </a:srgbClr>
            </a:outerShdw>
          </a:effectLst>
        </p:spPr>
        <p:txBody>
          <a:bodyPr wrap="square" lIns="45720" tIns="27432" rIns="45720" bIns="27432" anchor="ctr" rtlCol="0">
            <a:noAutofit/>
          </a:bodyPr>
          <a:lstStyle/>
          <a:p>
            <a:pPr algn="ctr">
              <a:spcBef>
                <a:spcPts val="0"/>
              </a:spcBef>
              <a:spcAft>
                <a:spcPts val="0"/>
              </a:spcAft>
            </a:pPr>
            <a:r>
              <a:rPr lang="en-US" sz="1250" b="1" i="0" dirty="0">
                <a:solidFill>
                  <a:srgbClr val="FFFFFF"/>
                </a:solidFill>
                <a:latin typeface="Times New Roman"/>
                <a:cs typeface="Times New Roman"/>
              </a:rPr>
              <a:t>Product quality</a:t>
            </a:r>
          </a:p>
          <a:p>
            <a:pPr algn="ctr">
              <a:spcBef>
                <a:spcPts val="0"/>
              </a:spcBef>
              <a:spcAft>
                <a:spcPts val="0"/>
              </a:spcAft>
            </a:pPr>
            <a:r>
              <a:rPr lang="en-US" sz="1200" b="0" i="0" dirty="0">
                <a:solidFill>
                  <a:srgbClr val="FFFFFF"/>
                </a:solidFill>
                <a:latin typeface="Times New Roman"/>
                <a:cs typeface="Times New Roman"/>
              </a:rPr>
              <a:t>weight 0.25</a:t>
            </a:r>
          </a:p>
        </p:txBody>
      </p:sp>
      <p:sp>
        <p:nvSpPr>
          <p:cNvPr id="15" name="Sub-score 3"/>
          <p:cNvSpPr/>
          <p:nvPr/>
        </p:nvSpPr>
        <p:spPr>
          <a:xfrm>
            <a:off x="3236976" y="2240280"/>
            <a:ext cx="1280160" cy="822960"/>
          </a:xfrm>
          <a:prstGeom prst="roundRect">
            <a:avLst>
              <a:gd name="adj" fmla="val 12000"/>
            </a:avLst>
          </a:prstGeom>
          <a:solidFill>
            <a:srgbClr val="1E6F78"/>
          </a:solidFill>
          <a:ln>
            <a:noFill/>
          </a:ln>
          <a:effectLst>
            <a:outerShdw blurRad="50800" dist="25400" dir="5400000" algn="t" rotWithShape="0">
              <a:srgbClr val="000000">
                <a:alpha val="22000"/>
              </a:srgbClr>
            </a:outerShdw>
          </a:effectLst>
        </p:spPr>
        <p:txBody>
          <a:bodyPr wrap="square" lIns="45720" tIns="27432" rIns="45720" bIns="27432" anchor="ctr" rtlCol="0">
            <a:noAutofit/>
          </a:bodyPr>
          <a:lstStyle/>
          <a:p>
            <a:pPr algn="ctr">
              <a:spcBef>
                <a:spcPts val="0"/>
              </a:spcBef>
              <a:spcAft>
                <a:spcPts val="0"/>
              </a:spcAft>
            </a:pPr>
            <a:r>
              <a:rPr lang="en-US" sz="1250" b="1" i="0" dirty="0">
                <a:solidFill>
                  <a:srgbClr val="FFFFFF"/>
                </a:solidFill>
                <a:latin typeface="Times New Roman"/>
                <a:cs typeface="Times New Roman"/>
              </a:rPr>
              <a:t>Service</a:t>
            </a:r>
          </a:p>
          <a:p>
            <a:pPr algn="ctr">
              <a:spcBef>
                <a:spcPts val="0"/>
              </a:spcBef>
              <a:spcAft>
                <a:spcPts val="0"/>
              </a:spcAft>
            </a:pPr>
            <a:r>
              <a:rPr lang="en-US" sz="1200" b="0" i="0" dirty="0">
                <a:solidFill>
                  <a:srgbClr val="FFFFFF"/>
                </a:solidFill>
                <a:latin typeface="Times New Roman"/>
                <a:cs typeface="Times New Roman"/>
              </a:rPr>
              <a:t>weight 0.15</a:t>
            </a:r>
          </a:p>
        </p:txBody>
      </p:sp>
      <p:sp>
        <p:nvSpPr>
          <p:cNvPr id="16" name="Sub-score 4"/>
          <p:cNvSpPr/>
          <p:nvPr/>
        </p:nvSpPr>
        <p:spPr>
          <a:xfrm>
            <a:off x="4626864" y="2240280"/>
            <a:ext cx="1280160" cy="822960"/>
          </a:xfrm>
          <a:prstGeom prst="roundRect">
            <a:avLst>
              <a:gd name="adj" fmla="val 12000"/>
            </a:avLst>
          </a:prstGeom>
          <a:solidFill>
            <a:srgbClr val="1E6F78"/>
          </a:solidFill>
          <a:ln>
            <a:noFill/>
          </a:ln>
          <a:effectLst>
            <a:outerShdw blurRad="50800" dist="25400" dir="5400000" algn="t" rotWithShape="0">
              <a:srgbClr val="000000">
                <a:alpha val="22000"/>
              </a:srgbClr>
            </a:outerShdw>
          </a:effectLst>
        </p:spPr>
        <p:txBody>
          <a:bodyPr wrap="square" lIns="45720" tIns="27432" rIns="45720" bIns="27432" anchor="ctr" rtlCol="0">
            <a:noAutofit/>
          </a:bodyPr>
          <a:lstStyle/>
          <a:p>
            <a:pPr algn="ctr">
              <a:spcBef>
                <a:spcPts val="0"/>
              </a:spcBef>
              <a:spcAft>
                <a:spcPts val="0"/>
              </a:spcAft>
            </a:pPr>
            <a:r>
              <a:rPr lang="en-US" sz="1250" b="1" i="0" dirty="0">
                <a:solidFill>
                  <a:srgbClr val="FFFFFF"/>
                </a:solidFill>
                <a:latin typeface="Times New Roman"/>
                <a:cs typeface="Times New Roman"/>
              </a:rPr>
              <a:t>Value</a:t>
            </a:r>
          </a:p>
          <a:p>
            <a:pPr algn="ctr">
              <a:spcBef>
                <a:spcPts val="0"/>
              </a:spcBef>
              <a:spcAft>
                <a:spcPts val="0"/>
              </a:spcAft>
            </a:pPr>
            <a:r>
              <a:rPr lang="en-US" sz="1200" b="0" i="0" dirty="0">
                <a:solidFill>
                  <a:srgbClr val="FFFFFF"/>
                </a:solidFill>
                <a:latin typeface="Times New Roman"/>
                <a:cs typeface="Times New Roman"/>
              </a:rPr>
              <a:t>weight 0.15</a:t>
            </a:r>
          </a:p>
        </p:txBody>
      </p:sp>
      <p:sp>
        <p:nvSpPr>
          <p:cNvPr id="17" name="Sub-score 5"/>
          <p:cNvSpPr/>
          <p:nvPr/>
        </p:nvSpPr>
        <p:spPr>
          <a:xfrm>
            <a:off x="6016752" y="2240280"/>
            <a:ext cx="1280160" cy="822960"/>
          </a:xfrm>
          <a:prstGeom prst="roundRect">
            <a:avLst>
              <a:gd name="adj" fmla="val 12000"/>
            </a:avLst>
          </a:prstGeom>
          <a:solidFill>
            <a:srgbClr val="4A7FA7"/>
          </a:solidFill>
          <a:ln>
            <a:noFill/>
          </a:ln>
          <a:effectLst>
            <a:outerShdw blurRad="50800" dist="25400" dir="5400000" algn="t" rotWithShape="0">
              <a:srgbClr val="000000">
                <a:alpha val="22000"/>
              </a:srgbClr>
            </a:outerShdw>
          </a:effectLst>
        </p:spPr>
        <p:txBody>
          <a:bodyPr wrap="square" lIns="45720" tIns="27432" rIns="45720" bIns="27432" anchor="ctr" rtlCol="0">
            <a:noAutofit/>
          </a:bodyPr>
          <a:lstStyle/>
          <a:p>
            <a:pPr algn="ctr">
              <a:spcBef>
                <a:spcPts val="0"/>
              </a:spcBef>
              <a:spcAft>
                <a:spcPts val="0"/>
              </a:spcAft>
            </a:pPr>
            <a:r>
              <a:rPr lang="en-US" sz="1250" b="1" i="0" dirty="0">
                <a:solidFill>
                  <a:srgbClr val="FFFFFF"/>
                </a:solidFill>
                <a:latin typeface="Times New Roman"/>
                <a:cs typeface="Times New Roman"/>
              </a:rPr>
              <a:t>Trust</a:t>
            </a:r>
          </a:p>
          <a:p>
            <a:pPr algn="ctr">
              <a:spcBef>
                <a:spcPts val="0"/>
              </a:spcBef>
              <a:spcAft>
                <a:spcPts val="0"/>
              </a:spcAft>
            </a:pPr>
            <a:r>
              <a:rPr lang="en-US" sz="1200" b="0" i="0" dirty="0">
                <a:solidFill>
                  <a:srgbClr val="FFFFFF"/>
                </a:solidFill>
                <a:latin typeface="Times New Roman"/>
                <a:cs typeface="Times New Roman"/>
              </a:rPr>
              <a:t>weight 0.10</a:t>
            </a:r>
          </a:p>
        </p:txBody>
      </p:sp>
      <p:sp>
        <p:nvSpPr>
          <p:cNvPr id="18" name="Sub-score 6"/>
          <p:cNvSpPr/>
          <p:nvPr/>
        </p:nvSpPr>
        <p:spPr>
          <a:xfrm>
            <a:off x="7406640" y="2240280"/>
            <a:ext cx="1280160" cy="822960"/>
          </a:xfrm>
          <a:prstGeom prst="roundRect">
            <a:avLst>
              <a:gd name="adj" fmla="val 12000"/>
            </a:avLst>
          </a:prstGeom>
          <a:solidFill>
            <a:srgbClr val="4A7FA7"/>
          </a:solidFill>
          <a:ln>
            <a:noFill/>
          </a:ln>
          <a:effectLst>
            <a:outerShdw blurRad="50800" dist="25400" dir="5400000" algn="t" rotWithShape="0">
              <a:srgbClr val="000000">
                <a:alpha val="22000"/>
              </a:srgbClr>
            </a:outerShdw>
          </a:effectLst>
        </p:spPr>
        <p:txBody>
          <a:bodyPr wrap="square" lIns="45720" tIns="27432" rIns="45720" bIns="27432" anchor="ctr" rtlCol="0">
            <a:noAutofit/>
          </a:bodyPr>
          <a:lstStyle/>
          <a:p>
            <a:pPr algn="ctr">
              <a:spcBef>
                <a:spcPts val="0"/>
              </a:spcBef>
              <a:spcAft>
                <a:spcPts val="0"/>
              </a:spcAft>
            </a:pPr>
            <a:r>
              <a:rPr lang="en-US" sz="1250" b="1" i="0" dirty="0">
                <a:solidFill>
                  <a:srgbClr val="FFFFFF"/>
                </a:solidFill>
                <a:latin typeface="Times New Roman"/>
                <a:cs typeface="Times New Roman"/>
              </a:rPr>
              <a:t>Return / refund</a:t>
            </a:r>
          </a:p>
          <a:p>
            <a:pPr algn="ctr">
              <a:spcBef>
                <a:spcPts val="0"/>
              </a:spcBef>
              <a:spcAft>
                <a:spcPts val="0"/>
              </a:spcAft>
            </a:pPr>
            <a:r>
              <a:rPr lang="en-US" sz="1200" b="0" i="0" dirty="0">
                <a:solidFill>
                  <a:srgbClr val="FFFFFF"/>
                </a:solidFill>
                <a:latin typeface="Times New Roman"/>
                <a:cs typeface="Times New Roman"/>
              </a:rPr>
              <a:t>weight 0.10</a:t>
            </a:r>
          </a:p>
        </p:txBody>
      </p:sp>
      <p:cxnSp>
        <p:nvCxnSpPr>
          <p:cNvPr id="19" name="Arrow 2"/>
          <p:cNvCxnSpPr/>
          <p:nvPr/>
        </p:nvCxnSpPr>
        <p:spPr>
          <a:xfrm>
            <a:off x="4572000" y="3081528"/>
            <a:ext cx="0" cy="283464"/>
          </a:xfrm>
          <a:prstGeom prst="line">
            <a:avLst/>
          </a:prstGeom>
          <a:ln w="25400" cap="rnd">
            <a:solidFill>
              <a:srgbClr val="5C6B7A"/>
            </a:solidFill>
            <a:round/>
            <a:tailEnd type="triangle" w="med" len="med"/>
          </a:ln>
        </p:spPr>
      </p:cxnSp>
      <p:sp>
        <p:nvSpPr>
          <p:cNvPr id="20" name="Sub-score formula"/>
          <p:cNvSpPr/>
          <p:nvPr/>
        </p:nvSpPr>
        <p:spPr>
          <a:xfrm>
            <a:off x="1371600" y="3383280"/>
            <a:ext cx="6400800" cy="822960"/>
          </a:xfrm>
          <a:prstGeom prst="roundRect">
            <a:avLst>
              <a:gd name="adj" fmla="val 12000"/>
            </a:avLst>
          </a:prstGeom>
          <a:solidFill>
            <a:srgbClr val="1F3864"/>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400" b="1" i="0" dirty="0">
                <a:solidFill>
                  <a:srgbClr val="FFFFFF"/>
                </a:solidFill>
                <a:latin typeface="Times New Roman"/>
                <a:cs typeface="Times New Roman"/>
              </a:rPr>
              <a:t>Sub-score = (pos% × 1.0 + neutral% × 0.5 + neg% × 0.0) × 10</a:t>
            </a:r>
          </a:p>
          <a:p>
            <a:pPr algn="ctr">
              <a:spcBef>
                <a:spcPts val="0"/>
              </a:spcBef>
              <a:spcAft>
                <a:spcPts val="0"/>
              </a:spcAft>
            </a:pPr>
            <a:r>
              <a:rPr lang="en-US" sz="1150" b="0" i="0" dirty="0">
                <a:solidFill>
                  <a:srgbClr val="FFFFFF"/>
                </a:solidFill>
                <a:latin typeface="Times New Roman"/>
                <a:cs typeface="Times New Roman"/>
              </a:rPr>
              <a:t>Overall score 0–10 = weighted sum of the six sub-scores</a:t>
            </a:r>
          </a:p>
        </p:txBody>
      </p:sp>
      <p:cxnSp>
        <p:nvCxnSpPr>
          <p:cNvPr id="21" name="Arrow 3"/>
          <p:cNvCxnSpPr/>
          <p:nvPr/>
        </p:nvCxnSpPr>
        <p:spPr>
          <a:xfrm>
            <a:off x="4572000" y="4224528"/>
            <a:ext cx="0" cy="283464"/>
          </a:xfrm>
          <a:prstGeom prst="line">
            <a:avLst/>
          </a:prstGeom>
          <a:ln w="25400" cap="rnd">
            <a:solidFill>
              <a:srgbClr val="5C6B7A"/>
            </a:solidFill>
            <a:round/>
            <a:tailEnd type="triangle" w="med" len="med"/>
          </a:ln>
        </p:spPr>
      </p:cxnSp>
      <p:sp>
        <p:nvSpPr>
          <p:cNvPr id="22" name="Confidence gate"/>
          <p:cNvSpPr/>
          <p:nvPr/>
        </p:nvSpPr>
        <p:spPr>
          <a:xfrm>
            <a:off x="1371600" y="4526280"/>
            <a:ext cx="6400800" cy="777240"/>
          </a:xfrm>
          <a:prstGeom prst="roundRect">
            <a:avLst>
              <a:gd name="adj" fmla="val 12000"/>
            </a:avLst>
          </a:prstGeom>
          <a:solidFill>
            <a:srgbClr val="B0385A"/>
          </a:solidFill>
          <a:ln>
            <a:noFill/>
          </a:ln>
          <a:effectLst>
            <a:outerShdw blurRad="50800" dist="25400" dir="5400000" algn="t" rotWithShape="0">
              <a:srgbClr val="000000">
                <a:alpha val="22000"/>
              </a:srgbClr>
            </a:outerShdw>
          </a:effectLst>
        </p:spPr>
        <p:txBody>
          <a:bodyPr wrap="square" lIns="73152" tIns="36576" rIns="73152" bIns="36576" anchor="ctr" rtlCol="0">
            <a:noAutofit/>
          </a:bodyPr>
          <a:lstStyle/>
          <a:p>
            <a:pPr algn="ctr">
              <a:spcBef>
                <a:spcPts val="0"/>
              </a:spcBef>
              <a:spcAft>
                <a:spcPts val="0"/>
              </a:spcAft>
            </a:pPr>
            <a:r>
              <a:rPr lang="en-US" sz="1500" b="1" i="0" dirty="0">
                <a:solidFill>
                  <a:srgbClr val="FFFFFF"/>
                </a:solidFill>
                <a:latin typeface="Times New Roman"/>
                <a:cs typeface="Times New Roman"/>
              </a:rPr>
              <a:t>Confidence gate</a:t>
            </a:r>
          </a:p>
          <a:p>
            <a:pPr algn="ctr">
              <a:spcBef>
                <a:spcPts val="0"/>
              </a:spcBef>
              <a:spcAft>
                <a:spcPts val="0"/>
              </a:spcAft>
            </a:pPr>
            <a:r>
              <a:rPr lang="en-US" sz="1150" b="0" i="0" dirty="0">
                <a:solidFill>
                  <a:srgbClr val="FFFFFF"/>
                </a:solidFill>
                <a:latin typeface="Times New Roman"/>
                <a:cs typeface="Times New Roman"/>
              </a:rPr>
              <a:t>HIGH: ≥50 reviews + consistent sentiment · MEDIUM: ≥20 · LOW: excluded</a:t>
            </a:r>
          </a:p>
        </p:txBody>
      </p:sp>
      <p:cxnSp>
        <p:nvCxnSpPr>
          <p:cNvPr id="23" name="Tree stem"/>
          <p:cNvCxnSpPr/>
          <p:nvPr/>
        </p:nvCxnSpPr>
        <p:spPr>
          <a:xfrm>
            <a:off x="4572000" y="5321808"/>
            <a:ext cx="0" cy="210312"/>
          </a:xfrm>
          <a:prstGeom prst="line">
            <a:avLst/>
          </a:prstGeom>
          <a:ln w="25400" cap="rnd">
            <a:solidFill>
              <a:srgbClr val="5C6B7A"/>
            </a:solidFill>
            <a:round/>
          </a:ln>
        </p:spPr>
      </p:cxnSp>
      <p:cxnSp>
        <p:nvCxnSpPr>
          <p:cNvPr id="24" name="Tree bar"/>
          <p:cNvCxnSpPr/>
          <p:nvPr/>
        </p:nvCxnSpPr>
        <p:spPr>
          <a:xfrm>
            <a:off x="1920240" y="5532120"/>
            <a:ext cx="5303520" cy="0"/>
          </a:xfrm>
          <a:prstGeom prst="line">
            <a:avLst/>
          </a:prstGeom>
          <a:ln w="25400" cap="rnd">
            <a:solidFill>
              <a:srgbClr val="5C6B7A"/>
            </a:solidFill>
            <a:round/>
          </a:ln>
        </p:spPr>
      </p:cxnSp>
      <p:cxnSp>
        <p:nvCxnSpPr>
          <p:cNvPr id="25" name="Tree arrow 1"/>
          <p:cNvCxnSpPr/>
          <p:nvPr/>
        </p:nvCxnSpPr>
        <p:spPr>
          <a:xfrm>
            <a:off x="1920240" y="5532120"/>
            <a:ext cx="0" cy="201168"/>
          </a:xfrm>
          <a:prstGeom prst="line">
            <a:avLst/>
          </a:prstGeom>
          <a:ln w="25400" cap="rnd">
            <a:solidFill>
              <a:srgbClr val="5C6B7A"/>
            </a:solidFill>
            <a:round/>
            <a:tailEnd type="triangle" w="med" len="med"/>
          </a:ln>
        </p:spPr>
      </p:cxnSp>
      <p:sp>
        <p:nvSpPr>
          <p:cNvPr id="26" name="Output 1"/>
          <p:cNvSpPr/>
          <p:nvPr/>
        </p:nvSpPr>
        <p:spPr>
          <a:xfrm>
            <a:off x="731520" y="5751576"/>
            <a:ext cx="2377440" cy="502920"/>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400" b="1" i="0" dirty="0">
                <a:solidFill>
                  <a:srgbClr val="B0385A"/>
                </a:solidFill>
                <a:latin typeface="Times New Roman"/>
                <a:cs typeface="Times New Roman"/>
              </a:rPr>
              <a:t>Rank platforms</a:t>
            </a:r>
          </a:p>
        </p:txBody>
      </p:sp>
      <p:cxnSp>
        <p:nvCxnSpPr>
          <p:cNvPr id="27" name="Tree arrow 2"/>
          <p:cNvCxnSpPr/>
          <p:nvPr/>
        </p:nvCxnSpPr>
        <p:spPr>
          <a:xfrm>
            <a:off x="4572000" y="5532120"/>
            <a:ext cx="0" cy="201168"/>
          </a:xfrm>
          <a:prstGeom prst="line">
            <a:avLst/>
          </a:prstGeom>
          <a:ln w="25400" cap="rnd">
            <a:solidFill>
              <a:srgbClr val="5C6B7A"/>
            </a:solidFill>
            <a:round/>
            <a:tailEnd type="triangle" w="med" len="med"/>
          </a:ln>
        </p:spPr>
      </p:cxnSp>
      <p:sp>
        <p:nvSpPr>
          <p:cNvPr id="28" name="Output 2"/>
          <p:cNvSpPr/>
          <p:nvPr/>
        </p:nvSpPr>
        <p:spPr>
          <a:xfrm>
            <a:off x="3383280" y="5751576"/>
            <a:ext cx="2377440" cy="502920"/>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400" b="1" i="0" dirty="0">
                <a:solidFill>
                  <a:srgbClr val="B0385A"/>
                </a:solidFill>
                <a:latin typeface="Times New Roman"/>
                <a:cs typeface="Times New Roman"/>
              </a:rPr>
              <a:t>Best Place to Buy</a:t>
            </a:r>
          </a:p>
        </p:txBody>
      </p:sp>
      <p:cxnSp>
        <p:nvCxnSpPr>
          <p:cNvPr id="29" name="Tree arrow 3"/>
          <p:cNvCxnSpPr/>
          <p:nvPr/>
        </p:nvCxnSpPr>
        <p:spPr>
          <a:xfrm>
            <a:off x="7223760" y="5532120"/>
            <a:ext cx="0" cy="201168"/>
          </a:xfrm>
          <a:prstGeom prst="line">
            <a:avLst/>
          </a:prstGeom>
          <a:ln w="25400" cap="rnd">
            <a:solidFill>
              <a:srgbClr val="5C6B7A"/>
            </a:solidFill>
            <a:round/>
            <a:tailEnd type="triangle" w="med" len="med"/>
          </a:ln>
        </p:spPr>
      </p:cxnSp>
      <p:sp>
        <p:nvSpPr>
          <p:cNvPr id="30" name="Output 3"/>
          <p:cNvSpPr/>
          <p:nvPr/>
        </p:nvSpPr>
        <p:spPr>
          <a:xfrm>
            <a:off x="6035040" y="5751576"/>
            <a:ext cx="2377440" cy="502920"/>
          </a:xfrm>
          <a:prstGeom prst="roundRect">
            <a:avLst>
              <a:gd name="adj" fmla="val 12000"/>
            </a:avLst>
          </a:prstGeom>
          <a:solidFill>
            <a:srgbClr val="F7E9EE"/>
          </a:solidFill>
          <a:ln w="15875">
            <a:solidFill>
              <a:srgbClr val="B0385A"/>
            </a:solidFill>
          </a:ln>
          <a:effectLst/>
        </p:spPr>
        <p:txBody>
          <a:bodyPr wrap="square" lIns="73152" tIns="36576" rIns="73152" bIns="36576" anchor="ctr" rtlCol="0">
            <a:noAutofit/>
          </a:bodyPr>
          <a:lstStyle/>
          <a:p>
            <a:pPr algn="ctr">
              <a:spcBef>
                <a:spcPts val="0"/>
              </a:spcBef>
              <a:spcAft>
                <a:spcPts val="0"/>
              </a:spcAft>
            </a:pPr>
            <a:r>
              <a:rPr lang="en-US" sz="1400" b="1" i="0" dirty="0">
                <a:solidFill>
                  <a:srgbClr val="B0385A"/>
                </a:solidFill>
                <a:latin typeface="Times New Roman"/>
                <a:cs typeface="Times New Roman"/>
              </a:rPr>
              <a:t>Explain why</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Outcome: Research Paper and Deliverables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IP card"/>
          <p:cNvSpPr/>
          <p:nvPr/>
        </p:nvSpPr>
        <p:spPr>
          <a:xfrm>
            <a:off x="365760" y="1188720"/>
            <a:ext cx="4480560" cy="4023360"/>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P card head"/>
          <p:cNvSpPr txBox="1"/>
          <p:nvPr/>
        </p:nvSpPr>
        <p:spPr>
          <a:xfrm>
            <a:off x="594360" y="1353312"/>
            <a:ext cx="4023360" cy="411480"/>
          </a:xfrm>
          <a:prstGeom prst="rect">
            <a:avLst/>
          </a:prstGeom>
          <a:noFill/>
        </p:spPr>
        <p:txBody>
          <a:bodyPr wrap="square" anchor="t" lIns="0" rIns="0" tIns="0" bIns="0">
            <a:spAutoFit/>
          </a:bodyPr>
          <a:lstStyle/>
          <a:p>
            <a:pPr algn="l"/>
            <a:r>
              <a:rPr sz="1900" b="1">
                <a:solidFill>
                  <a:srgbClr val="1F3864"/>
                </a:solidFill>
                <a:latin typeface="Times New Roman"/>
              </a:rPr>
              <a:t>Research output</a:t>
            </a:r>
          </a:p>
        </p:txBody>
      </p:sp>
      <p:sp>
        <p:nvSpPr>
          <p:cNvPr id="9" name="IP points"/>
          <p:cNvSpPr txBox="1"/>
          <p:nvPr/>
        </p:nvSpPr>
        <p:spPr>
          <a:xfrm>
            <a:off x="594360" y="1737360"/>
            <a:ext cx="4023360" cy="3429000"/>
          </a:xfrm>
          <a:prstGeom prst="rect">
            <a:avLst/>
          </a:prstGeom>
          <a:noFill/>
        </p:spPr>
        <p:txBody>
          <a:bodyPr wrap="square" anchor="t" lIns="0" rIns="0" tIns="0" bIns="0">
            <a:spAutoFit/>
          </a:bodyPr>
          <a:lstStyle/>
          <a:p>
            <a:pPr marL="228600" indent="-228600">
              <a:spcAft>
                <a:spcPts val="700"/>
              </a:spcAft>
              <a:buFont typeface="Arial"/>
              <a:buChar char="•"/>
            </a:pPr>
            <a:r>
              <a:rPr sz="1800" b="1">
                <a:solidFill>
                  <a:srgbClr val="1F3864"/>
                </a:solidFill>
                <a:latin typeface="Times New Roman"/>
              </a:rPr>
              <a:t>RefurbIQ paper draft in progress: all six results tables filled from computed outputs</a:t>
            </a:r>
          </a:p>
          <a:p>
            <a:pPr marL="228600" indent="-228600">
              <a:spcAft>
                <a:spcPts val="700"/>
              </a:spcAft>
              <a:buFont typeface="Arial"/>
              <a:buChar char="•"/>
            </a:pPr>
            <a:r>
              <a:rPr sz="1800" b="1">
                <a:solidFill>
                  <a:srgbClr val="1F3864"/>
                </a:solidFill>
                <a:latin typeface="Times New Roman"/>
              </a:rPr>
              <a:t>Planned venue: to be decided</a:t>
            </a:r>
          </a:p>
          <a:p>
            <a:pPr marL="228600" indent="-228600">
              <a:spcAft>
                <a:spcPts val="700"/>
              </a:spcAft>
              <a:buFont typeface="Arial"/>
              <a:buChar char="•"/>
            </a:pPr>
            <a:r>
              <a:rPr sz="1800" b="1">
                <a:solidFill>
                  <a:srgbClr val="1F3864"/>
                </a:solidFill>
                <a:latin typeface="Times New Roman"/>
              </a:rPr>
              <a:t>Every reported number is reproducible via the scripts in research/scripts/</a:t>
            </a:r>
          </a:p>
          <a:p>
            <a:pPr marL="228600" indent="-228600">
              <a:spcAft>
                <a:spcPts val="700"/>
              </a:spcAft>
              <a:buFont typeface="Arial"/>
              <a:buChar char="•"/>
            </a:pPr>
            <a:r>
              <a:rPr sz="1800" b="1">
                <a:solidFill>
                  <a:srgbClr val="1F3864"/>
                </a:solidFill>
                <a:latin typeface="Times New Roman"/>
              </a:rPr>
              <a:t>Dataset is labelled synthetic; real-review validation is the next step</a:t>
            </a:r>
          </a:p>
        </p:txBody>
      </p:sp>
      <p:sp>
        <p:nvSpPr>
          <p:cNvPr id="10" name="Deliverables card"/>
          <p:cNvSpPr/>
          <p:nvPr/>
        </p:nvSpPr>
        <p:spPr>
          <a:xfrm>
            <a:off x="5029200" y="1188720"/>
            <a:ext cx="3566160" cy="4023360"/>
          </a:xfrm>
          <a:prstGeom prst="roundRect">
            <a:avLst>
              <a:gd name="adj" fmla="val 8000"/>
            </a:avLst>
          </a:prstGeom>
          <a:solidFill>
            <a:srgbClr val="E4F3F1"/>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liverables card head"/>
          <p:cNvSpPr txBox="1"/>
          <p:nvPr/>
        </p:nvSpPr>
        <p:spPr>
          <a:xfrm>
            <a:off x="5257800" y="1353312"/>
            <a:ext cx="3108960" cy="411480"/>
          </a:xfrm>
          <a:prstGeom prst="rect">
            <a:avLst/>
          </a:prstGeom>
          <a:noFill/>
        </p:spPr>
        <p:txBody>
          <a:bodyPr wrap="square" anchor="t" lIns="0" rIns="0" tIns="0" bIns="0">
            <a:spAutoFit/>
          </a:bodyPr>
          <a:lstStyle/>
          <a:p>
            <a:pPr algn="l"/>
            <a:r>
              <a:rPr sz="1900" b="1">
                <a:solidFill>
                  <a:srgbClr val="1F6F78"/>
                </a:solidFill>
                <a:latin typeface="Times New Roman"/>
              </a:rPr>
              <a:t>Deliverables</a:t>
            </a:r>
          </a:p>
        </p:txBody>
      </p:sp>
      <p:sp>
        <p:nvSpPr>
          <p:cNvPr id="12" name="Deliverables points"/>
          <p:cNvSpPr txBox="1"/>
          <p:nvPr/>
        </p:nvSpPr>
        <p:spPr>
          <a:xfrm>
            <a:off x="5257800" y="1737360"/>
            <a:ext cx="3108960" cy="3429000"/>
          </a:xfrm>
          <a:prstGeom prst="rect">
            <a:avLst/>
          </a:prstGeom>
          <a:noFill/>
        </p:spPr>
        <p:txBody>
          <a:bodyPr wrap="square" anchor="t" lIns="0" rIns="0" tIns="0" bIns="0">
            <a:spAutoFit/>
          </a:bodyPr>
          <a:lstStyle/>
          <a:p>
            <a:pPr marL="228600" indent="-228600">
              <a:spcAft>
                <a:spcPts val="900"/>
              </a:spcAft>
              <a:buFont typeface="Arial"/>
              <a:buChar char="•"/>
            </a:pPr>
            <a:r>
              <a:rPr sz="1800">
                <a:solidFill>
                  <a:srgbClr val="26323F"/>
                </a:solidFill>
                <a:latin typeface="Times New Roman"/>
              </a:rPr>
              <a:t>Labelled dataset: 2,000 reviews, 3,548 aspect annotations</a:t>
            </a:r>
          </a:p>
          <a:p>
            <a:pPr marL="228600" indent="-228600">
              <a:spcAft>
                <a:spcPts val="900"/>
              </a:spcAft>
              <a:buFont typeface="Arial"/>
              <a:buChar char="•"/>
            </a:pPr>
            <a:r>
              <a:rPr sz="1800">
                <a:solidFill>
                  <a:srgbClr val="26323F"/>
                </a:solidFill>
                <a:latin typeface="Times New Roman"/>
              </a:rPr>
              <a:t>Reproducible Python code (pushed to GitHub)</a:t>
            </a:r>
          </a:p>
          <a:p>
            <a:pPr marL="228600" indent="-228600">
              <a:spcAft>
                <a:spcPts val="900"/>
              </a:spcAft>
              <a:buFont typeface="Arial"/>
              <a:buChar char="•"/>
            </a:pPr>
            <a:r>
              <a:rPr sz="1800">
                <a:solidFill>
                  <a:srgbClr val="26323F"/>
                </a:solidFill>
                <a:latin typeface="Times New Roman"/>
              </a:rPr>
              <a:t>Nine-aspect taxonomy for refurbished electronics</a:t>
            </a:r>
          </a:p>
          <a:p>
            <a:pPr marL="228600" indent="-228600">
              <a:spcAft>
                <a:spcPts val="900"/>
              </a:spcAft>
              <a:buFont typeface="Arial"/>
              <a:buChar char="•"/>
            </a:pPr>
            <a:r>
              <a:rPr sz="1800">
                <a:solidFill>
                  <a:srgbClr val="26323F"/>
                </a:solidFill>
                <a:latin typeface="Times New Roman"/>
              </a:rPr>
              <a:t>Four-model comparison on a common leak-free protocol</a:t>
            </a:r>
          </a:p>
        </p:txBody>
      </p:sp>
      <p:sp>
        <p:nvSpPr>
          <p:cNvPr id="13" name="Draft title strip"/>
          <p:cNvSpPr/>
          <p:nvPr/>
        </p:nvSpPr>
        <p:spPr>
          <a:xfrm>
            <a:off x="365760" y="5394960"/>
            <a:ext cx="8229600" cy="868680"/>
          </a:xfrm>
          <a:prstGeom prst="roundRect">
            <a:avLst>
              <a:gd name="adj" fmla="val 8000"/>
            </a:avLst>
          </a:prstGeom>
          <a:solidFill>
            <a:srgbClr val="E6EFF8"/>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raft title text"/>
          <p:cNvSpPr txBox="1"/>
          <p:nvPr/>
        </p:nvSpPr>
        <p:spPr>
          <a:xfrm>
            <a:off x="594360" y="5440680"/>
            <a:ext cx="7772400" cy="777240"/>
          </a:xfrm>
          <a:prstGeom prst="rect">
            <a:avLst/>
          </a:prstGeom>
          <a:noFill/>
        </p:spPr>
        <p:txBody>
          <a:bodyPr wrap="square" anchor="ctr" lIns="0" rIns="0" tIns="0" bIns="0">
            <a:spAutoFit/>
          </a:bodyPr>
          <a:lstStyle/>
          <a:p>
            <a:pPr algn="l"/>
            <a:r>
              <a:rPr sz="1400" b="1">
                <a:solidFill>
                  <a:srgbClr val="1F3864"/>
                </a:solidFill>
                <a:latin typeface="Times New Roman"/>
              </a:rPr>
              <a:t>Paper title: RefurbIQ: Aspect-Based Sentiment Analysis of Refurbished Electronics Across Indian Marketplaces - draft in progress.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blipFill>
          <a:blip r:embed="rId2"/>
          <a:tile tx="0" ty="0" sx="100000" sy="100000" flip="none" algn="tl"/>
        </a:blipFill>
        <a:effectLst/>
      </p:bgPr>
    </p:bg>
    <p:spTree>
      <p:nvGrpSpPr>
        <p:cNvPr id="1" name=""/>
        <p:cNvGrpSpPr/>
        <p:nvPr/>
      </p:nvGrpSpPr>
      <p:grpSpPr/>
      <p:sp>
        <p:nvSpPr>
          <p:cNvPr id="2" name="Title 1"/>
          <p:cNvSpPr>
            <a:spLocks noGrp="1"/>
          </p:cNvSpPr>
          <p:nvPr>
            <p:ph type="title"/>
          </p:nvPr>
        </p:nvSpPr>
        <p:spPr>
          <a:xfrm>
            <a:off x="446314" y="122238"/>
            <a:ext cx="8229600" cy="868362"/>
          </a:xfrm>
          <a:prstGeom prst="roundRect">
            <a:avLst/>
          </a:prstGeom>
          <a:solidFill>
            <a:srgbClr val="E6EFF4"/>
          </a:solidFill>
          <a:ln w="19050">
            <a:solidFill>
              <a:srgbClr val="FFFFFF"/>
            </a:solidFill>
          </a:ln>
        </p:spPr>
        <p:txBody>
          <a:bodyPr anchor="ctr"/>
          <a:lstStyle/>
          <a:p>
            <a:pPr algn="ctr"/>
            <a:r>
              <a:rPr sz="3000" b="1">
                <a:solidFill>
                  <a:srgbClr val="1F3864"/>
                </a:solidFill>
                <a:latin typeface="Times New Roman"/>
              </a:rPr>
              <a:t>References</a:t>
            </a:r>
          </a:p>
        </p:txBody>
      </p:sp>
      <p:sp>
        <p:nvSpPr>
          <p:cNvPr id="6" name="Slide Number Placeholder 5">
            <a:extLst>
              <a:ext uri="{FF2B5EF4-FFF2-40B4-BE49-F238E27FC236}">
                <a16:creationId xmlns:a16="http://schemas.microsoft.com/office/drawing/2014/main" id="{B0CEE340-DD05-ABF3-E2C1-1FCA7E601094}"/>
              </a:ext>
            </a:extLst>
          </p:cNvPr>
          <p:cNvSpPr>
            <a:spLocks noGrp="1"/>
          </p:cNvSpPr>
          <p:nvPr>
            <p:ph type="sldNum" sz="quarter" idx="12"/>
          </p:nvPr>
        </p:nvSpPr>
        <p:spPr/>
        <p:txBody>
          <a:bodyPr/>
          <a:lstStyle/>
          <a:p>
            <a:fld id="{D0D3D9D9-2323-4B14-959B-DD5C508B8A7B}" type="slidenum">
              <a:rPr lang="en-US" b="1" smtClean="0"/>
              <a:pPr/>
              <a:t>1</a:t>
            </a:fld>
            <a:endParaRPr lang="en-US" b="1" dirty="0"/>
          </a:p>
        </p:txBody>
      </p:sp>
      <p:sp>
        <p:nvSpPr>
          <p:cNvPr id="7" name="Reference card 1"/>
          <p:cNvSpPr/>
          <p:nvPr/>
        </p:nvSpPr>
        <p:spPr>
          <a:xfrm>
            <a:off x="365760" y="118872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ference id 1"/>
          <p:cNvSpPr txBox="1"/>
          <p:nvPr/>
        </p:nvSpPr>
        <p:spPr>
          <a:xfrm>
            <a:off x="502920" y="120700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[1]</a:t>
            </a:r>
          </a:p>
        </p:txBody>
      </p:sp>
      <p:sp>
        <p:nvSpPr>
          <p:cNvPr id="9" name="Reference text 1"/>
          <p:cNvSpPr txBox="1"/>
          <p:nvPr/>
        </p:nvSpPr>
        <p:spPr>
          <a:xfrm>
            <a:off x="1234440" y="120700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A. Chevalier and M. Mayzlin, “The effect of word of mouth on sales: Online book reviews,” J. Marketing Research, vol. 43, no. 3, pp. 345–354, 2006.</a:t>
            </a:r>
          </a:p>
        </p:txBody>
      </p:sp>
      <p:sp>
        <p:nvSpPr>
          <p:cNvPr id="10" name="Reference card 2"/>
          <p:cNvSpPr/>
          <p:nvPr/>
        </p:nvSpPr>
        <p:spPr>
          <a:xfrm>
            <a:off x="365760" y="173736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ference id 2"/>
          <p:cNvSpPr txBox="1"/>
          <p:nvPr/>
        </p:nvSpPr>
        <p:spPr>
          <a:xfrm>
            <a:off x="502920" y="175564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[2]</a:t>
            </a:r>
          </a:p>
        </p:txBody>
      </p:sp>
      <p:sp>
        <p:nvSpPr>
          <p:cNvPr id="12" name="Reference text 2"/>
          <p:cNvSpPr txBox="1"/>
          <p:nvPr/>
        </p:nvSpPr>
        <p:spPr>
          <a:xfrm>
            <a:off x="1234440" y="175564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B. Liu, Sentiment Analysis and Opinion Mining. Morgan &amp; Claypool, 2012.</a:t>
            </a:r>
          </a:p>
        </p:txBody>
      </p:sp>
      <p:sp>
        <p:nvSpPr>
          <p:cNvPr id="13" name="Reference card 3"/>
          <p:cNvSpPr/>
          <p:nvPr/>
        </p:nvSpPr>
        <p:spPr>
          <a:xfrm>
            <a:off x="365760" y="228600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ference id 3"/>
          <p:cNvSpPr txBox="1"/>
          <p:nvPr/>
        </p:nvSpPr>
        <p:spPr>
          <a:xfrm>
            <a:off x="502920" y="230428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[3]</a:t>
            </a:r>
          </a:p>
        </p:txBody>
      </p:sp>
      <p:sp>
        <p:nvSpPr>
          <p:cNvPr id="15" name="Reference text 3"/>
          <p:cNvSpPr txBox="1"/>
          <p:nvPr/>
        </p:nvSpPr>
        <p:spPr>
          <a:xfrm>
            <a:off x="1234440" y="230428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B. Pang and L. Lee, “Opinion mining and sentiment analysis,” Foundations and Trends in Information Retrieval, vol. 2, no. 1–2, pp. 1–135, 2008.</a:t>
            </a:r>
          </a:p>
        </p:txBody>
      </p:sp>
      <p:sp>
        <p:nvSpPr>
          <p:cNvPr id="16" name="Reference card 4"/>
          <p:cNvSpPr/>
          <p:nvPr/>
        </p:nvSpPr>
        <p:spPr>
          <a:xfrm>
            <a:off x="365760" y="283464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ference id 4"/>
          <p:cNvSpPr txBox="1"/>
          <p:nvPr/>
        </p:nvSpPr>
        <p:spPr>
          <a:xfrm>
            <a:off x="502920" y="285292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[4]</a:t>
            </a:r>
          </a:p>
        </p:txBody>
      </p:sp>
      <p:sp>
        <p:nvSpPr>
          <p:cNvPr id="18" name="Reference text 4"/>
          <p:cNvSpPr txBox="1"/>
          <p:nvPr/>
        </p:nvSpPr>
        <p:spPr>
          <a:xfrm>
            <a:off x="1234440" y="285292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M. Hu and B. Liu, “Mining and summarizing customer reviews,” in Proc. KDD, 2004, pp. 168–177.</a:t>
            </a:r>
          </a:p>
        </p:txBody>
      </p:sp>
      <p:sp>
        <p:nvSpPr>
          <p:cNvPr id="19" name="Reference card 5"/>
          <p:cNvSpPr/>
          <p:nvPr/>
        </p:nvSpPr>
        <p:spPr>
          <a:xfrm>
            <a:off x="365760" y="338328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ference id 5"/>
          <p:cNvSpPr txBox="1"/>
          <p:nvPr/>
        </p:nvSpPr>
        <p:spPr>
          <a:xfrm>
            <a:off x="502920" y="340156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[5]</a:t>
            </a:r>
          </a:p>
        </p:txBody>
      </p:sp>
      <p:sp>
        <p:nvSpPr>
          <p:cNvPr id="21" name="Reference text 5"/>
          <p:cNvSpPr txBox="1"/>
          <p:nvPr/>
        </p:nvSpPr>
        <p:spPr>
          <a:xfrm>
            <a:off x="1234440" y="340156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M. Pontiki et al., “SemEval-2014 Task 4: Aspect based sentiment analysis,” in Proc. SemEval, 2014, pp. 27–35.</a:t>
            </a:r>
          </a:p>
        </p:txBody>
      </p:sp>
      <p:sp>
        <p:nvSpPr>
          <p:cNvPr id="22" name="Reference card 6"/>
          <p:cNvSpPr/>
          <p:nvPr/>
        </p:nvSpPr>
        <p:spPr>
          <a:xfrm>
            <a:off x="365760" y="393192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ference id 6"/>
          <p:cNvSpPr txBox="1"/>
          <p:nvPr/>
        </p:nvSpPr>
        <p:spPr>
          <a:xfrm>
            <a:off x="502920" y="395020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[6]</a:t>
            </a:r>
          </a:p>
        </p:txBody>
      </p:sp>
      <p:sp>
        <p:nvSpPr>
          <p:cNvPr id="24" name="Reference text 6"/>
          <p:cNvSpPr txBox="1"/>
          <p:nvPr/>
        </p:nvSpPr>
        <p:spPr>
          <a:xfrm>
            <a:off x="1234440" y="395020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M. Pontiki et al., “SemEval-2016 Task 5: Aspect based sentiment analysis,” in Proc. SemEval, 2016, pp. 19–30.</a:t>
            </a:r>
          </a:p>
        </p:txBody>
      </p:sp>
      <p:sp>
        <p:nvSpPr>
          <p:cNvPr id="25" name="Reference card 7"/>
          <p:cNvSpPr/>
          <p:nvPr/>
        </p:nvSpPr>
        <p:spPr>
          <a:xfrm>
            <a:off x="365760" y="448056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ference id 7"/>
          <p:cNvSpPr txBox="1"/>
          <p:nvPr/>
        </p:nvSpPr>
        <p:spPr>
          <a:xfrm>
            <a:off x="502920" y="449884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[7]</a:t>
            </a:r>
          </a:p>
        </p:txBody>
      </p:sp>
      <p:sp>
        <p:nvSpPr>
          <p:cNvPr id="27" name="Reference text 7"/>
          <p:cNvSpPr txBox="1"/>
          <p:nvPr/>
        </p:nvSpPr>
        <p:spPr>
          <a:xfrm>
            <a:off x="1234440" y="449884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A. Vaswani et al., “Attention is all you need,” in Proc. NeurIPS, 2017, pp. 5998–6008.</a:t>
            </a:r>
          </a:p>
        </p:txBody>
      </p:sp>
      <p:sp>
        <p:nvSpPr>
          <p:cNvPr id="28" name="Reference card 8"/>
          <p:cNvSpPr/>
          <p:nvPr/>
        </p:nvSpPr>
        <p:spPr>
          <a:xfrm>
            <a:off x="365760" y="502920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ference id 8"/>
          <p:cNvSpPr txBox="1"/>
          <p:nvPr/>
        </p:nvSpPr>
        <p:spPr>
          <a:xfrm>
            <a:off x="502920" y="504748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[8]</a:t>
            </a:r>
          </a:p>
        </p:txBody>
      </p:sp>
      <p:sp>
        <p:nvSpPr>
          <p:cNvPr id="30" name="Reference text 8"/>
          <p:cNvSpPr txBox="1"/>
          <p:nvPr/>
        </p:nvSpPr>
        <p:spPr>
          <a:xfrm>
            <a:off x="1234440" y="504748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J. Devlin et al., “BERT: Pre-training of deep bidirectional transformers,” in Proc. NAACL-HLT, 2019, pp. 4171–4186.</a:t>
            </a:r>
          </a:p>
        </p:txBody>
      </p:sp>
      <p:sp>
        <p:nvSpPr>
          <p:cNvPr id="31" name="Reference note"/>
          <p:cNvSpPr txBox="1"/>
          <p:nvPr/>
        </p:nvSpPr>
        <p:spPr>
          <a:xfrm>
            <a:off x="365760" y="6144768"/>
            <a:ext cx="8229600" cy="237744"/>
          </a:xfrm>
          <a:prstGeom prst="rect">
            <a:avLst/>
          </a:prstGeom>
          <a:noFill/>
        </p:spPr>
        <p:txBody>
          <a:bodyPr wrap="square" anchor="t" lIns="0" rIns="0" tIns="0" bIns="0">
            <a:spAutoFit/>
          </a:bodyPr>
          <a:lstStyle/>
          <a:p>
            <a:pPr algn="ctr"/>
            <a:r>
              <a:rPr sz="1300" i="1">
                <a:solidFill>
                  <a:srgbClr val="556575"/>
                </a:solidFill>
                <a:latin typeface="Times New Roman"/>
              </a:rPr>
              <a:t>These nine references are the only sources cited in this presentation.</a:t>
            </a:r>
          </a:p>
        </p:txBody>
      </p:sp>
      <p:sp>
        <p:nvSpPr>
          <p:cNvPr id="32" name="Reference card 9"/>
          <p:cNvSpPr/>
          <p:nvPr/>
        </p:nvSpPr>
        <p:spPr>
          <a:xfrm>
            <a:off x="365760" y="5577840"/>
            <a:ext cx="8229600" cy="493776"/>
          </a:xfrm>
          <a:prstGeom prst="roundRect">
            <a:avLst>
              <a:gd name="adj" fmla="val 8000"/>
            </a:avLst>
          </a:prstGeom>
          <a:solidFill>
            <a:srgbClr val="FFFFFF"/>
          </a:solidFill>
          <a:ln w="12700">
            <a:solidFill>
              <a:srgbClr val="9DB7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ference id 9"/>
          <p:cNvSpPr txBox="1"/>
          <p:nvPr/>
        </p:nvSpPr>
        <p:spPr>
          <a:xfrm>
            <a:off x="502920" y="5596128"/>
            <a:ext cx="685800" cy="457200"/>
          </a:xfrm>
          <a:prstGeom prst="rect">
            <a:avLst/>
          </a:prstGeom>
          <a:noFill/>
        </p:spPr>
        <p:txBody>
          <a:bodyPr wrap="square" anchor="ctr" lIns="0" rIns="0" tIns="0" bIns="0">
            <a:spAutoFit/>
          </a:bodyPr>
          <a:lstStyle/>
          <a:p>
            <a:pPr algn="l"/>
            <a:r>
              <a:rPr sz="1400" b="1">
                <a:solidFill>
                  <a:srgbClr val="1F6F78"/>
                </a:solidFill>
                <a:latin typeface="Times New Roman"/>
              </a:rPr>
              <a:t>[9]</a:t>
            </a:r>
          </a:p>
        </p:txBody>
      </p:sp>
      <p:sp>
        <p:nvSpPr>
          <p:cNvPr id="34" name="Reference text 9"/>
          <p:cNvSpPr txBox="1"/>
          <p:nvPr/>
        </p:nvSpPr>
        <p:spPr>
          <a:xfrm>
            <a:off x="1234440" y="5596128"/>
            <a:ext cx="7269480" cy="457200"/>
          </a:xfrm>
          <a:prstGeom prst="rect">
            <a:avLst/>
          </a:prstGeom>
          <a:noFill/>
        </p:spPr>
        <p:txBody>
          <a:bodyPr wrap="square" anchor="ctr" lIns="0" rIns="0" tIns="0" bIns="0">
            <a:spAutoFit/>
          </a:bodyPr>
          <a:lstStyle/>
          <a:p>
            <a:pPr algn="l"/>
            <a:r>
              <a:rPr sz="1300">
                <a:solidFill>
                  <a:srgbClr val="26323F"/>
                </a:solidFill>
                <a:latin typeface="Times New Roman"/>
              </a:rPr>
              <a:t>G. Keung, Y. Lu, G. Szarvas and N. A. Smith, “The Multilingual Amazon Reviews Corpus,” in Proc. EMNLP, 2020, pp. 4563–4568.</a:t>
            </a:r>
          </a:p>
        </p:txBody>
      </p:sp>
    </p:spTree>
  </p:cSld>
  <p:clrMapOvr>
    <a:masterClrMapping/>
  </p:clrMapOvr>
</p:sld>
</file>

<file path=ppt/theme/theme1.xml><?xml version="1.0" encoding="utf-8"?>
<a:theme xmlns:a="http://schemas.openxmlformats.org/drawingml/2006/main" name="Office Theme">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2004</TotalTime>
  <Words>65</Words>
  <Application>Microsoft Office PowerPoint</Application>
  <PresentationFormat>On-screen Show (4:3)</PresentationFormat>
  <Paragraphs>21</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Bookman Old Style</vt:lpstr>
      <vt:lpstr>Calibri</vt:lpstr>
      <vt:lpstr>Gill Sans MT</vt:lpstr>
      <vt:lpstr>Times New Roman</vt:lpstr>
      <vt:lpstr>Wingdings</vt:lpstr>
      <vt:lpstr>Office Theme</vt:lpstr>
      <vt:lpstr>Manipal University Jaipur School of Computer Science and Engineering Department of Computer Science and Engineering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himanshu</dc:creator>
  <cp:lastModifiedBy>Dr. Abhishek Dwivedi [MU - Jaipur]</cp:lastModifiedBy>
  <cp:revision>221</cp:revision>
  <dcterms:created xsi:type="dcterms:W3CDTF">2015-11-17T05:40:42Z</dcterms:created>
  <dcterms:modified xsi:type="dcterms:W3CDTF">2026-10-01T04:55:11Z</dcterms:modified>
</cp:coreProperties>
</file>